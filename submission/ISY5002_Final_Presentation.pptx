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
    </a:defPPr>
    <a:lvl1pPr marL="0" algn="l" defTabSz="457200" rtl="0" eaLnBrk="1" latinLnBrk="0" hangingPunct="1">
      <a:defRPr lang="en" sz="1800" kern="1200">
        <a:solidFill>
          <a:schemeClr val="tx1"/>
        </a:solidFill>
        <a:latin typeface="+mn-lt"/>
        <a:ea typeface="+mn-ea"/>
        <a:cs typeface="+mn-cs"/>
      </a:defRPr>
    </a:lvl1pPr>
    <a:lvl2pPr marL="457200" algn="l" defTabSz="457200" rtl="0" eaLnBrk="1" latinLnBrk="0" hangingPunct="1">
      <a:defRPr lang="en" sz="1800" kern="1200">
        <a:solidFill>
          <a:schemeClr val="tx1"/>
        </a:solidFill>
        <a:latin typeface="+mn-lt"/>
        <a:ea typeface="+mn-ea"/>
        <a:cs typeface="+mn-cs"/>
      </a:defRPr>
    </a:lvl2pPr>
    <a:lvl3pPr marL="914400" algn="l" defTabSz="457200" rtl="0" eaLnBrk="1" latinLnBrk="0" hangingPunct="1">
      <a:defRPr lang="en" sz="1800" kern="1200">
        <a:solidFill>
          <a:schemeClr val="tx1"/>
        </a:solidFill>
        <a:latin typeface="+mn-lt"/>
        <a:ea typeface="+mn-ea"/>
        <a:cs typeface="+mn-cs"/>
      </a:defRPr>
    </a:lvl3pPr>
    <a:lvl4pPr marL="1371600" algn="l" defTabSz="457200" rtl="0" eaLnBrk="1" latinLnBrk="0" hangingPunct="1">
      <a:defRPr lang="en" sz="1800" kern="1200">
        <a:solidFill>
          <a:schemeClr val="tx1"/>
        </a:solidFill>
        <a:latin typeface="+mn-lt"/>
        <a:ea typeface="+mn-ea"/>
        <a:cs typeface="+mn-cs"/>
      </a:defRPr>
    </a:lvl4pPr>
    <a:lvl5pPr marL="1828800" algn="l" defTabSz="457200" rtl="0" eaLnBrk="1" latinLnBrk="0" hangingPunct="1">
      <a:defRPr lang="en" sz="1800" kern="1200">
        <a:solidFill>
          <a:schemeClr val="tx1"/>
        </a:solidFill>
        <a:latin typeface="+mn-lt"/>
        <a:ea typeface="+mn-ea"/>
        <a:cs typeface="+mn-cs"/>
      </a:defRPr>
    </a:lvl5pPr>
    <a:lvl6pPr marL="2286000" algn="l" defTabSz="457200" rtl="0" eaLnBrk="1" latinLnBrk="0" hangingPunct="1">
      <a:defRPr lang="en" sz="1800" kern="1200">
        <a:solidFill>
          <a:schemeClr val="tx1"/>
        </a:solidFill>
        <a:latin typeface="+mn-lt"/>
        <a:ea typeface="+mn-ea"/>
        <a:cs typeface="+mn-cs"/>
      </a:defRPr>
    </a:lvl6pPr>
    <a:lvl7pPr marL="2743200" algn="l" defTabSz="457200" rtl="0" eaLnBrk="1" latinLnBrk="0" hangingPunct="1">
      <a:defRPr lang="en" sz="1800" kern="1200">
        <a:solidFill>
          <a:schemeClr val="tx1"/>
        </a:solidFill>
        <a:latin typeface="+mn-lt"/>
        <a:ea typeface="+mn-ea"/>
        <a:cs typeface="+mn-cs"/>
      </a:defRPr>
    </a:lvl7pPr>
    <a:lvl8pPr marL="3200400" algn="l" defTabSz="457200" rtl="0" eaLnBrk="1" latinLnBrk="0" hangingPunct="1">
      <a:defRPr lang="en" sz="1800" kern="1200">
        <a:solidFill>
          <a:schemeClr val="tx1"/>
        </a:solidFill>
        <a:latin typeface="+mn-lt"/>
        <a:ea typeface="+mn-ea"/>
        <a:cs typeface="+mn-cs"/>
      </a:defRPr>
    </a:lvl8pPr>
    <a:lvl9pPr marL="3657600" algn="l" defTabSz="457200" rtl="0" eaLnBrk="1" latinLnBrk="0" hangingPunct="1">
      <a:defRPr lang="e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247" autoAdjust="0"/>
  </p:normalViewPr>
  <p:slideViewPr>
    <p:cSldViewPr snapToGrid="0" snapToObjects="1">
      <p:cViewPr varScale="1">
        <p:scale>
          <a:sx n="138" d="100"/>
          <a:sy n="138" d="100"/>
        </p:scale>
        <p:origin x="113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
          </a:p>
        </p:txBody>
      </p:sp>
    </p:spTree>
  </p:cSld>
  <p:clrMap bg1="lt1" tx1="dk1" bg2="lt2" tx2="dk2" accent1="accent1" accent2="accent2" accent3="accent3" accent4="accent4" accent5="accent5" accent6="accent6" hlink="hlink" folHlink="folHlink"/>
  <p:hf/>
  <p:notesStyle>
    <a:lvl1pPr marL="0" algn="l">
      <a:defRPr lang="e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This presentation reports on the Traffic Monitoring and Forecasting Workbench. The project addresses two connected tasks: detecting vehicles in Singapore camera images, and forecasting short-term traffic from a calibrated sensor series. The work covers four outputs: a detection pipeline, a forecasting benchmark and model, an operator workbench, and a public LTA image dataset. The presentation is organized into five parts.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Part one explains the two data domains and the system architecture.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project uses two datasets because they serve different tasks. LTA provides images from eight Singapore cameras: 15,316 frames over two weeks, sampled every ten minutes. The images support detection, filtering and congestion grading, but they carry few labels and only per-frame vehicle counts. A forecasting model requires a regular calibrated series of flow, occupancy and speed. LTA cannot supply that series directly. PEMSD8 provides it: 170 sensors, 17,856 five-minute observations, with flow, occupancy and speed. PEMSD8 is a California network, so it serves as a public benchmark rather than a local deployment dataset. The division is deliberate: LTA for detection, PEMSD8 for forecasting, and the workbench joins their outputs with source labels.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architecture follows the same division. The upper path runs from LTA images through vehicle recognition to detection tables. The lower path runs from the PEMSD8 series through forecasting to twelve-step outputs. The two pipelines meet only in the workbench. Detection and forecast outputs are presented together, but the data domains remain separate and every output keeps its source label. The current workbench is a historical replay, so it demonstrates the operator flow without claiming a live connection.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Part two covers detection: adapting YOLO to LTA, checking that adaptation, and using road regions for filtering and congestion.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detection work starts from MIO-TCD, which provides four vehicle classes with human labels. LTA provides fixed camera views with different viewpoints, lighting and vehicle scale. The first design choice is the split: near-duplicate frames are grouped by scene, and whole groups are assigned to training, development or test. This prevents the same scene from appearing on both sides of the evaluation. The second choice is teacher-student adaptation. A YOLO26x teacher labels LTA frames; a YOLO26m student trains on MIO-TCD labels and LTA pseudo-labels. The third choice is the human check: a 63-frame human-corrected subset is frozen before scoring. The rationale is a chain: scene groups protect the test set, teacher labels provide target-domain supervision, and the human subset checks the teacher. The design separates learning data from evaluation evidence.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On human-labelled MIO-TCD, most of the gain comes from supervised fine-tuning: mAP at 0.5 rises from 0.430 to 0.709. Joint training with LTA adds a small further gain to 0.720, while count error increases slightly from 0.650 to 0.698. The per-class panel shows the largest improvement on motorcycles. On the human-corrected LTA subset, mAP is essentially flat, from 0.467 to 0.478, but recall rises from 0.394 to 0.547. The gain is therefore coverage of small vehicles rather than overall precision. This is the central detection result: the model sees more LTA vehicles, but it does not become uniformly more accurate.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This page uses teacher agreement, not human accuracy, so it answers a different question from the previous page. The teacher is the reference ceiling. At 960 pixels, joint fine-tuning is the best student, with 0.635, ahead of pretrained at 0.555 and MIO-only at 0.175. At 1280 pixels, the order changes: pretrained reaches 0.660, joint 0.638 and MIO-only 0.201. Higher resolution therefore favors the pretrained model, while joint training mainly buys LTA recall. MIO-only is worst at both resolutions. The night result is the main operational limit: 1,437 of 1,478 zero-detection frames occur at night, so night counts should be read as a lower bound.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post-processing stage uses one per-camera road calibration for two tasks. For filtering, a detection is kept only when the bottom centre of its box falls inside a road polygon; exclusion zones remove known false-positive areas. The filter removes 2.0 percent of boxes and raises precision from 0.816 to 0.833, while counting remains essentially unchanged because the detector already misses many vehicles. The same detection zones support congestion grading. Three voters score each frame: detector count and occupancy, background edges, and OpenCLIP. A stacked classifier combines them into a level. On a 400-frame human-labelled test set, the labels are free, moderate and congested, and the stacked rating reaches 74.3 percent accuracy with kappa 0.704. Per-camera accuracy ranges from 60 to 94 percent; night accuracy is 77 percent versus 73 percent in daytime. The overlay shows the road region in blue and the three detection zones in teal.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three covers forecasting: one protocol, one custom model, and three levels of comparison.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Forecasting uses PEMSD8: 170 sensors, 17,856 observations, a 7:1:2 chronological split, 12 input steps and 12 output steps, covering 60 minutes. Eight models are compared: GWNET, MTGNN, AGCRN and STGCN from the graph family; GRU, LSTM and FNN as sequence or feed-forward baselines; and our MultiHeadSTGCN. Seven are LibCity implementations, and one is our model. Two input regimes are reported separately. The native regime preserves each model's published input channels and training recipe. The unified regime gives every model the same nine channels: flow, time of day and day of week. The top four models in the unified regime are rerun on five seeds. Metrics are masked MAE, RMSE and MAPE at 15, 30 and 60 minutes.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MultiHeadSTGCN keeps the STGCN temporal and graph blocks and changes the output side. The input is 12 steps by 9 channels. Temporal convolutions model short-term dynamics, graph convolution models spatial dependence, and twelve per-step heads produce the twelve future steps in one forward pass. The model also receives time-of-day and day-of-week inputs, and the spatial operator can switch between symmetric Chebyshev convolution and a directed dual-path form. There are four design changes. Direct multi-step output avoids autoregressive error accumulation. Per-step heads give each horizon its own mapping. Calendar inputs make daily and weekly cycles explicit. The selectable spatial operator allows directed road structure to be tested. The backbone is unchanged, so the ablation on the next page can isolate these four choices.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This is the default-configuration comparison. GWNET has the lowest MAE at 14.648, and MultiHeadSTGCN is second at 14.839. MTGNN and AGCRN follow at 15.106 and 15.612; STGCN is at 17.436, and the sequence baselines are further back. The chart carries all eight values. The important caveat is that each model uses its own input channels and training recipe, so this is a protocol-internal complete-method comparison, not an equal-input comparison or a literature leaderboard.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ablation isolates the custom model's changes. Moving from the STGCN reference to the full recipe reduces MAE from 17.44 to 14.84, a 14.9 percent difference. Direct multi-step output and calendar inputs carry most of the gain. The spatial-operator step is small and within rerun noise. In the unified nine-channel setting, the same comparison is 16.11 to 14.84, a 7.9 percent difference. The staged ablation uses a different STGCN run at 17.61, so the three settings are not interchangeable. The 14.9 percent figure is a complete-recipe difference; it is not an architecture-only effect. Multi-target training left flow performance unchanged, so one head is used.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final forecasting check uses five seeds under the unified input. The chart shows means and one-standard-deviation whiskers; the right panel shows paired differences against our model. GWNET is 4.22 percent lower in MAE, with a 95 percent confidence interval from minus 4.98 to minus 3.47 percent, and it wins on all five seeds. MTGNN differs by 0.55 percent, but its interval includes zero. AGCRN differs by 0.44 percent, and its interval also includes zero. We therefore describe our model as comparable to MTGNN and AGCRN, not better. Our model has the tightest spread across seeds. The top four models were selected on seed zero, so this analysis is descriptive rather than pre-registered.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Part four presents the workbench: the design intent, the two data paths, and the operator views.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workbench is the design intent of the project. The aim is one operator surface that monitors vehicles, grades congestion and forecasts the next traffic state. The two pipelines look independent because they use different data. The LTA path shows what is on the road now: camera images, detection tables and per-frame counts. The PEMSD8 path provides the calibrated series that forecasting needs: 170 sensors, five-minute observations, and twelve-step outputs. The workbench puts both into one operator flow, while keeping the two data domains separate. The current interface is a historical replay, not a live feed.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workbench has three views: Overview for the current situation, Monitoring for LTA frames and congestion, Forecast for PEMSD8 replay and risk ranking. Source labels remain visible in every view.</a:t>
            </a:r>
          </a:p>
          <a:p>
            <a:endParaRPr/>
          </a:p>
          <a:p>
            <a:r>
              <a:t>To show how they work together, we will now play a short screen recording. The recording uses a historical replay. After the video, we will return to the presentation.</a:t>
            </a:r>
          </a:p>
          <a:p>
            <a:endParaRPr/>
          </a:p>
          <a:p>
            <a:r>
              <a:t>[VIDEO CUE — play Traffic_Workbench_Demo.mp4, 00:57. The video has its own narration; do not speak over it.]</a:t>
            </a:r>
          </a:p>
          <a:p>
            <a:endParaRPr/>
          </a:p>
          <a:p>
            <a:r>
              <a:t>[AFTER THE VIDEO — spoken transition:]</a:t>
            </a:r>
          </a:p>
          <a:p>
            <a:r>
              <a:t>That completes the demonstration. We now continue with the final chapter.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Part five states what was delivered, what remains, and the main contributions.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project delivered five items: the leakage-aware MIO-TCD split and YOLO26m fine-tuning; the eight-model forecasting benchmark and MultiHeadSTGCN; road-region filtering and congestion grading; the source-labelled workbench with historical replay; and the public LTA image dataset mirror. Five items remain: calibrated local flow, occupancy and speed at the camera sites; a larger independent human-labelled LTA test set; a live data connection; operational deployment and long-run monitoring; and a user evaluation of the workbench. These sit beyond the course timeline because they require new data collection, annotation and engineering time.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The main contributions are four. Detection: a scene-group split, YOLO26m fine-tuning, MIO-TCD mAP from 0.430 to 0.720, LTA recall from 0.394 to 0.547, and road-region filtering with congestion grading. Forecasting: one protocol for eight models, MultiHeadSTGCN at a default MAE of 14.84, second behind GWNET on default recipes, with default and unified input results. Workbench: a source-labelled operator surface joining the two pipelines. Dataset: 15,316 LTA images from eight cameras over two weeks, publicly mirrored on Hugging Face. The next step is a calibrated local series at the camera sites; retraining follows.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Thank you. The code and experiment scripts are available in the repository.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raffic-workbench-fin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10/28/2026</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affic-workbench-fin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 sz="1200">
                <a:solidFill>
                  <a:schemeClr val="tx1">
                    <a:tint val="75000"/>
                  </a:schemeClr>
                </a:solidFill>
              </a:defRPr>
            </a:lvl1pPr>
          </a:lstStyle>
          <a:p>
            <a:fld id="{5BCAD085-E8A6-8845-BD4E-CB4CCA059FC4}" type="datetimeFigureOut">
              <a:rPr lang="en" smtClean="0"/>
              <a:t>10/28/2026</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 sz="1200">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 sz="1200">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 sz="800" kern="1200">
          <a:solidFill>
            <a:schemeClr val="tx1"/>
          </a:solidFill>
          <a:latin typeface="+mn-lt"/>
          <a:ea typeface="+mn-ea"/>
          <a:cs typeface="+mn-cs"/>
        </a:defRPr>
      </a:lvl9pPr>
    </p:bodyStyle>
    <p:otherStyle>
      <a:defPPr>
        <a:defRPr lang="en"/>
      </a:defPPr>
      <a:lvl1pPr marL="0" algn="l" defTabSz="457200" rtl="0" eaLnBrk="1" latinLnBrk="0" hangingPunct="1">
        <a:defRPr lang="en" sz="1200" kern="1200">
          <a:solidFill>
            <a:schemeClr val="tx1"/>
          </a:solidFill>
          <a:latin typeface="+mn-lt"/>
          <a:ea typeface="+mn-ea"/>
          <a:cs typeface="+mn-cs"/>
        </a:defRPr>
      </a:lvl1pPr>
      <a:lvl2pPr marL="457200" algn="l" defTabSz="457200" rtl="0" eaLnBrk="1" latinLnBrk="0" hangingPunct="1">
        <a:defRPr lang="en" sz="1100" kern="1200">
          <a:solidFill>
            <a:schemeClr val="tx1"/>
          </a:solidFill>
          <a:latin typeface="+mn-lt"/>
          <a:ea typeface="+mn-ea"/>
          <a:cs typeface="+mn-cs"/>
        </a:defRPr>
      </a:lvl2pPr>
      <a:lvl3pPr marL="914400" algn="l" defTabSz="457200" rtl="0" eaLnBrk="1" latinLnBrk="0" hangingPunct="1">
        <a:defRPr lang="en" sz="1050" kern="1200">
          <a:solidFill>
            <a:schemeClr val="tx1"/>
          </a:solidFill>
          <a:latin typeface="+mn-lt"/>
          <a:ea typeface="+mn-ea"/>
          <a:cs typeface="+mn-cs"/>
        </a:defRPr>
      </a:lvl3pPr>
      <a:lvl4pPr marL="1371600" algn="l" defTabSz="457200" rtl="0" eaLnBrk="1" latinLnBrk="0" hangingPunct="1">
        <a:defRPr lang="en" sz="1000" kern="1200">
          <a:solidFill>
            <a:schemeClr val="tx1"/>
          </a:solidFill>
          <a:latin typeface="+mn-lt"/>
          <a:ea typeface="+mn-ea"/>
          <a:cs typeface="+mn-cs"/>
        </a:defRPr>
      </a:lvl4pPr>
      <a:lvl5pPr marL="1828800" algn="l" defTabSz="457200" rtl="0" eaLnBrk="1" latinLnBrk="0" hangingPunct="1">
        <a:defRPr lang="en" sz="900" kern="1200">
          <a:solidFill>
            <a:schemeClr val="tx1"/>
          </a:solidFill>
          <a:latin typeface="+mn-lt"/>
          <a:ea typeface="+mn-ea"/>
          <a:cs typeface="+mn-cs"/>
        </a:defRPr>
      </a:lvl5pPr>
      <a:lvl6pPr marL="2286000" algn="l" defTabSz="457200" rtl="0" eaLnBrk="1" latinLnBrk="0" hangingPunct="1">
        <a:defRPr lang="en" sz="800" kern="1200">
          <a:solidFill>
            <a:schemeClr val="tx1"/>
          </a:solidFill>
          <a:latin typeface="+mn-lt"/>
          <a:ea typeface="+mn-ea"/>
          <a:cs typeface="+mn-cs"/>
        </a:defRPr>
      </a:lvl6pPr>
      <a:lvl7pPr marL="2743200" algn="l" defTabSz="457200" rtl="0" eaLnBrk="1" latinLnBrk="0" hangingPunct="1">
        <a:defRPr lang="en" sz="800" kern="1200">
          <a:solidFill>
            <a:schemeClr val="tx1"/>
          </a:solidFill>
          <a:latin typeface="+mn-lt"/>
          <a:ea typeface="+mn-ea"/>
          <a:cs typeface="+mn-cs"/>
        </a:defRPr>
      </a:lvl7pPr>
      <a:lvl8pPr marL="3200400" algn="l" defTabSz="457200" rtl="0" eaLnBrk="1" latinLnBrk="0" hangingPunct="1">
        <a:defRPr lang="en" sz="800" kern="1200">
          <a:solidFill>
            <a:schemeClr val="tx1"/>
          </a:solidFill>
          <a:latin typeface="+mn-lt"/>
          <a:ea typeface="+mn-ea"/>
          <a:cs typeface="+mn-cs"/>
        </a:defRPr>
      </a:lvl8pPr>
      <a:lvl9pPr marL="3657600" algn="l" defTabSz="457200" rtl="0" eaLnBrk="1" latinLnBrk="0" hangingPunct="1">
        <a:defRPr lang="en"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4" name="sample-title"/>
          <p:cNvGrpSpPr/>
          <p:nvPr/>
        </p:nvGrpSpPr>
        <p:grpSpPr>
          <a:xfrm>
            <a:off x="590550" y="1104900"/>
            <a:ext cx="4674946" cy="2825750"/>
            <a:chOff x="590550" y="1104900"/>
            <a:chExt cx="4674946" cy="2825750"/>
          </a:xfrm>
        </p:grpSpPr>
        <p:sp>
          <p:nvSpPr>
            <p:cNvPr id="2" name="TextBox 2"/>
            <p:cNvSpPr txBox="1"/>
            <p:nvPr/>
          </p:nvSpPr>
          <p:spPr>
            <a:xfrm>
              <a:off x="604647" y="1104900"/>
              <a:ext cx="4303486" cy="246221"/>
            </a:xfrm>
            <a:prstGeom prst="rect">
              <a:avLst/>
            </a:prstGeom>
            <a:noFill/>
            <a:ln>
              <a:noFill/>
            </a:ln>
          </p:spPr>
          <p:txBody>
            <a:bodyPr wrap="none" lIns="0" tIns="0" rIns="0" bIns="0" anchor="t" anchorCtr="0">
              <a:spAutoFit/>
            </a:bodyPr>
            <a:lstStyle/>
            <a:p>
              <a:pPr algn="l"/>
              <a:r>
                <a:rPr lang="en" sz="1600" b="1" spc="112" dirty="0">
                  <a:solidFill>
                    <a:srgbClr val="5EEAD4"/>
                  </a:solidFill>
                  <a:latin typeface="Consolas"/>
                  <a:ea typeface="Consolas"/>
                  <a:cs typeface="Consolas"/>
                </a:rPr>
                <a:t>ISY5002 PATTERN RECOGNITION SYSTEM</a:t>
              </a:r>
            </a:p>
          </p:txBody>
        </p:sp>
        <p:sp>
          <p:nvSpPr>
            <p:cNvPr id="3" name="TextBox 3"/>
            <p:cNvSpPr txBox="1"/>
            <p:nvPr/>
          </p:nvSpPr>
          <p:spPr>
            <a:xfrm>
              <a:off x="590550" y="1854200"/>
              <a:ext cx="4674946" cy="2076450"/>
            </a:xfrm>
            <a:prstGeom prst="rect">
              <a:avLst/>
            </a:prstGeom>
            <a:noFill/>
            <a:ln>
              <a:noFill/>
            </a:ln>
          </p:spPr>
          <p:txBody>
            <a:bodyPr wrap="none" lIns="0" tIns="0" rIns="0" bIns="0" anchor="t" anchorCtr="0">
              <a:spAutoFit/>
            </a:bodyPr>
            <a:lstStyle/>
            <a:p>
              <a:pPr algn="l">
                <a:lnSpc>
                  <a:spcPts val="4950"/>
                </a:lnSpc>
              </a:pPr>
              <a:r>
                <a:rPr lang="en" sz="4200" b="1" dirty="0">
                  <a:solidFill>
                    <a:srgbClr val="FFFFFF"/>
                  </a:solidFill>
                  <a:latin typeface="+mn-lt"/>
                  <a:ea typeface="+mn-ea"/>
                  <a:cs typeface="+mn-cs"/>
                </a:rPr>
                <a:t>Traffic Monitoring</a:t>
              </a:r>
              <a:br>
                <a:rPr lang="en" sz="4200" b="1" dirty="0">
                  <a:solidFill>
                    <a:srgbClr val="FFFFFF"/>
                  </a:solidFill>
                  <a:latin typeface="+mn-lt"/>
                  <a:ea typeface="+mn-ea"/>
                  <a:cs typeface="+mn-cs"/>
                </a:rPr>
              </a:br>
              <a:r>
                <a:rPr lang="en" sz="4200" b="1" dirty="0">
                  <a:solidFill>
                    <a:srgbClr val="FFFFFF"/>
                  </a:solidFill>
                  <a:latin typeface="+mn-lt"/>
                  <a:ea typeface="+mn-ea"/>
                  <a:cs typeface="+mn-cs"/>
                </a:rPr>
                <a:t>and Forecasting</a:t>
              </a:r>
              <a:br>
                <a:rPr lang="en" sz="4200" b="1" dirty="0">
                  <a:solidFill>
                    <a:srgbClr val="FFFFFF"/>
                  </a:solidFill>
                  <a:latin typeface="+mn-lt"/>
                  <a:ea typeface="+mn-ea"/>
                  <a:cs typeface="+mn-cs"/>
                </a:rPr>
              </a:br>
              <a:r>
                <a:rPr lang="en" sz="4200" b="1" dirty="0">
                  <a:solidFill>
                    <a:srgbClr val="FFFFFF"/>
                  </a:solidFill>
                  <a:latin typeface="+mn-lt"/>
                  <a:ea typeface="+mn-ea"/>
                  <a:cs typeface="+mn-cs"/>
                </a:rPr>
                <a:t>Workbench</a:t>
              </a:r>
            </a:p>
          </p:txBody>
        </p:sp>
      </p:grpSp>
      <p:sp>
        <p:nvSpPr>
          <p:cNvPr id="6" name="TextBox 6"/>
          <p:cNvSpPr txBox="1"/>
          <p:nvPr/>
        </p:nvSpPr>
        <p:spPr>
          <a:xfrm>
            <a:off x="603885" y="5289550"/>
            <a:ext cx="4171014" cy="172355"/>
          </a:xfrm>
          <a:prstGeom prst="rect">
            <a:avLst/>
          </a:prstGeom>
          <a:noFill/>
          <a:ln>
            <a:noFill/>
          </a:ln>
        </p:spPr>
        <p:txBody>
          <a:bodyPr wrap="none" lIns="0" tIns="0" rIns="0" bIns="0" anchor="t" anchorCtr="0">
            <a:spAutoFit/>
          </a:bodyPr>
          <a:lstStyle/>
          <a:p>
            <a:pPr algn="l"/>
            <a:r>
              <a:rPr lang="en" sz="1120" b="1" dirty="0">
                <a:solidFill>
                  <a:srgbClr val="CBD5E1"/>
                </a:solidFill>
                <a:latin typeface="+mn-lt"/>
                <a:ea typeface="+mn-ea"/>
                <a:cs typeface="+mn-cs"/>
              </a:rPr>
              <a:t>Wang Mingyang · Su Tanjia · Fu Junchun · Yan Yi · Wang Zimo</a:t>
            </a:r>
          </a:p>
        </p:txBody>
      </p:sp>
      <p:grpSp>
        <p:nvGrpSpPr>
          <p:cNvPr id="29" name="sample-motif"/>
          <p:cNvGrpSpPr/>
          <p:nvPr/>
        </p:nvGrpSpPr>
        <p:grpSpPr>
          <a:xfrm>
            <a:off x="7753350" y="1562100"/>
            <a:ext cx="3352800" cy="3352800"/>
            <a:chOff x="7753350" y="1562100"/>
            <a:chExt cx="3352800" cy="3352800"/>
          </a:xfrm>
        </p:grpSpPr>
        <p:sp>
          <p:nvSpPr>
            <p:cNvPr id="8" name="Ellipse 8"/>
            <p:cNvSpPr/>
            <p:nvPr/>
          </p:nvSpPr>
          <p:spPr>
            <a:xfrm>
              <a:off x="7753350" y="1562100"/>
              <a:ext cx="3352800" cy="3352800"/>
            </a:xfrm>
            <a:prstGeom prst="ellipse">
              <a:avLst/>
            </a:prstGeom>
            <a:noFill/>
            <a:ln w="9525">
              <a:solidFill>
                <a:srgbClr val="334155"/>
              </a:solidFill>
            </a:ln>
          </p:spPr>
          <p:txBody>
            <a:bodyPr/>
            <a:lstStyle/>
            <a:p>
              <a:endParaRPr lang="zh-CN" altLang="en-US"/>
            </a:p>
          </p:txBody>
        </p:sp>
        <p:sp>
          <p:nvSpPr>
            <p:cNvPr id="9" name="Line 9"/>
            <p:cNvSpPr/>
            <p:nvPr/>
          </p:nvSpPr>
          <p:spPr>
            <a:xfrm>
              <a:off x="8420100" y="2209800"/>
              <a:ext cx="914400" cy="952500"/>
            </a:xfrm>
            <a:custGeom>
              <a:avLst/>
              <a:gdLst/>
              <a:ahLst/>
              <a:cxnLst/>
              <a:rect l="l" t="t" r="r" b="b"/>
              <a:pathLst>
                <a:path w="914400" h="952500">
                  <a:moveTo>
                    <a:pt x="0" y="0"/>
                  </a:moveTo>
                  <a:lnTo>
                    <a:pt x="914400" y="952500"/>
                  </a:lnTo>
                </a:path>
              </a:pathLst>
            </a:custGeom>
            <a:noFill/>
            <a:ln w="19050">
              <a:solidFill>
                <a:srgbClr val="475569"/>
              </a:solidFill>
            </a:ln>
          </p:spPr>
          <p:txBody>
            <a:bodyPr/>
            <a:lstStyle/>
            <a:p>
              <a:endParaRPr lang="zh-CN" altLang="en-US"/>
            </a:p>
          </p:txBody>
        </p:sp>
        <p:sp>
          <p:nvSpPr>
            <p:cNvPr id="10" name="Line 10"/>
            <p:cNvSpPr/>
            <p:nvPr/>
          </p:nvSpPr>
          <p:spPr>
            <a:xfrm>
              <a:off x="8420100" y="3162300"/>
              <a:ext cx="914400" cy="952500"/>
            </a:xfrm>
            <a:custGeom>
              <a:avLst/>
              <a:gdLst/>
              <a:ahLst/>
              <a:cxnLst/>
              <a:rect l="l" t="t" r="r" b="b"/>
              <a:pathLst>
                <a:path w="914400" h="952500">
                  <a:moveTo>
                    <a:pt x="0" y="952500"/>
                  </a:moveTo>
                  <a:lnTo>
                    <a:pt x="914400" y="0"/>
                  </a:lnTo>
                </a:path>
              </a:pathLst>
            </a:custGeom>
            <a:noFill/>
            <a:ln w="19050">
              <a:solidFill>
                <a:srgbClr val="475569"/>
              </a:solidFill>
            </a:ln>
          </p:spPr>
          <p:txBody>
            <a:bodyPr/>
            <a:lstStyle/>
            <a:p>
              <a:endParaRPr lang="zh-CN" altLang="en-US"/>
            </a:p>
          </p:txBody>
        </p:sp>
        <p:sp>
          <p:nvSpPr>
            <p:cNvPr id="11" name="Line 11"/>
            <p:cNvSpPr/>
            <p:nvPr/>
          </p:nvSpPr>
          <p:spPr>
            <a:xfrm>
              <a:off x="9334500" y="2209800"/>
              <a:ext cx="1333500" cy="952500"/>
            </a:xfrm>
            <a:custGeom>
              <a:avLst/>
              <a:gdLst/>
              <a:ahLst/>
              <a:cxnLst/>
              <a:rect l="l" t="t" r="r" b="b"/>
              <a:pathLst>
                <a:path w="1333500" h="952500">
                  <a:moveTo>
                    <a:pt x="0" y="952500"/>
                  </a:moveTo>
                  <a:lnTo>
                    <a:pt x="1333500" y="0"/>
                  </a:lnTo>
                </a:path>
              </a:pathLst>
            </a:custGeom>
            <a:noFill/>
            <a:ln w="19050">
              <a:solidFill>
                <a:srgbClr val="475569"/>
              </a:solidFill>
            </a:ln>
          </p:spPr>
          <p:txBody>
            <a:bodyPr/>
            <a:lstStyle/>
            <a:p>
              <a:endParaRPr lang="zh-CN" altLang="en-US"/>
            </a:p>
          </p:txBody>
        </p:sp>
        <p:sp>
          <p:nvSpPr>
            <p:cNvPr id="12" name="Rectangle 12"/>
            <p:cNvSpPr/>
            <p:nvPr/>
          </p:nvSpPr>
          <p:spPr>
            <a:xfrm>
              <a:off x="7810500" y="1905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sp>
          <p:nvSpPr>
            <p:cNvPr id="13" name="Freeform 13"/>
            <p:cNvSpPr/>
            <p:nvPr/>
          </p:nvSpPr>
          <p:spPr>
            <a:xfrm>
              <a:off x="8020049" y="2124072"/>
              <a:ext cx="190502" cy="171454"/>
            </a:xfrm>
            <a:custGeom>
              <a:avLst/>
              <a:gdLst/>
              <a:ahLst/>
              <a:cxnLst/>
              <a:rect l="l" t="t" r="r" b="b"/>
              <a:pathLst>
                <a:path w="190502" h="171454">
                  <a:moveTo>
                    <a:pt x="123826" y="3"/>
                  </a:moveTo>
                  <a:cubicBezTo>
                    <a:pt x="133795" y="0"/>
                    <a:pt x="142081" y="7683"/>
                    <a:pt x="142828" y="17624"/>
                  </a:cubicBezTo>
                  <a:lnTo>
                    <a:pt x="142876" y="19053"/>
                  </a:lnTo>
                  <a:cubicBezTo>
                    <a:pt x="142876" y="23882"/>
                    <a:pt x="146491" y="27946"/>
                    <a:pt x="151286" y="28511"/>
                  </a:cubicBezTo>
                  <a:lnTo>
                    <a:pt x="152401" y="28578"/>
                  </a:lnTo>
                  <a:lnTo>
                    <a:pt x="161926" y="28578"/>
                  </a:lnTo>
                  <a:cubicBezTo>
                    <a:pt x="177057" y="28577"/>
                    <a:pt x="189566" y="40372"/>
                    <a:pt x="190453" y="55477"/>
                  </a:cubicBezTo>
                  <a:lnTo>
                    <a:pt x="190501" y="57153"/>
                  </a:lnTo>
                  <a:lnTo>
                    <a:pt x="190501" y="142878"/>
                  </a:lnTo>
                  <a:cubicBezTo>
                    <a:pt x="190502" y="158009"/>
                    <a:pt x="178707" y="170518"/>
                    <a:pt x="163602" y="171406"/>
                  </a:cubicBezTo>
                  <a:lnTo>
                    <a:pt x="161926" y="171453"/>
                  </a:lnTo>
                  <a:lnTo>
                    <a:pt x="28576" y="171453"/>
                  </a:lnTo>
                  <a:cubicBezTo>
                    <a:pt x="13445" y="171454"/>
                    <a:pt x="936" y="159660"/>
                    <a:pt x="48" y="144555"/>
                  </a:cubicBezTo>
                  <a:lnTo>
                    <a:pt x="1" y="142878"/>
                  </a:lnTo>
                  <a:lnTo>
                    <a:pt x="1" y="57153"/>
                  </a:lnTo>
                  <a:cubicBezTo>
                    <a:pt x="0" y="42022"/>
                    <a:pt x="11794" y="29513"/>
                    <a:pt x="26899" y="28626"/>
                  </a:cubicBezTo>
                  <a:lnTo>
                    <a:pt x="28576" y="28578"/>
                  </a:lnTo>
                  <a:lnTo>
                    <a:pt x="38101" y="28578"/>
                  </a:lnTo>
                  <a:cubicBezTo>
                    <a:pt x="43361" y="28578"/>
                    <a:pt x="47626" y="24314"/>
                    <a:pt x="47626" y="19053"/>
                  </a:cubicBezTo>
                  <a:cubicBezTo>
                    <a:pt x="47623" y="9084"/>
                    <a:pt x="55306" y="798"/>
                    <a:pt x="65247" y="51"/>
                  </a:cubicBezTo>
                  <a:lnTo>
                    <a:pt x="66676" y="3"/>
                  </a:lnTo>
                  <a:lnTo>
                    <a:pt x="123826" y="3"/>
                  </a:lnTo>
                  <a:close/>
                  <a:moveTo>
                    <a:pt x="95251" y="66678"/>
                  </a:moveTo>
                  <a:cubicBezTo>
                    <a:pt x="80582" y="66677"/>
                    <a:pt x="68295" y="77783"/>
                    <a:pt x="66819" y="92377"/>
                  </a:cubicBezTo>
                  <a:lnTo>
                    <a:pt x="66714" y="93824"/>
                  </a:lnTo>
                  <a:lnTo>
                    <a:pt x="66676" y="95253"/>
                  </a:lnTo>
                  <a:lnTo>
                    <a:pt x="66714" y="96682"/>
                  </a:lnTo>
                  <a:cubicBezTo>
                    <a:pt x="67494" y="112258"/>
                    <a:pt x="80619" y="124333"/>
                    <a:pt x="96207" y="123812"/>
                  </a:cubicBezTo>
                  <a:cubicBezTo>
                    <a:pt x="111794" y="123292"/>
                    <a:pt x="124085" y="110369"/>
                    <a:pt x="123824" y="94775"/>
                  </a:cubicBezTo>
                  <a:cubicBezTo>
                    <a:pt x="123563" y="79181"/>
                    <a:pt x="110847" y="66677"/>
                    <a:pt x="95251" y="66678"/>
                  </a:cubicBezTo>
                  <a:close/>
                </a:path>
              </a:pathLst>
            </a:custGeom>
            <a:solidFill>
              <a:srgbClr val="38BDF8"/>
            </a:solidFill>
            <a:ln>
              <a:noFill/>
            </a:ln>
          </p:spPr>
          <p:txBody>
            <a:bodyPr/>
            <a:lstStyle/>
            <a:p>
              <a:endParaRPr lang="zh-CN" altLang="en-US"/>
            </a:p>
          </p:txBody>
        </p:sp>
        <p:sp>
          <p:nvSpPr>
            <p:cNvPr id="15" name="Rectangle 15"/>
            <p:cNvSpPr/>
            <p:nvPr/>
          </p:nvSpPr>
          <p:spPr>
            <a:xfrm>
              <a:off x="7810500" y="3810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grpSp>
          <p:nvGrpSpPr>
            <p:cNvPr id="19" name="Group 19"/>
            <p:cNvGrpSpPr/>
            <p:nvPr/>
          </p:nvGrpSpPr>
          <p:grpSpPr>
            <a:xfrm>
              <a:off x="8029574" y="4019550"/>
              <a:ext cx="171451" cy="190500"/>
              <a:chOff x="8029574" y="4019550"/>
              <a:chExt cx="171451" cy="190500"/>
            </a:xfrm>
          </p:grpSpPr>
          <p:sp>
            <p:nvSpPr>
              <p:cNvPr id="16" name="Freeform 16"/>
              <p:cNvSpPr/>
              <p:nvPr/>
            </p:nvSpPr>
            <p:spPr>
              <a:xfrm>
                <a:off x="8029575" y="415033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4710"/>
                      <a:pt x="134350" y="59103"/>
                      <a:pt x="88649" y="59693"/>
                    </a:cubicBezTo>
                    <a:lnTo>
                      <a:pt x="85725" y="59712"/>
                    </a:lnTo>
                    <a:cubicBezTo>
                      <a:pt x="38691" y="59712"/>
                      <a:pt x="0" y="45206"/>
                      <a:pt x="0" y="21612"/>
                    </a:cubicBezTo>
                    <a:close/>
                  </a:path>
                </a:pathLst>
              </a:custGeom>
              <a:solidFill>
                <a:srgbClr val="38BDF8"/>
              </a:solidFill>
              <a:ln>
                <a:noFill/>
              </a:ln>
            </p:spPr>
            <p:txBody>
              <a:bodyPr/>
              <a:lstStyle/>
              <a:p>
                <a:endParaRPr lang="zh-CN" altLang="en-US"/>
              </a:p>
            </p:txBody>
          </p:sp>
          <p:sp>
            <p:nvSpPr>
              <p:cNvPr id="17" name="Freeform 17"/>
              <p:cNvSpPr/>
              <p:nvPr/>
            </p:nvSpPr>
            <p:spPr>
              <a:xfrm>
                <a:off x="8029575" y="409318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5206"/>
                      <a:pt x="132759" y="59712"/>
                      <a:pt x="85725" y="59712"/>
                    </a:cubicBezTo>
                    <a:cubicBezTo>
                      <a:pt x="40024" y="59712"/>
                      <a:pt x="2191" y="46015"/>
                      <a:pt x="200" y="23565"/>
                    </a:cubicBezTo>
                    <a:lnTo>
                      <a:pt x="48" y="22603"/>
                    </a:lnTo>
                    <a:lnTo>
                      <a:pt x="0" y="21612"/>
                    </a:lnTo>
                    <a:close/>
                  </a:path>
                </a:pathLst>
              </a:custGeom>
              <a:solidFill>
                <a:srgbClr val="38BDF8"/>
              </a:solidFill>
              <a:ln>
                <a:noFill/>
              </a:ln>
            </p:spPr>
            <p:txBody>
              <a:bodyPr/>
              <a:lstStyle/>
              <a:p>
                <a:endParaRPr lang="zh-CN" altLang="en-US"/>
              </a:p>
            </p:txBody>
          </p:sp>
          <p:sp>
            <p:nvSpPr>
              <p:cNvPr id="18" name="Freeform 18"/>
              <p:cNvSpPr/>
              <p:nvPr/>
            </p:nvSpPr>
            <p:spPr>
              <a:xfrm>
                <a:off x="8029574" y="4019550"/>
                <a:ext cx="171451" cy="76200"/>
              </a:xfrm>
              <a:custGeom>
                <a:avLst/>
                <a:gdLst/>
                <a:ahLst/>
                <a:cxnLst/>
                <a:rect l="l" t="t" r="r" b="b"/>
                <a:pathLst>
                  <a:path w="171451" h="76200">
                    <a:moveTo>
                      <a:pt x="85726" y="0"/>
                    </a:moveTo>
                    <a:cubicBezTo>
                      <a:pt x="95641" y="0"/>
                      <a:pt x="105195" y="648"/>
                      <a:pt x="114082" y="1886"/>
                    </a:cubicBezTo>
                    <a:lnTo>
                      <a:pt x="118549" y="2562"/>
                    </a:lnTo>
                    <a:cubicBezTo>
                      <a:pt x="123883" y="3451"/>
                      <a:pt x="128918" y="4556"/>
                      <a:pt x="133656" y="5877"/>
                    </a:cubicBezTo>
                    <a:lnTo>
                      <a:pt x="137847" y="7125"/>
                    </a:lnTo>
                    <a:lnTo>
                      <a:pt x="138561" y="7353"/>
                    </a:lnTo>
                    <a:cubicBezTo>
                      <a:pt x="141153" y="8206"/>
                      <a:pt x="143711" y="9159"/>
                      <a:pt x="146229" y="10211"/>
                    </a:cubicBezTo>
                    <a:lnTo>
                      <a:pt x="148124" y="11030"/>
                    </a:lnTo>
                    <a:cubicBezTo>
                      <a:pt x="151521" y="12567"/>
                      <a:pt x="154591" y="14249"/>
                      <a:pt x="157335" y="16078"/>
                    </a:cubicBezTo>
                    <a:cubicBezTo>
                      <a:pt x="158382" y="16777"/>
                      <a:pt x="159376" y="17491"/>
                      <a:pt x="160316" y="18221"/>
                    </a:cubicBezTo>
                    <a:cubicBezTo>
                      <a:pt x="162697" y="20069"/>
                      <a:pt x="164837" y="22206"/>
                      <a:pt x="166688" y="24584"/>
                    </a:cubicBezTo>
                    <a:lnTo>
                      <a:pt x="167555" y="25803"/>
                    </a:lnTo>
                    <a:cubicBezTo>
                      <a:pt x="168000" y="26470"/>
                      <a:pt x="168409" y="27140"/>
                      <a:pt x="168784" y="27813"/>
                    </a:cubicBezTo>
                    <a:lnTo>
                      <a:pt x="169450" y="29137"/>
                    </a:lnTo>
                    <a:cubicBezTo>
                      <a:pt x="170486" y="31359"/>
                      <a:pt x="171121" y="33677"/>
                      <a:pt x="171355" y="36090"/>
                    </a:cubicBezTo>
                    <a:lnTo>
                      <a:pt x="171451" y="38100"/>
                    </a:lnTo>
                    <a:cubicBezTo>
                      <a:pt x="171451" y="61693"/>
                      <a:pt x="132760" y="76200"/>
                      <a:pt x="85726" y="76200"/>
                    </a:cubicBezTo>
                    <a:cubicBezTo>
                      <a:pt x="40025" y="76200"/>
                      <a:pt x="2191" y="62503"/>
                      <a:pt x="201" y="40053"/>
                    </a:cubicBezTo>
                    <a:cubicBezTo>
                      <a:pt x="67" y="39410"/>
                      <a:pt x="0" y="38756"/>
                      <a:pt x="1" y="38100"/>
                    </a:cubicBezTo>
                    <a:lnTo>
                      <a:pt x="48" y="37109"/>
                    </a:lnTo>
                    <a:lnTo>
                      <a:pt x="201" y="36157"/>
                    </a:lnTo>
                    <a:cubicBezTo>
                      <a:pt x="2153" y="14192"/>
                      <a:pt x="38396" y="600"/>
                      <a:pt x="82754" y="19"/>
                    </a:cubicBezTo>
                    <a:close/>
                  </a:path>
                </a:pathLst>
              </a:custGeom>
              <a:solidFill>
                <a:srgbClr val="38BDF8"/>
              </a:solidFill>
              <a:ln>
                <a:noFill/>
              </a:ln>
            </p:spPr>
            <p:txBody>
              <a:bodyPr/>
              <a:lstStyle/>
              <a:p>
                <a:endParaRPr lang="zh-CN" altLang="en-US"/>
              </a:p>
            </p:txBody>
          </p:sp>
        </p:grpSp>
        <p:sp>
          <p:nvSpPr>
            <p:cNvPr id="21" name="Rectangle 21"/>
            <p:cNvSpPr/>
            <p:nvPr/>
          </p:nvSpPr>
          <p:spPr>
            <a:xfrm>
              <a:off x="9029700" y="28575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grpSp>
          <p:nvGrpSpPr>
            <p:cNvPr id="24" name="Group 24"/>
            <p:cNvGrpSpPr/>
            <p:nvPr/>
          </p:nvGrpSpPr>
          <p:grpSpPr>
            <a:xfrm>
              <a:off x="9247648" y="3075425"/>
              <a:ext cx="173506" cy="163075"/>
              <a:chOff x="9247648" y="3075425"/>
              <a:chExt cx="173506" cy="163075"/>
            </a:xfrm>
          </p:grpSpPr>
          <p:sp>
            <p:nvSpPr>
              <p:cNvPr id="22" name="Freeform 22"/>
              <p:cNvSpPr/>
              <p:nvPr/>
            </p:nvSpPr>
            <p:spPr>
              <a:xfrm>
                <a:off x="9248775" y="3132539"/>
                <a:ext cx="171450" cy="105961"/>
              </a:xfrm>
              <a:custGeom>
                <a:avLst/>
                <a:gdLst/>
                <a:ahLst/>
                <a:cxnLst/>
                <a:rect l="l" t="t" r="r" b="b"/>
                <a:pathLst>
                  <a:path w="171450" h="105961">
                    <a:moveTo>
                      <a:pt x="116396" y="4758"/>
                    </a:moveTo>
                    <a:cubicBezTo>
                      <a:pt x="119648" y="700"/>
                      <a:pt x="125554" y="0"/>
                      <a:pt x="129664" y="3186"/>
                    </a:cubicBezTo>
                    <a:lnTo>
                      <a:pt x="130559" y="3977"/>
                    </a:lnTo>
                    <a:lnTo>
                      <a:pt x="168659" y="42077"/>
                    </a:lnTo>
                    <a:cubicBezTo>
                      <a:pt x="170140" y="43558"/>
                      <a:pt x="171090" y="45487"/>
                      <a:pt x="171364" y="47563"/>
                    </a:cubicBezTo>
                    <a:lnTo>
                      <a:pt x="171450" y="48811"/>
                    </a:lnTo>
                    <a:lnTo>
                      <a:pt x="171450" y="96436"/>
                    </a:lnTo>
                    <a:cubicBezTo>
                      <a:pt x="171449" y="101265"/>
                      <a:pt x="167835" y="105329"/>
                      <a:pt x="163039" y="105894"/>
                    </a:cubicBezTo>
                    <a:lnTo>
                      <a:pt x="161925" y="105961"/>
                    </a:lnTo>
                    <a:lnTo>
                      <a:pt x="9315" y="105961"/>
                    </a:lnTo>
                    <a:lnTo>
                      <a:pt x="8268" y="105875"/>
                    </a:lnTo>
                    <a:lnTo>
                      <a:pt x="7220" y="105685"/>
                    </a:lnTo>
                    <a:lnTo>
                      <a:pt x="6201" y="105361"/>
                    </a:lnTo>
                    <a:lnTo>
                      <a:pt x="5201" y="104923"/>
                    </a:lnTo>
                    <a:lnTo>
                      <a:pt x="4248" y="104361"/>
                    </a:lnTo>
                    <a:lnTo>
                      <a:pt x="3353" y="103694"/>
                    </a:lnTo>
                    <a:lnTo>
                      <a:pt x="2781" y="103170"/>
                    </a:lnTo>
                    <a:lnTo>
                      <a:pt x="2096" y="102389"/>
                    </a:lnTo>
                    <a:lnTo>
                      <a:pt x="1486" y="101541"/>
                    </a:lnTo>
                    <a:lnTo>
                      <a:pt x="972" y="100627"/>
                    </a:lnTo>
                    <a:lnTo>
                      <a:pt x="819" y="100293"/>
                    </a:lnTo>
                    <a:lnTo>
                      <a:pt x="438" y="99312"/>
                    </a:lnTo>
                    <a:lnTo>
                      <a:pt x="181" y="98303"/>
                    </a:lnTo>
                    <a:lnTo>
                      <a:pt x="38" y="97274"/>
                    </a:lnTo>
                    <a:lnTo>
                      <a:pt x="0" y="96226"/>
                    </a:lnTo>
                    <a:lnTo>
                      <a:pt x="86" y="95179"/>
                    </a:lnTo>
                    <a:lnTo>
                      <a:pt x="267" y="94178"/>
                    </a:lnTo>
                    <a:cubicBezTo>
                      <a:pt x="362" y="93797"/>
                      <a:pt x="476" y="93445"/>
                      <a:pt x="600" y="93112"/>
                    </a:cubicBezTo>
                    <a:lnTo>
                      <a:pt x="1038" y="92112"/>
                    </a:lnTo>
                    <a:lnTo>
                      <a:pt x="1600" y="91159"/>
                    </a:lnTo>
                    <a:lnTo>
                      <a:pt x="39700" y="34009"/>
                    </a:lnTo>
                    <a:cubicBezTo>
                      <a:pt x="42113" y="30377"/>
                      <a:pt x="46684" y="28847"/>
                      <a:pt x="50797" y="30294"/>
                    </a:cubicBezTo>
                    <a:lnTo>
                      <a:pt x="51883" y="30771"/>
                    </a:lnTo>
                    <a:lnTo>
                      <a:pt x="83096" y="46372"/>
                    </a:lnTo>
                    <a:lnTo>
                      <a:pt x="116386" y="4758"/>
                    </a:lnTo>
                    <a:close/>
                  </a:path>
                </a:pathLst>
              </a:custGeom>
              <a:solidFill>
                <a:srgbClr val="2DD4BF"/>
              </a:solidFill>
              <a:ln>
                <a:noFill/>
              </a:ln>
            </p:spPr>
            <p:txBody>
              <a:bodyPr/>
              <a:lstStyle/>
              <a:p>
                <a:endParaRPr lang="zh-CN" altLang="en-US"/>
              </a:p>
            </p:txBody>
          </p:sp>
          <p:sp>
            <p:nvSpPr>
              <p:cNvPr id="23" name="Freeform 23"/>
              <p:cNvSpPr/>
              <p:nvPr/>
            </p:nvSpPr>
            <p:spPr>
              <a:xfrm>
                <a:off x="9247648" y="3075425"/>
                <a:ext cx="173506" cy="97527"/>
              </a:xfrm>
              <a:custGeom>
                <a:avLst/>
                <a:gdLst/>
                <a:ahLst/>
                <a:cxnLst/>
                <a:rect l="l" t="t" r="r" b="b"/>
                <a:pathLst>
                  <a:path w="173506" h="97527">
                    <a:moveTo>
                      <a:pt x="117637" y="4579"/>
                    </a:moveTo>
                    <a:cubicBezTo>
                      <a:pt x="120923" y="632"/>
                      <a:pt x="126745" y="0"/>
                      <a:pt x="130801" y="3150"/>
                    </a:cubicBezTo>
                    <a:lnTo>
                      <a:pt x="131687" y="3941"/>
                    </a:lnTo>
                    <a:lnTo>
                      <a:pt x="169787" y="42041"/>
                    </a:lnTo>
                    <a:cubicBezTo>
                      <a:pt x="173332" y="45598"/>
                      <a:pt x="173506" y="51297"/>
                      <a:pt x="170184" y="55064"/>
                    </a:cubicBezTo>
                    <a:cubicBezTo>
                      <a:pt x="166863" y="58831"/>
                      <a:pt x="161187" y="59372"/>
                      <a:pt x="157214" y="56300"/>
                    </a:cubicBezTo>
                    <a:lnTo>
                      <a:pt x="156318" y="55509"/>
                    </a:lnTo>
                    <a:lnTo>
                      <a:pt x="125591" y="24791"/>
                    </a:lnTo>
                    <a:lnTo>
                      <a:pt x="84643" y="73921"/>
                    </a:lnTo>
                    <a:cubicBezTo>
                      <a:pt x="82095" y="76976"/>
                      <a:pt x="77918" y="78127"/>
                      <a:pt x="74165" y="76807"/>
                    </a:cubicBezTo>
                    <a:lnTo>
                      <a:pt x="73070" y="76340"/>
                    </a:lnTo>
                    <a:lnTo>
                      <a:pt x="42075" y="60853"/>
                    </a:lnTo>
                    <a:lnTo>
                      <a:pt x="18272" y="92590"/>
                    </a:lnTo>
                    <a:cubicBezTo>
                      <a:pt x="15393" y="96429"/>
                      <a:pt x="10108" y="97527"/>
                      <a:pt x="5938" y="95152"/>
                    </a:cubicBezTo>
                    <a:lnTo>
                      <a:pt x="4937" y="94495"/>
                    </a:lnTo>
                    <a:cubicBezTo>
                      <a:pt x="1098" y="91616"/>
                      <a:pt x="0" y="86330"/>
                      <a:pt x="2375" y="82160"/>
                    </a:cubicBezTo>
                    <a:lnTo>
                      <a:pt x="3032" y="81160"/>
                    </a:lnTo>
                    <a:lnTo>
                      <a:pt x="31607" y="43060"/>
                    </a:lnTo>
                    <a:cubicBezTo>
                      <a:pt x="34115" y="39720"/>
                      <a:pt x="38506" y="38403"/>
                      <a:pt x="42437" y="39812"/>
                    </a:cubicBezTo>
                    <a:lnTo>
                      <a:pt x="43485" y="40259"/>
                    </a:lnTo>
                    <a:lnTo>
                      <a:pt x="74832" y="55928"/>
                    </a:lnTo>
                    <a:lnTo>
                      <a:pt x="117637" y="4579"/>
                    </a:lnTo>
                    <a:close/>
                  </a:path>
                </a:pathLst>
              </a:custGeom>
              <a:solidFill>
                <a:srgbClr val="2DD4BF"/>
              </a:solidFill>
              <a:ln>
                <a:noFill/>
              </a:ln>
            </p:spPr>
            <p:txBody>
              <a:bodyPr/>
              <a:lstStyle/>
              <a:p>
                <a:endParaRPr lang="zh-CN" altLang="en-US"/>
              </a:p>
            </p:txBody>
          </p:sp>
        </p:grpSp>
        <p:sp>
          <p:nvSpPr>
            <p:cNvPr id="26" name="Rectangle 26"/>
            <p:cNvSpPr/>
            <p:nvPr/>
          </p:nvSpPr>
          <p:spPr>
            <a:xfrm>
              <a:off x="10363200" y="1905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sp>
          <p:nvSpPr>
            <p:cNvPr id="27" name="Freeform 27"/>
            <p:cNvSpPr/>
            <p:nvPr/>
          </p:nvSpPr>
          <p:spPr>
            <a:xfrm>
              <a:off x="10582275" y="2124075"/>
              <a:ext cx="171450" cy="171450"/>
            </a:xfrm>
            <a:custGeom>
              <a:avLst/>
              <a:gdLst/>
              <a:ahLst/>
              <a:cxnLst/>
              <a:rect l="l" t="t" r="r" b="b"/>
              <a:pathLst>
                <a:path w="171450" h="171450">
                  <a:moveTo>
                    <a:pt x="57150" y="0"/>
                  </a:moveTo>
                  <a:cubicBezTo>
                    <a:pt x="67671" y="0"/>
                    <a:pt x="76200" y="8529"/>
                    <a:pt x="76200" y="19050"/>
                  </a:cubicBezTo>
                  <a:lnTo>
                    <a:pt x="76200" y="76200"/>
                  </a:lnTo>
                  <a:cubicBezTo>
                    <a:pt x="76200" y="86721"/>
                    <a:pt x="67671" y="95250"/>
                    <a:pt x="57150" y="95250"/>
                  </a:cubicBezTo>
                  <a:lnTo>
                    <a:pt x="19050" y="95250"/>
                  </a:lnTo>
                  <a:cubicBezTo>
                    <a:pt x="8529" y="95250"/>
                    <a:pt x="0" y="86721"/>
                    <a:pt x="0" y="76200"/>
                  </a:cubicBezTo>
                  <a:lnTo>
                    <a:pt x="0" y="19050"/>
                  </a:lnTo>
                  <a:cubicBezTo>
                    <a:pt x="0" y="8529"/>
                    <a:pt x="8529" y="0"/>
                    <a:pt x="19050" y="0"/>
                  </a:cubicBezTo>
                  <a:close/>
                  <a:moveTo>
                    <a:pt x="57150" y="114300"/>
                  </a:moveTo>
                  <a:cubicBezTo>
                    <a:pt x="67671" y="114300"/>
                    <a:pt x="76200" y="122829"/>
                    <a:pt x="76200" y="133350"/>
                  </a:cubicBezTo>
                  <a:lnTo>
                    <a:pt x="76200" y="152400"/>
                  </a:lnTo>
                  <a:cubicBezTo>
                    <a:pt x="76200" y="162921"/>
                    <a:pt x="67671" y="171450"/>
                    <a:pt x="57150" y="171450"/>
                  </a:cubicBezTo>
                  <a:lnTo>
                    <a:pt x="19050" y="171450"/>
                  </a:lnTo>
                  <a:cubicBezTo>
                    <a:pt x="8529" y="171450"/>
                    <a:pt x="0" y="162921"/>
                    <a:pt x="0" y="152400"/>
                  </a:cubicBezTo>
                  <a:lnTo>
                    <a:pt x="0" y="133350"/>
                  </a:lnTo>
                  <a:cubicBezTo>
                    <a:pt x="0" y="122829"/>
                    <a:pt x="8529" y="114300"/>
                    <a:pt x="19050" y="114300"/>
                  </a:cubicBezTo>
                  <a:close/>
                  <a:moveTo>
                    <a:pt x="152400" y="76200"/>
                  </a:moveTo>
                  <a:cubicBezTo>
                    <a:pt x="162921" y="76200"/>
                    <a:pt x="171450" y="84729"/>
                    <a:pt x="171450" y="95250"/>
                  </a:cubicBezTo>
                  <a:lnTo>
                    <a:pt x="171450" y="152400"/>
                  </a:lnTo>
                  <a:cubicBezTo>
                    <a:pt x="171450" y="162921"/>
                    <a:pt x="162921" y="171450"/>
                    <a:pt x="152400" y="171450"/>
                  </a:cubicBezTo>
                  <a:lnTo>
                    <a:pt x="114300" y="171450"/>
                  </a:lnTo>
                  <a:cubicBezTo>
                    <a:pt x="103779" y="171450"/>
                    <a:pt x="95250" y="162921"/>
                    <a:pt x="95250" y="152400"/>
                  </a:cubicBezTo>
                  <a:lnTo>
                    <a:pt x="95250" y="95250"/>
                  </a:lnTo>
                  <a:cubicBezTo>
                    <a:pt x="95250" y="84729"/>
                    <a:pt x="103779" y="76200"/>
                    <a:pt x="114300" y="76200"/>
                  </a:cubicBezTo>
                  <a:close/>
                  <a:moveTo>
                    <a:pt x="152400" y="0"/>
                  </a:moveTo>
                  <a:cubicBezTo>
                    <a:pt x="162921" y="0"/>
                    <a:pt x="171450" y="8529"/>
                    <a:pt x="171450" y="19050"/>
                  </a:cubicBezTo>
                  <a:lnTo>
                    <a:pt x="171450" y="38100"/>
                  </a:lnTo>
                  <a:cubicBezTo>
                    <a:pt x="171450" y="48621"/>
                    <a:pt x="162921" y="57150"/>
                    <a:pt x="152400" y="57150"/>
                  </a:cubicBezTo>
                  <a:lnTo>
                    <a:pt x="114300" y="57150"/>
                  </a:lnTo>
                  <a:cubicBezTo>
                    <a:pt x="103779" y="57150"/>
                    <a:pt x="95250" y="48621"/>
                    <a:pt x="95250" y="38100"/>
                  </a:cubicBezTo>
                  <a:lnTo>
                    <a:pt x="95250" y="19050"/>
                  </a:lnTo>
                  <a:cubicBezTo>
                    <a:pt x="95250" y="8529"/>
                    <a:pt x="103779" y="0"/>
                    <a:pt x="114300" y="0"/>
                  </a:cubicBezTo>
                  <a:close/>
                </a:path>
              </a:pathLst>
            </a:custGeom>
            <a:solidFill>
              <a:srgbClr val="2DD4BF"/>
            </a:solidFill>
            <a:ln>
              <a:noFill/>
            </a:ln>
          </p:spPr>
          <p:txBody>
            <a:bodyPr/>
            <a:lstStyle/>
            <a:p>
              <a:endParaRPr lang="zh-CN" altLang="en-US"/>
            </a:p>
          </p:txBody>
        </p:sp>
      </p:grpSp>
      <p:sp>
        <p:nvSpPr>
          <p:cNvPr id="20" name="TextBox 5">
            <a:extLst>
              <a:ext uri="{FF2B5EF4-FFF2-40B4-BE49-F238E27FC236}">
                <a16:creationId xmlns:a16="http://schemas.microsoft.com/office/drawing/2014/main" id="{13B3C73C-6343-A457-1BC7-B39E38011974}"/>
              </a:ext>
            </a:extLst>
          </p:cNvPr>
          <p:cNvSpPr txBox="1"/>
          <p:nvPr/>
        </p:nvSpPr>
        <p:spPr>
          <a:xfrm>
            <a:off x="605912" y="3925484"/>
            <a:ext cx="2083480" cy="322707"/>
          </a:xfrm>
          <a:prstGeom prst="rect">
            <a:avLst/>
          </a:prstGeom>
          <a:noFill/>
          <a:ln>
            <a:noFill/>
          </a:ln>
        </p:spPr>
        <p:txBody>
          <a:bodyPr wrap="none" lIns="0" tIns="0" rIns="0" bIns="0" anchor="t" anchorCtr="0">
            <a:spAutoFit/>
          </a:bodyPr>
          <a:lstStyle/>
          <a:p>
            <a:pPr algn="l"/>
            <a:r>
              <a:rPr lang="en" sz="1650" dirty="0">
                <a:solidFill>
                  <a:srgbClr val="CBD5E1"/>
                </a:solidFill>
                <a:latin typeface="+mn-lt"/>
                <a:ea typeface="+mn-ea"/>
                <a:cs typeface="+mn-cs"/>
              </a:rPr>
              <a:t>A modular prototype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6" name="p02-title"/>
          <p:cNvGrpSpPr/>
          <p:nvPr/>
        </p:nvGrpSpPr>
        <p:grpSpPr>
          <a:xfrm>
            <a:off x="590550" y="647700"/>
            <a:ext cx="5707913" cy="4031107"/>
            <a:chOff x="590550" y="647700"/>
            <a:chExt cx="5707913" cy="4031107"/>
          </a:xfrm>
        </p:grpSpPr>
        <p:sp>
          <p:nvSpPr>
            <p:cNvPr id="2" name="TextBox 2"/>
            <p:cNvSpPr txBox="1"/>
            <p:nvPr/>
          </p:nvSpPr>
          <p:spPr>
            <a:xfrm>
              <a:off x="604647" y="647700"/>
              <a:ext cx="1105154" cy="191643"/>
            </a:xfrm>
            <a:prstGeom prst="rect">
              <a:avLst/>
            </a:prstGeom>
            <a:noFill/>
            <a:ln>
              <a:noFill/>
            </a:ln>
          </p:spPr>
          <p:txBody>
            <a:bodyPr wrap="none" lIns="0" tIns="0" rIns="0" bIns="0" anchor="t" anchorCtr="0">
              <a:spAutoFit/>
            </a:bodyPr>
            <a:lstStyle/>
            <a:p>
              <a:pPr algn="l"/>
              <a:r>
                <a:rPr lang="en" sz="980" b="1" spc="112" dirty="0">
                  <a:solidFill>
                    <a:srgbClr val="5EEAD4"/>
                  </a:solidFill>
                  <a:latin typeface="Consolas"/>
                  <a:ea typeface="Consolas"/>
                  <a:cs typeface="Consolas"/>
                </a:rPr>
                <a:t>PART 01 / 05</a:t>
              </a:r>
            </a:p>
          </p:txBody>
        </p:sp>
        <p:sp>
          <p:nvSpPr>
            <p:cNvPr id="3" name="TextBox 3"/>
            <p:cNvSpPr txBox="1"/>
            <p:nvPr/>
          </p:nvSpPr>
          <p:spPr>
            <a:xfrm>
              <a:off x="590550" y="1778000"/>
              <a:ext cx="1153141" cy="1390650"/>
            </a:xfrm>
            <a:prstGeom prst="rect">
              <a:avLst/>
            </a:prstGeom>
            <a:noFill/>
            <a:ln>
              <a:noFill/>
            </a:ln>
          </p:spPr>
          <p:txBody>
            <a:bodyPr wrap="none" lIns="0" tIns="0" rIns="0" bIns="0" anchor="t" anchorCtr="0">
              <a:spAutoFit/>
            </a:bodyPr>
            <a:lstStyle/>
            <a:p>
              <a:pPr algn="l"/>
              <a:r>
                <a:rPr lang="en" sz="7200" b="1" dirty="0">
                  <a:solidFill>
                    <a:srgbClr val="38BDF8"/>
                  </a:solidFill>
                  <a:latin typeface="+mn-lt"/>
                  <a:ea typeface="+mn-ea"/>
                  <a:cs typeface="+mn-cs"/>
                </a:rPr>
                <a:t>01</a:t>
              </a:r>
            </a:p>
          </p:txBody>
        </p:sp>
        <p:sp>
          <p:nvSpPr>
            <p:cNvPr id="4" name="TextBox 4"/>
            <p:cNvSpPr txBox="1"/>
            <p:nvPr/>
          </p:nvSpPr>
          <p:spPr>
            <a:xfrm>
              <a:off x="594360" y="3060700"/>
              <a:ext cx="3906256" cy="586740"/>
            </a:xfrm>
            <a:prstGeom prst="rect">
              <a:avLst/>
            </a:prstGeom>
            <a:noFill/>
            <a:ln>
              <a:noFill/>
            </a:ln>
          </p:spPr>
          <p:txBody>
            <a:bodyPr wrap="none" lIns="0" tIns="0" rIns="0" bIns="0" anchor="t" anchorCtr="0">
              <a:spAutoFit/>
            </a:bodyPr>
            <a:lstStyle/>
            <a:p>
              <a:pPr algn="l"/>
              <a:r>
                <a:rPr lang="en" sz="3000" b="1" dirty="0">
                  <a:solidFill>
                    <a:srgbClr val="FFFFFF"/>
                  </a:solidFill>
                  <a:latin typeface="+mn-lt"/>
                  <a:ea typeface="+mn-ea"/>
                  <a:cs typeface="+mn-cs"/>
                </a:rPr>
                <a:t>Problem and system</a:t>
              </a:r>
            </a:p>
          </p:txBody>
        </p:sp>
        <p:sp>
          <p:nvSpPr>
            <p:cNvPr id="5" name="TextBox 5"/>
            <p:cNvSpPr txBox="1"/>
            <p:nvPr/>
          </p:nvSpPr>
          <p:spPr>
            <a:xfrm>
              <a:off x="601218" y="4032250"/>
              <a:ext cx="6583680" cy="649224"/>
            </a:xfrm>
            <a:prstGeom prst="rect">
              <a:avLst/>
            </a:prstGeom>
            <a:noFill/>
            <a:ln>
              <a:noFill/>
            </a:ln>
          </p:spPr>
          <p:txBody>
            <a:bodyPr wrap="square" lIns="0" tIns="0" rIns="0" bIns="0" anchor="t" anchorCtr="0">
              <a:spAutoFit/>
            </a:bodyPr>
            <a:lstStyle/>
            <a:p>
              <a:pPr algn="l">
                <a:lnSpc>
                  <a:spcPts val="2550"/>
                </a:lnSpc>
              </a:pPr>
              <a:r>
                <a:rPr sz="1650" b="0">
                  <a:solidFill>
                    <a:srgbClr val="CBD5E1"/>
                  </a:solidFill>
                  <a:latin typeface="Segoe UI"/>
                </a:rPr>
                <a:t>Two data domains, one system:
LTA images for detection, PEMSD8 series for forecasting.</a:t>
              </a:r>
            </a:p>
          </p:txBody>
        </p:sp>
      </p:grpSp>
      <p:sp>
        <p:nvSpPr>
          <p:cNvPr id="7" name="TextBox 7"/>
          <p:cNvSpPr txBox="1"/>
          <p:nvPr/>
        </p:nvSpPr>
        <p:spPr>
          <a:xfrm>
            <a:off x="7600950" y="2266950"/>
            <a:ext cx="3754904" cy="4591050"/>
          </a:xfrm>
          <a:prstGeom prst="rect">
            <a:avLst/>
          </a:prstGeom>
          <a:noFill/>
          <a:ln>
            <a:noFill/>
          </a:ln>
        </p:spPr>
        <p:txBody>
          <a:bodyPr wrap="none" lIns="0" tIns="0" rIns="0" bIns="0" anchor="t" anchorCtr="0">
            <a:spAutoFit/>
          </a:bodyPr>
          <a:lstStyle/>
          <a:p>
            <a:pPr algn="l"/>
            <a:r>
              <a:rPr lang="en" sz="24000" b="1" dirty="0">
                <a:solidFill>
                  <a:srgbClr val="24324A"/>
                </a:solidFill>
                <a:latin typeface="+mn-lt"/>
                <a:ea typeface="+mn-ea"/>
                <a:cs typeface="+mn-cs"/>
              </a:rPr>
              <a:t>01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sample-title"/>
          <p:cNvGrpSpPr/>
          <p:nvPr/>
        </p:nvGrpSpPr>
        <p:grpSpPr>
          <a:xfrm>
            <a:off x="594360" y="419100"/>
            <a:ext cx="8199501" cy="789940"/>
            <a:chOff x="594360" y="419100"/>
            <a:chExt cx="8199501" cy="789940"/>
          </a:xfrm>
        </p:grpSpPr>
        <p:sp>
          <p:nvSpPr>
            <p:cNvPr id="2" name="TextBox 2"/>
            <p:cNvSpPr txBox="1"/>
            <p:nvPr/>
          </p:nvSpPr>
          <p:spPr>
            <a:xfrm>
              <a:off x="604647" y="419100"/>
              <a:ext cx="2771922"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1 · PROBLEM AND SYSTEM</a:t>
              </a:r>
            </a:p>
          </p:txBody>
        </p:sp>
        <p:sp>
          <p:nvSpPr>
            <p:cNvPr id="3" name="TextBox 3"/>
            <p:cNvSpPr txBox="1"/>
            <p:nvPr/>
          </p:nvSpPr>
          <p:spPr>
            <a:xfrm>
              <a:off x="594360" y="622300"/>
              <a:ext cx="8199501"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LTA for detection; PEMSD8 for forecasting</a:t>
              </a:r>
            </a:p>
          </p:txBody>
        </p:sp>
      </p:grpSp>
      <p:grpSp>
        <p:nvGrpSpPr>
          <p:cNvPr id="12" name="sample-lta"/>
          <p:cNvGrpSpPr/>
          <p:nvPr/>
        </p:nvGrpSpPr>
        <p:grpSpPr>
          <a:xfrm>
            <a:off x="609600" y="1333500"/>
            <a:ext cx="10972800" cy="1905000"/>
            <a:chOff x="609600" y="1333500"/>
            <a:chExt cx="10972800" cy="1905000"/>
          </a:xfrm>
        </p:grpSpPr>
        <p:sp>
          <p:nvSpPr>
            <p:cNvPr id="5" name="Rectangle 5"/>
            <p:cNvSpPr/>
            <p:nvPr/>
          </p:nvSpPr>
          <p:spPr>
            <a:xfrm>
              <a:off x="609600" y="1333500"/>
              <a:ext cx="10972800" cy="1905000"/>
            </a:xfrm>
            <a:prstGeom prst="roundRect">
              <a:avLst>
                <a:gd name="adj" fmla="val 6000"/>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524000"/>
              <a:ext cx="419100" cy="419100"/>
            </a:xfrm>
            <a:prstGeom prst="roundRect">
              <a:avLst>
                <a:gd name="adj" fmla="val 22727"/>
              </a:avLst>
            </a:prstGeom>
            <a:solidFill>
              <a:srgbClr val="DBEAFE"/>
            </a:solidFill>
            <a:ln>
              <a:noFill/>
            </a:ln>
          </p:spPr>
          <p:txBody>
            <a:bodyPr/>
            <a:lstStyle/>
            <a:p>
              <a:endParaRPr lang="zh-CN" altLang="en-US"/>
            </a:p>
          </p:txBody>
        </p:sp>
        <p:sp>
          <p:nvSpPr>
            <p:cNvPr id="7" name="Freeform 7"/>
            <p:cNvSpPr/>
            <p:nvPr/>
          </p:nvSpPr>
          <p:spPr>
            <a:xfrm>
              <a:off x="952499" y="1647822"/>
              <a:ext cx="190502" cy="171454"/>
            </a:xfrm>
            <a:custGeom>
              <a:avLst/>
              <a:gdLst/>
              <a:ahLst/>
              <a:cxnLst/>
              <a:rect l="l" t="t" r="r" b="b"/>
              <a:pathLst>
                <a:path w="190502" h="171454">
                  <a:moveTo>
                    <a:pt x="123826" y="3"/>
                  </a:moveTo>
                  <a:cubicBezTo>
                    <a:pt x="133795" y="0"/>
                    <a:pt x="142081" y="7683"/>
                    <a:pt x="142828" y="17624"/>
                  </a:cubicBezTo>
                  <a:lnTo>
                    <a:pt x="142876" y="19053"/>
                  </a:lnTo>
                  <a:cubicBezTo>
                    <a:pt x="142876" y="23882"/>
                    <a:pt x="146491" y="27946"/>
                    <a:pt x="151286" y="28511"/>
                  </a:cubicBezTo>
                  <a:lnTo>
                    <a:pt x="152401" y="28578"/>
                  </a:lnTo>
                  <a:lnTo>
                    <a:pt x="161926" y="28578"/>
                  </a:lnTo>
                  <a:cubicBezTo>
                    <a:pt x="177057" y="28577"/>
                    <a:pt x="189566" y="40372"/>
                    <a:pt x="190453" y="55477"/>
                  </a:cubicBezTo>
                  <a:lnTo>
                    <a:pt x="190501" y="57153"/>
                  </a:lnTo>
                  <a:lnTo>
                    <a:pt x="190501" y="142878"/>
                  </a:lnTo>
                  <a:cubicBezTo>
                    <a:pt x="190502" y="158009"/>
                    <a:pt x="178707" y="170518"/>
                    <a:pt x="163602" y="171406"/>
                  </a:cubicBezTo>
                  <a:lnTo>
                    <a:pt x="161926" y="171453"/>
                  </a:lnTo>
                  <a:lnTo>
                    <a:pt x="28576" y="171453"/>
                  </a:lnTo>
                  <a:cubicBezTo>
                    <a:pt x="13445" y="171454"/>
                    <a:pt x="936" y="159660"/>
                    <a:pt x="48" y="144555"/>
                  </a:cubicBezTo>
                  <a:lnTo>
                    <a:pt x="1" y="142878"/>
                  </a:lnTo>
                  <a:lnTo>
                    <a:pt x="1" y="57153"/>
                  </a:lnTo>
                  <a:cubicBezTo>
                    <a:pt x="0" y="42022"/>
                    <a:pt x="11794" y="29513"/>
                    <a:pt x="26899" y="28626"/>
                  </a:cubicBezTo>
                  <a:lnTo>
                    <a:pt x="28576" y="28578"/>
                  </a:lnTo>
                  <a:lnTo>
                    <a:pt x="38101" y="28578"/>
                  </a:lnTo>
                  <a:cubicBezTo>
                    <a:pt x="43361" y="28578"/>
                    <a:pt x="47626" y="24314"/>
                    <a:pt x="47626" y="19053"/>
                  </a:cubicBezTo>
                  <a:cubicBezTo>
                    <a:pt x="47623" y="9084"/>
                    <a:pt x="55306" y="798"/>
                    <a:pt x="65247" y="51"/>
                  </a:cubicBezTo>
                  <a:lnTo>
                    <a:pt x="66676" y="3"/>
                  </a:lnTo>
                  <a:lnTo>
                    <a:pt x="123826" y="3"/>
                  </a:lnTo>
                  <a:close/>
                  <a:moveTo>
                    <a:pt x="95251" y="66678"/>
                  </a:moveTo>
                  <a:cubicBezTo>
                    <a:pt x="80582" y="66677"/>
                    <a:pt x="68295" y="77783"/>
                    <a:pt x="66819" y="92377"/>
                  </a:cubicBezTo>
                  <a:lnTo>
                    <a:pt x="66714" y="93824"/>
                  </a:lnTo>
                  <a:lnTo>
                    <a:pt x="66676" y="95253"/>
                  </a:lnTo>
                  <a:lnTo>
                    <a:pt x="66714" y="96682"/>
                  </a:lnTo>
                  <a:cubicBezTo>
                    <a:pt x="67494" y="112258"/>
                    <a:pt x="80619" y="124333"/>
                    <a:pt x="96207" y="123812"/>
                  </a:cubicBezTo>
                  <a:cubicBezTo>
                    <a:pt x="111794" y="123292"/>
                    <a:pt x="124085" y="110369"/>
                    <a:pt x="123824" y="94775"/>
                  </a:cubicBezTo>
                  <a:cubicBezTo>
                    <a:pt x="123563" y="79181"/>
                    <a:pt x="110847" y="66677"/>
                    <a:pt x="95251" y="66678"/>
                  </a:cubicBezTo>
                  <a:close/>
                </a:path>
              </a:pathLst>
            </a:custGeom>
            <a:solidFill>
              <a:schemeClr val="accent2"/>
            </a:solidFill>
            <a:ln>
              <a:noFill/>
            </a:ln>
          </p:spPr>
          <p:txBody>
            <a:bodyPr/>
            <a:lstStyle/>
            <a:p>
              <a:endParaRPr lang="zh-CN" altLang="en-US"/>
            </a:p>
          </p:txBody>
        </p:sp>
        <p:sp>
          <p:nvSpPr>
            <p:cNvPr id="8" name="TextBox 8"/>
            <p:cNvSpPr txBox="1"/>
            <p:nvPr/>
          </p:nvSpPr>
          <p:spPr>
            <a:xfrm>
              <a:off x="1402080" y="1619250"/>
              <a:ext cx="1537778"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LTA · Singapore</a:t>
              </a:r>
            </a:p>
          </p:txBody>
        </p:sp>
        <p:sp>
          <p:nvSpPr>
            <p:cNvPr id="9" name="TextBox 9"/>
            <p:cNvSpPr txBox="1"/>
            <p:nvPr/>
          </p:nvSpPr>
          <p:spPr>
            <a:xfrm>
              <a:off x="832104" y="1962150"/>
              <a:ext cx="3038124" cy="1225296"/>
            </a:xfrm>
            <a:prstGeom prst="rect">
              <a:avLst/>
            </a:prstGeom>
            <a:noFill/>
            <a:ln>
              <a:noFill/>
            </a:ln>
          </p:spPr>
          <p:txBody>
            <a:bodyPr wrap="none" lIns="0" tIns="0" rIns="0" bIns="0" anchor="t" anchorCtr="0">
              <a:spAutoFit/>
            </a:bodyPr>
            <a:lstStyle/>
            <a:p>
              <a:pPr marL="103647" indent="-103647" algn="l">
                <a:lnSpc>
                  <a:spcPts val="1950"/>
                </a:lnSpc>
                <a:buClr>
                  <a:schemeClr val="dk1"/>
                </a:buClr>
                <a:buSzTx/>
                <a:buFontTx/>
                <a:buChar char="•"/>
              </a:pPr>
              <a:r>
                <a:rPr lang="en" sz="1200" dirty="0">
                  <a:solidFill>
                    <a:schemeClr val="dk1"/>
                  </a:solidFill>
                  <a:latin typeface="+mn-lt"/>
                  <a:ea typeface="+mn-ea"/>
                  <a:cs typeface="+mn-cs"/>
                </a:rPr>
                <a:t>8 cameras · 15,316 images</a:t>
              </a:r>
            </a:p>
            <a:p>
              <a:pPr marL="103647" indent="-103647" algn="l">
                <a:lnSpc>
                  <a:spcPts val="1950"/>
                </a:lnSpc>
                <a:buClr>
                  <a:schemeClr val="dk1"/>
                </a:buClr>
                <a:buSzTx/>
                <a:buFontTx/>
                <a:buChar char="•"/>
              </a:pPr>
              <a:r>
                <a:rPr lang="en" sz="1200" dirty="0">
                  <a:solidFill>
                    <a:schemeClr val="dk1"/>
                  </a:solidFill>
                  <a:latin typeface="+mn-lt"/>
                  <a:ea typeface="+mn-ea"/>
                  <a:cs typeface="+mn-cs"/>
                </a:rPr>
                <a:t>Two weeks · 10-minute stills</a:t>
              </a:r>
            </a:p>
            <a:p>
              <a:pPr marL="103647" indent="-103647" algn="l">
                <a:lnSpc>
                  <a:spcPts val="1950"/>
                </a:lnSpc>
                <a:buClr>
                  <a:schemeClr val="dk1"/>
                </a:buClr>
                <a:buSzTx/>
                <a:buFontTx/>
                <a:buChar char="•"/>
              </a:pPr>
              <a:r>
                <a:rPr lang="en" sz="1200" dirty="0">
                  <a:solidFill>
                    <a:schemeClr val="dk1"/>
                  </a:solidFill>
                  <a:latin typeface="+mn-lt"/>
                  <a:ea typeface="+mn-ea"/>
                  <a:cs typeface="+mn-cs"/>
                </a:rPr>
                <a:t>Per-frame vehicle counts</a:t>
              </a:r>
            </a:p>
            <a:p>
              <a:pPr marL="103647" indent="-103647" algn="l">
                <a:lnSpc>
                  <a:spcPts val="1950"/>
                </a:lnSpc>
                <a:buClr>
                  <a:schemeClr val="dk1"/>
                </a:buClr>
                <a:buSzTx/>
                <a:buFontTx/>
                <a:buChar char="•"/>
              </a:pPr>
              <a:r>
                <a:rPr lang="en" sz="1200" dirty="0">
                  <a:solidFill>
                    <a:schemeClr val="dk1"/>
                  </a:solidFill>
                  <a:latin typeface="+mn-lt"/>
                  <a:ea typeface="+mn-ea"/>
                  <a:cs typeface="+mn-cs"/>
                </a:rPr>
                <a:t>Used for detection, filtering and congestion</a:t>
              </a:r>
            </a:p>
            <a:p>
              <a:pPr marL="103647" indent="-103647" algn="l">
                <a:lnSpc>
                  <a:spcPts val="1950"/>
                </a:lnSpc>
                <a:buClr>
                  <a:schemeClr val="dk1"/>
                </a:buClr>
                <a:buSzTx/>
                <a:buFontTx/>
                <a:buChar char="•"/>
              </a:pPr>
              <a:r>
                <a:rPr lang="en" sz="1200" dirty="0">
                  <a:solidFill>
                    <a:schemeClr val="dk1"/>
                  </a:solidFill>
                  <a:latin typeface="+mn-lt"/>
                  <a:ea typeface="+mn-ea"/>
                  <a:cs typeface="+mn-cs"/>
                </a:rPr>
                <a:t>Night is the hardest case</a:t>
              </a:r>
            </a:p>
          </p:txBody>
        </p:sp>
        <p:sp>
          <p:nvSpPr>
            <p:cNvPr id="10" name="Rectangle 10"/>
            <p:cNvSpPr/>
            <p:nvPr/>
          </p:nvSpPr>
          <p:spPr>
            <a:xfrm>
              <a:off x="7810500" y="1428750"/>
              <a:ext cx="3429000" cy="1714500"/>
            </a:xfrm>
            <a:prstGeom prst="roundRect">
              <a:avLst>
                <a:gd name="adj" fmla="val 5556"/>
              </a:avLst>
            </a:prstGeom>
            <a:solidFill>
              <a:srgbClr val="FFFFFF"/>
            </a:solidFill>
            <a:ln w="9525">
              <a:solidFill>
                <a:schemeClr val="accent6"/>
              </a:solidFill>
            </a:ln>
          </p:spPr>
          <p:txBody>
            <a:bodyPr/>
            <a:lstStyle/>
            <a:p>
              <a:endParaRPr lang="zh-CN" altLang="en-US"/>
            </a:p>
          </p:txBody>
        </p:sp>
        <p:pic>
          <p:nvPicPr>
            <p:cNvPr id="11" name="Image 11"/>
            <p:cNvPicPr>
              <a:picLocks noChangeAspect="1"/>
            </p:cNvPicPr>
            <p:nvPr/>
          </p:nvPicPr>
          <p:blipFill>
            <a:blip r:embed="rId3"/>
            <a:stretch>
              <a:fillRect/>
            </a:stretch>
          </p:blipFill>
          <p:spPr>
            <a:xfrm>
              <a:off x="8080664" y="1543050"/>
              <a:ext cx="2888673" cy="1485900"/>
            </a:xfrm>
            <a:prstGeom prst="rect">
              <a:avLst/>
            </a:prstGeom>
          </p:spPr>
        </p:pic>
      </p:grpSp>
      <p:grpSp>
        <p:nvGrpSpPr>
          <p:cNvPr id="23" name="sample-pemsd8"/>
          <p:cNvGrpSpPr/>
          <p:nvPr/>
        </p:nvGrpSpPr>
        <p:grpSpPr>
          <a:xfrm>
            <a:off x="609600" y="3390900"/>
            <a:ext cx="10972800" cy="1524000"/>
            <a:chOff x="609600" y="3390900"/>
            <a:chExt cx="10972800" cy="1524000"/>
          </a:xfrm>
        </p:grpSpPr>
        <p:sp>
          <p:nvSpPr>
            <p:cNvPr id="13" name="Rectangle 13"/>
            <p:cNvSpPr/>
            <p:nvPr/>
          </p:nvSpPr>
          <p:spPr>
            <a:xfrm>
              <a:off x="609600" y="3390900"/>
              <a:ext cx="10972800" cy="1524000"/>
            </a:xfrm>
            <a:prstGeom prst="roundRect">
              <a:avLst>
                <a:gd name="adj" fmla="val 7500"/>
              </a:avLst>
            </a:prstGeom>
            <a:solidFill>
              <a:srgbClr val="FFFFFF"/>
            </a:solidFill>
            <a:ln w="9525">
              <a:solidFill>
                <a:schemeClr val="accent6"/>
              </a:solidFill>
            </a:ln>
          </p:spPr>
          <p:txBody>
            <a:bodyPr/>
            <a:lstStyle/>
            <a:p>
              <a:endParaRPr lang="zh-CN" altLang="en-US"/>
            </a:p>
          </p:txBody>
        </p:sp>
        <p:sp>
          <p:nvSpPr>
            <p:cNvPr id="14" name="Rectangle 14"/>
            <p:cNvSpPr/>
            <p:nvPr/>
          </p:nvSpPr>
          <p:spPr>
            <a:xfrm>
              <a:off x="838200" y="3581400"/>
              <a:ext cx="419100" cy="419100"/>
            </a:xfrm>
            <a:prstGeom prst="roundRect">
              <a:avLst>
                <a:gd name="adj" fmla="val 22727"/>
              </a:avLst>
            </a:prstGeom>
            <a:solidFill>
              <a:srgbClr val="CCFBF1"/>
            </a:solidFill>
            <a:ln>
              <a:noFill/>
            </a:ln>
          </p:spPr>
          <p:txBody>
            <a:bodyPr/>
            <a:lstStyle/>
            <a:p>
              <a:endParaRPr lang="zh-CN" altLang="en-US"/>
            </a:p>
          </p:txBody>
        </p:sp>
        <p:grpSp>
          <p:nvGrpSpPr>
            <p:cNvPr id="18" name="Group 18"/>
            <p:cNvGrpSpPr/>
            <p:nvPr/>
          </p:nvGrpSpPr>
          <p:grpSpPr>
            <a:xfrm>
              <a:off x="962024" y="3695700"/>
              <a:ext cx="171451" cy="190500"/>
              <a:chOff x="962024" y="3695700"/>
              <a:chExt cx="171451" cy="190500"/>
            </a:xfrm>
          </p:grpSpPr>
          <p:sp>
            <p:nvSpPr>
              <p:cNvPr id="15" name="Freeform 15"/>
              <p:cNvSpPr/>
              <p:nvPr/>
            </p:nvSpPr>
            <p:spPr>
              <a:xfrm>
                <a:off x="962025" y="382648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4710"/>
                      <a:pt x="134350" y="59103"/>
                      <a:pt x="88649" y="59693"/>
                    </a:cubicBezTo>
                    <a:lnTo>
                      <a:pt x="85725" y="59712"/>
                    </a:lnTo>
                    <a:cubicBezTo>
                      <a:pt x="38691" y="59712"/>
                      <a:pt x="0" y="45206"/>
                      <a:pt x="0" y="21612"/>
                    </a:cubicBezTo>
                    <a:close/>
                  </a:path>
                </a:pathLst>
              </a:custGeom>
              <a:solidFill>
                <a:schemeClr val="accent3"/>
              </a:solidFill>
              <a:ln>
                <a:noFill/>
              </a:ln>
            </p:spPr>
            <p:txBody>
              <a:bodyPr/>
              <a:lstStyle/>
              <a:p>
                <a:endParaRPr lang="zh-CN" altLang="en-US"/>
              </a:p>
            </p:txBody>
          </p:sp>
          <p:sp>
            <p:nvSpPr>
              <p:cNvPr id="16" name="Freeform 16"/>
              <p:cNvSpPr/>
              <p:nvPr/>
            </p:nvSpPr>
            <p:spPr>
              <a:xfrm>
                <a:off x="962025" y="376933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5206"/>
                      <a:pt x="132759" y="59712"/>
                      <a:pt x="85725" y="59712"/>
                    </a:cubicBezTo>
                    <a:cubicBezTo>
                      <a:pt x="40024" y="59712"/>
                      <a:pt x="2191" y="46015"/>
                      <a:pt x="200" y="23565"/>
                    </a:cubicBezTo>
                    <a:lnTo>
                      <a:pt x="48" y="22603"/>
                    </a:lnTo>
                    <a:lnTo>
                      <a:pt x="0" y="21612"/>
                    </a:lnTo>
                    <a:close/>
                  </a:path>
                </a:pathLst>
              </a:custGeom>
              <a:solidFill>
                <a:schemeClr val="accent3"/>
              </a:solidFill>
              <a:ln>
                <a:noFill/>
              </a:ln>
            </p:spPr>
            <p:txBody>
              <a:bodyPr/>
              <a:lstStyle/>
              <a:p>
                <a:endParaRPr lang="zh-CN" altLang="en-US"/>
              </a:p>
            </p:txBody>
          </p:sp>
          <p:sp>
            <p:nvSpPr>
              <p:cNvPr id="17" name="Freeform 17"/>
              <p:cNvSpPr/>
              <p:nvPr/>
            </p:nvSpPr>
            <p:spPr>
              <a:xfrm>
                <a:off x="962024" y="3695700"/>
                <a:ext cx="171451" cy="76200"/>
              </a:xfrm>
              <a:custGeom>
                <a:avLst/>
                <a:gdLst/>
                <a:ahLst/>
                <a:cxnLst/>
                <a:rect l="l" t="t" r="r" b="b"/>
                <a:pathLst>
                  <a:path w="171451" h="76200">
                    <a:moveTo>
                      <a:pt x="85726" y="0"/>
                    </a:moveTo>
                    <a:cubicBezTo>
                      <a:pt x="95641" y="0"/>
                      <a:pt x="105195" y="648"/>
                      <a:pt x="114082" y="1886"/>
                    </a:cubicBezTo>
                    <a:lnTo>
                      <a:pt x="118549" y="2562"/>
                    </a:lnTo>
                    <a:cubicBezTo>
                      <a:pt x="123883" y="3451"/>
                      <a:pt x="128918" y="4556"/>
                      <a:pt x="133656" y="5877"/>
                    </a:cubicBezTo>
                    <a:lnTo>
                      <a:pt x="137847" y="7125"/>
                    </a:lnTo>
                    <a:lnTo>
                      <a:pt x="138561" y="7353"/>
                    </a:lnTo>
                    <a:cubicBezTo>
                      <a:pt x="141153" y="8206"/>
                      <a:pt x="143711" y="9159"/>
                      <a:pt x="146229" y="10211"/>
                    </a:cubicBezTo>
                    <a:lnTo>
                      <a:pt x="148124" y="11030"/>
                    </a:lnTo>
                    <a:cubicBezTo>
                      <a:pt x="151521" y="12567"/>
                      <a:pt x="154591" y="14249"/>
                      <a:pt x="157335" y="16078"/>
                    </a:cubicBezTo>
                    <a:cubicBezTo>
                      <a:pt x="158382" y="16777"/>
                      <a:pt x="159376" y="17491"/>
                      <a:pt x="160316" y="18221"/>
                    </a:cubicBezTo>
                    <a:cubicBezTo>
                      <a:pt x="162697" y="20069"/>
                      <a:pt x="164837" y="22206"/>
                      <a:pt x="166688" y="24584"/>
                    </a:cubicBezTo>
                    <a:lnTo>
                      <a:pt x="167555" y="25803"/>
                    </a:lnTo>
                    <a:cubicBezTo>
                      <a:pt x="168000" y="26470"/>
                      <a:pt x="168409" y="27140"/>
                      <a:pt x="168784" y="27813"/>
                    </a:cubicBezTo>
                    <a:lnTo>
                      <a:pt x="169450" y="29137"/>
                    </a:lnTo>
                    <a:cubicBezTo>
                      <a:pt x="170486" y="31359"/>
                      <a:pt x="171121" y="33677"/>
                      <a:pt x="171355" y="36090"/>
                    </a:cubicBezTo>
                    <a:lnTo>
                      <a:pt x="171451" y="38100"/>
                    </a:lnTo>
                    <a:cubicBezTo>
                      <a:pt x="171451" y="61693"/>
                      <a:pt x="132760" y="76200"/>
                      <a:pt x="85726" y="76200"/>
                    </a:cubicBezTo>
                    <a:cubicBezTo>
                      <a:pt x="40025" y="76200"/>
                      <a:pt x="2191" y="62503"/>
                      <a:pt x="201" y="40053"/>
                    </a:cubicBezTo>
                    <a:cubicBezTo>
                      <a:pt x="67" y="39410"/>
                      <a:pt x="0" y="38756"/>
                      <a:pt x="1" y="38100"/>
                    </a:cubicBezTo>
                    <a:lnTo>
                      <a:pt x="48" y="37109"/>
                    </a:lnTo>
                    <a:lnTo>
                      <a:pt x="201" y="36157"/>
                    </a:lnTo>
                    <a:cubicBezTo>
                      <a:pt x="2153" y="14192"/>
                      <a:pt x="38396" y="600"/>
                      <a:pt x="82754" y="19"/>
                    </a:cubicBezTo>
                    <a:close/>
                  </a:path>
                </a:pathLst>
              </a:custGeom>
              <a:solidFill>
                <a:schemeClr val="accent3"/>
              </a:solidFill>
              <a:ln>
                <a:noFill/>
              </a:ln>
            </p:spPr>
            <p:txBody>
              <a:bodyPr/>
              <a:lstStyle/>
              <a:p>
                <a:endParaRPr lang="zh-CN" altLang="en-US"/>
              </a:p>
            </p:txBody>
          </p:sp>
        </p:grpSp>
        <p:sp>
          <p:nvSpPr>
            <p:cNvPr id="19" name="TextBox 19"/>
            <p:cNvSpPr txBox="1"/>
            <p:nvPr/>
          </p:nvSpPr>
          <p:spPr>
            <a:xfrm>
              <a:off x="1402080" y="3676650"/>
              <a:ext cx="1945972"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PEMSD8 · California</a:t>
              </a:r>
            </a:p>
          </p:txBody>
        </p:sp>
        <p:sp>
          <p:nvSpPr>
            <p:cNvPr id="20" name="TextBox 20"/>
            <p:cNvSpPr txBox="1"/>
            <p:nvPr/>
          </p:nvSpPr>
          <p:spPr>
            <a:xfrm>
              <a:off x="832104" y="4019550"/>
              <a:ext cx="3175940" cy="729996"/>
            </a:xfrm>
            <a:prstGeom prst="rect">
              <a:avLst/>
            </a:prstGeom>
            <a:noFill/>
            <a:ln>
              <a:noFill/>
            </a:ln>
          </p:spPr>
          <p:txBody>
            <a:bodyPr wrap="none" lIns="0" tIns="0" rIns="0" bIns="0" anchor="t" anchorCtr="0">
              <a:spAutoFit/>
            </a:bodyPr>
            <a:lstStyle/>
            <a:p>
              <a:pPr marL="103647" indent="-103647" algn="l">
                <a:lnSpc>
                  <a:spcPts val="1950"/>
                </a:lnSpc>
                <a:buClr>
                  <a:schemeClr val="dk1"/>
                </a:buClr>
                <a:buSzTx/>
                <a:buFontTx/>
                <a:buChar char="•"/>
              </a:pPr>
              <a:r>
                <a:rPr lang="en" sz="1200" dirty="0">
                  <a:solidFill>
                    <a:schemeClr val="dk1"/>
                  </a:solidFill>
                  <a:latin typeface="+mn-lt"/>
                  <a:ea typeface="+mn-ea"/>
                  <a:cs typeface="+mn-cs"/>
                </a:rPr>
                <a:t>170 sensors · 17,856 five-minute observations</a:t>
              </a:r>
            </a:p>
            <a:p>
              <a:pPr marL="103647" indent="-103647" algn="l">
                <a:lnSpc>
                  <a:spcPts val="1950"/>
                </a:lnSpc>
                <a:buClr>
                  <a:schemeClr val="dk1"/>
                </a:buClr>
                <a:buSzTx/>
                <a:buFontTx/>
                <a:buChar char="•"/>
              </a:pPr>
              <a:r>
                <a:rPr lang="en" sz="1200" dirty="0">
                  <a:solidFill>
                    <a:schemeClr val="dk1"/>
                  </a:solidFill>
                  <a:latin typeface="+mn-lt"/>
                  <a:ea typeface="+mn-ea"/>
                  <a:cs typeface="+mn-cs"/>
                </a:rPr>
                <a:t>Flow, occupancy and speed</a:t>
              </a:r>
            </a:p>
            <a:p>
              <a:pPr marL="103647" indent="-103647" algn="l">
                <a:lnSpc>
                  <a:spcPts val="1950"/>
                </a:lnSpc>
                <a:buClr>
                  <a:schemeClr val="dk1"/>
                </a:buClr>
                <a:buSzTx/>
                <a:buFontTx/>
                <a:buChar char="•"/>
              </a:pPr>
              <a:r>
                <a:rPr lang="en" sz="1200" dirty="0">
                  <a:solidFill>
                    <a:schemeClr val="dk1"/>
                  </a:solidFill>
                  <a:latin typeface="+mn-lt"/>
                  <a:ea typeface="+mn-ea"/>
                  <a:cs typeface="+mn-cs"/>
                </a:rPr>
                <a:t>Used for forecasting and model comparison</a:t>
              </a:r>
            </a:p>
          </p:txBody>
        </p:sp>
        <p:sp>
          <p:nvSpPr>
            <p:cNvPr id="21" name="Rectangle 21"/>
            <p:cNvSpPr/>
            <p:nvPr/>
          </p:nvSpPr>
          <p:spPr>
            <a:xfrm>
              <a:off x="7810500" y="3486150"/>
              <a:ext cx="3429000" cy="1333500"/>
            </a:xfrm>
            <a:prstGeom prst="roundRect">
              <a:avLst>
                <a:gd name="adj" fmla="val 7143"/>
              </a:avLst>
            </a:prstGeom>
            <a:solidFill>
              <a:srgbClr val="FFFFFF"/>
            </a:solidFill>
            <a:ln w="9525">
              <a:solidFill>
                <a:schemeClr val="accent6"/>
              </a:solidFill>
            </a:ln>
          </p:spPr>
          <p:txBody>
            <a:bodyPr/>
            <a:lstStyle/>
            <a:p>
              <a:endParaRPr lang="zh-CN" altLang="en-US"/>
            </a:p>
          </p:txBody>
        </p:sp>
        <p:pic>
          <p:nvPicPr>
            <p:cNvPr id="22" name="Image 22"/>
            <p:cNvPicPr>
              <a:picLocks noChangeAspect="1"/>
            </p:cNvPicPr>
            <p:nvPr/>
          </p:nvPicPr>
          <p:blipFill>
            <a:blip r:embed="rId4"/>
            <a:stretch>
              <a:fillRect/>
            </a:stretch>
          </p:blipFill>
          <p:spPr>
            <a:xfrm>
              <a:off x="7924800" y="3649087"/>
              <a:ext cx="3200400" cy="1007626"/>
            </a:xfrm>
            <a:prstGeom prst="rect">
              <a:avLst/>
            </a:prstGeom>
          </p:spPr>
        </p:pic>
      </p:grpSp>
      <p:sp>
        <p:nvSpPr>
          <p:cNvPr id="25" name="TextBox 25"/>
          <p:cNvSpPr txBox="1"/>
          <p:nvPr/>
        </p:nvSpPr>
        <p:spPr>
          <a:xfrm>
            <a:off x="3359494" y="5067300"/>
            <a:ext cx="5473011" cy="234696"/>
          </a:xfrm>
          <a:prstGeom prst="rect">
            <a:avLst/>
          </a:prstGeom>
          <a:noFill/>
          <a:ln>
            <a:noFill/>
          </a:ln>
        </p:spPr>
        <p:txBody>
          <a:bodyPr wrap="none" lIns="0" tIns="0" rIns="0" bIns="0" anchor="t" anchorCtr="0">
            <a:spAutoFit/>
          </a:bodyPr>
          <a:lstStyle/>
          <a:p>
            <a:pPr algn="ctr"/>
            <a:r>
              <a:rPr lang="en" sz="1200" b="1" dirty="0">
                <a:solidFill>
                  <a:srgbClr val="FFFFFF"/>
                </a:solidFill>
                <a:latin typeface="+mn-lt"/>
                <a:ea typeface="+mn-ea"/>
                <a:cs typeface="+mn-cs"/>
              </a:rPr>
              <a:t>LTA supplies images; PEMSD8 supplies calibrated series for forecasting.</a:t>
            </a:r>
          </a:p>
        </p:txBody>
      </p:sp>
      <p:grpSp>
        <p:nvGrpSpPr>
          <p:cNvPr id="32" name="sample-questions"/>
          <p:cNvGrpSpPr/>
          <p:nvPr/>
        </p:nvGrpSpPr>
        <p:grpSpPr>
          <a:xfrm>
            <a:off x="614553" y="5111940"/>
            <a:ext cx="10972800" cy="1209231"/>
            <a:chOff x="609600" y="5524500"/>
            <a:chExt cx="10972800" cy="916559"/>
          </a:xfrm>
        </p:grpSpPr>
        <p:sp>
          <p:nvSpPr>
            <p:cNvPr id="27" name="Rectangle 27"/>
            <p:cNvSpPr/>
            <p:nvPr/>
          </p:nvSpPr>
          <p:spPr>
            <a:xfrm>
              <a:off x="609600" y="5524500"/>
              <a:ext cx="10972800" cy="914400"/>
            </a:xfrm>
            <a:prstGeom prst="roundRect">
              <a:avLst>
                <a:gd name="adj" fmla="val 12500"/>
              </a:avLst>
            </a:prstGeom>
            <a:solidFill>
              <a:srgbClr val="FFFFFF"/>
            </a:solidFill>
            <a:ln w="9525">
              <a:solidFill>
                <a:schemeClr val="accent6"/>
              </a:solidFill>
            </a:ln>
          </p:spPr>
          <p:txBody>
            <a:bodyPr/>
            <a:lstStyle/>
            <a:p>
              <a:endParaRPr lang="zh-CN" altLang="en-US"/>
            </a:p>
          </p:txBody>
        </p:sp>
        <p:sp>
          <p:nvSpPr>
            <p:cNvPr id="28" name="TextBox 28"/>
            <p:cNvSpPr txBox="1"/>
            <p:nvPr/>
          </p:nvSpPr>
          <p:spPr>
            <a:xfrm>
              <a:off x="833247" y="5600700"/>
              <a:ext cx="1160201" cy="191643"/>
            </a:xfrm>
            <a:prstGeom prst="rect">
              <a:avLst/>
            </a:prstGeom>
            <a:noFill/>
            <a:ln>
              <a:noFill/>
            </a:ln>
          </p:spPr>
          <p:txBody>
            <a:bodyPr wrap="none" lIns="0" tIns="0" rIns="0" bIns="0" anchor="t" anchorCtr="0">
              <a:spAutoFit/>
            </a:bodyPr>
            <a:lstStyle/>
            <a:p>
              <a:pPr algn="l"/>
              <a:r>
                <a:rPr lang="en" sz="980" b="1" spc="90" dirty="0">
                  <a:solidFill>
                    <a:schemeClr val="accent3"/>
                  </a:solidFill>
                  <a:latin typeface="Consolas"/>
                  <a:ea typeface="Consolas"/>
                  <a:cs typeface="Consolas"/>
                </a:rPr>
                <a:t>WHY TWO DATASETS</a:t>
              </a:r>
            </a:p>
          </p:txBody>
        </p:sp>
        <p:sp>
          <p:nvSpPr>
            <p:cNvPr id="29" name="TextBox 29"/>
            <p:cNvSpPr txBox="1"/>
            <p:nvPr/>
          </p:nvSpPr>
          <p:spPr>
            <a:xfrm>
              <a:off x="832866" y="5816600"/>
              <a:ext cx="6766560" cy="205359"/>
            </a:xfrm>
            <a:prstGeom prst="rect">
              <a:avLst/>
            </a:prstGeom>
            <a:noFill/>
            <a:ln>
              <a:noFill/>
            </a:ln>
          </p:spPr>
          <p:txBody>
            <a:bodyPr wrap="none" lIns="0" tIns="0" rIns="0" bIns="0" anchor="t" anchorCtr="0">
              <a:spAutoFit/>
            </a:bodyPr>
            <a:lstStyle/>
            <a:p>
              <a:pPr algn="l"/>
              <a:r>
                <a:rPr sz="1050" b="1">
                  <a:solidFill>
                    <a:srgbClr val="0F172A"/>
                  </a:solidFill>
                  <a:latin typeface="Segoe UI"/>
                </a:rPr>
                <a:t>LTA provides camera images, few labels and only 10-minute stills.</a:t>
              </a:r>
            </a:p>
          </p:txBody>
        </p:sp>
        <p:sp>
          <p:nvSpPr>
            <p:cNvPr id="30" name="TextBox 30"/>
            <p:cNvSpPr txBox="1"/>
            <p:nvPr/>
          </p:nvSpPr>
          <p:spPr>
            <a:xfrm>
              <a:off x="832866" y="6026150"/>
              <a:ext cx="676656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Forecasting models need a calibrated five-minute flow/occupancy/speed series.</a:t>
              </a:r>
            </a:p>
          </p:txBody>
        </p:sp>
        <p:sp>
          <p:nvSpPr>
            <p:cNvPr id="31" name="TextBox 31"/>
            <p:cNvSpPr txBox="1"/>
            <p:nvPr/>
          </p:nvSpPr>
          <p:spPr>
            <a:xfrm>
              <a:off x="832866" y="6235700"/>
              <a:ext cx="8321040" cy="205359"/>
            </a:xfrm>
            <a:prstGeom prst="rect">
              <a:avLst/>
            </a:prstGeom>
            <a:noFill/>
            <a:ln>
              <a:noFill/>
            </a:ln>
          </p:spPr>
          <p:txBody>
            <a:bodyPr wrap="none" lIns="0" tIns="0" rIns="0" bIns="0" anchor="t" anchorCtr="0">
              <a:spAutoFit/>
            </a:bodyPr>
            <a:lstStyle/>
            <a:p>
              <a:pPr algn="l"/>
              <a:r>
                <a:rPr sz="1050" b="0" dirty="0">
                  <a:solidFill>
                    <a:srgbClr val="1E293B"/>
                  </a:solidFill>
                  <a:latin typeface="Segoe UI"/>
                </a:rPr>
                <a:t>So LTA is used for detection, PEMSD8 for forecasting; the workbench joins their outputs.</a:t>
              </a:r>
            </a:p>
          </p:txBody>
        </p:sp>
      </p:grpSp>
      <p:grpSp>
        <p:nvGrpSpPr>
          <p:cNvPr id="35" name="sample-footer"/>
          <p:cNvGrpSpPr/>
          <p:nvPr/>
        </p:nvGrpSpPr>
        <p:grpSpPr>
          <a:xfrm>
            <a:off x="609600" y="6515100"/>
            <a:ext cx="10977753" cy="265111"/>
            <a:chOff x="609600" y="6515100"/>
            <a:chExt cx="10977753" cy="265111"/>
          </a:xfrm>
        </p:grpSpPr>
        <p:sp>
          <p:nvSpPr>
            <p:cNvPr id="33" name="Line 33"/>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4" name="TextBox 34"/>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title"/>
          <p:cNvGrpSpPr/>
          <p:nvPr/>
        </p:nvGrpSpPr>
        <p:grpSpPr>
          <a:xfrm>
            <a:off x="594360" y="419100"/>
            <a:ext cx="8202762" cy="789940"/>
            <a:chOff x="594360" y="419100"/>
            <a:chExt cx="8202762" cy="789940"/>
          </a:xfrm>
        </p:grpSpPr>
        <p:sp>
          <p:nvSpPr>
            <p:cNvPr id="2" name="TextBox 2"/>
            <p:cNvSpPr txBox="1"/>
            <p:nvPr/>
          </p:nvSpPr>
          <p:spPr>
            <a:xfrm>
              <a:off x="604647" y="419100"/>
              <a:ext cx="2771922"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1 · PROBLEM AND SYSTEM</a:t>
              </a:r>
            </a:p>
          </p:txBody>
        </p:sp>
        <p:sp>
          <p:nvSpPr>
            <p:cNvPr id="3" name="TextBox 3"/>
            <p:cNvSpPr txBox="1"/>
            <p:nvPr/>
          </p:nvSpPr>
          <p:spPr>
            <a:xfrm>
              <a:off x="594360" y="622300"/>
              <a:ext cx="8202762"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Two data pipelines meet in one workbench</a:t>
              </a:r>
            </a:p>
          </p:txBody>
        </p:sp>
      </p:grpSp>
      <p:grpSp>
        <p:nvGrpSpPr>
          <p:cNvPr id="7" name="p04-figure"/>
          <p:cNvGrpSpPr/>
          <p:nvPr/>
        </p:nvGrpSpPr>
        <p:grpSpPr>
          <a:xfrm>
            <a:off x="609600" y="1333500"/>
            <a:ext cx="10972800" cy="4000500"/>
            <a:chOff x="609600" y="1333500"/>
            <a:chExt cx="10972800" cy="4000500"/>
          </a:xfrm>
        </p:grpSpPr>
        <p:sp>
          <p:nvSpPr>
            <p:cNvPr id="5" name="Rectangle 5"/>
            <p:cNvSpPr/>
            <p:nvPr/>
          </p:nvSpPr>
          <p:spPr>
            <a:xfrm>
              <a:off x="609600" y="1333500"/>
              <a:ext cx="10972800" cy="4000500"/>
            </a:xfrm>
            <a:prstGeom prst="roundRect">
              <a:avLst>
                <a:gd name="adj" fmla="val 2857"/>
              </a:avLst>
            </a:prstGeom>
            <a:solidFill>
              <a:srgbClr val="FFFFFF"/>
            </a:solidFill>
            <a:ln w="9525">
              <a:solidFill>
                <a:schemeClr val="accent6"/>
              </a:solidFill>
            </a:ln>
          </p:spPr>
          <p:txBody>
            <a:bodyPr/>
            <a:lstStyle/>
            <a:p>
              <a:endParaRPr lang="zh-CN" altLang="en-US"/>
            </a:p>
          </p:txBody>
        </p:sp>
        <p:pic>
          <p:nvPicPr>
            <p:cNvPr id="6" name="Image 6"/>
            <p:cNvPicPr>
              <a:picLocks noChangeAspect="1"/>
            </p:cNvPicPr>
            <p:nvPr/>
          </p:nvPicPr>
          <p:blipFill>
            <a:blip r:embed="rId3"/>
            <a:stretch>
              <a:fillRect/>
            </a:stretch>
          </p:blipFill>
          <p:spPr>
            <a:xfrm>
              <a:off x="1453662" y="1447800"/>
              <a:ext cx="9284677" cy="3771900"/>
            </a:xfrm>
            <a:prstGeom prst="rect">
              <a:avLst/>
            </a:prstGeom>
          </p:spPr>
        </p:pic>
      </p:grpSp>
      <p:grpSp>
        <p:nvGrpSpPr>
          <p:cNvPr id="11" name="p04-note"/>
          <p:cNvGrpSpPr/>
          <p:nvPr/>
        </p:nvGrpSpPr>
        <p:grpSpPr>
          <a:xfrm>
            <a:off x="609600" y="5524500"/>
            <a:ext cx="10972800" cy="762000"/>
            <a:chOff x="609600" y="5524500"/>
            <a:chExt cx="10972800" cy="762000"/>
          </a:xfrm>
        </p:grpSpPr>
        <p:sp>
          <p:nvSpPr>
            <p:cNvPr id="8" name="Rectangle 8"/>
            <p:cNvSpPr/>
            <p:nvPr/>
          </p:nvSpPr>
          <p:spPr>
            <a:xfrm>
              <a:off x="609600" y="5524500"/>
              <a:ext cx="10972800" cy="762000"/>
            </a:xfrm>
            <a:prstGeom prst="roundRect">
              <a:avLst>
                <a:gd name="adj" fmla="val 12500"/>
              </a:avLst>
            </a:prstGeom>
            <a:solidFill>
              <a:srgbClr val="DBEAFE"/>
            </a:solidFill>
            <a:ln>
              <a:noFill/>
            </a:ln>
          </p:spPr>
          <p:txBody>
            <a:bodyPr/>
            <a:lstStyle/>
            <a:p>
              <a:endParaRPr lang="zh-CN" altLang="en-US"/>
            </a:p>
          </p:txBody>
        </p:sp>
        <p:sp>
          <p:nvSpPr>
            <p:cNvPr id="9" name="TextBox 9"/>
            <p:cNvSpPr txBox="1"/>
            <p:nvPr/>
          </p:nvSpPr>
          <p:spPr>
            <a:xfrm>
              <a:off x="832866" y="5650992"/>
              <a:ext cx="9601200" cy="201168"/>
            </a:xfrm>
            <a:prstGeom prst="rect">
              <a:avLst/>
            </a:prstGeom>
            <a:noFill/>
            <a:ln>
              <a:noFill/>
            </a:ln>
          </p:spPr>
          <p:txBody>
            <a:bodyPr wrap="none" lIns="0" tIns="0" rIns="0" bIns="0" anchor="t" anchorCtr="0">
              <a:spAutoFit/>
            </a:bodyPr>
            <a:lstStyle/>
            <a:p>
              <a:pPr algn="l"/>
              <a:r>
                <a:rPr sz="1050" b="1">
                  <a:solidFill>
                    <a:srgbClr val="1E3A8A"/>
                  </a:solidFill>
                  <a:latin typeface="Segoe UI"/>
                </a:rPr>
                <a:t>The two pipelines meet only in the workbench.</a:t>
              </a:r>
            </a:p>
          </p:txBody>
        </p:sp>
        <p:sp>
          <p:nvSpPr>
            <p:cNvPr id="10" name="TextBox 10"/>
            <p:cNvSpPr txBox="1"/>
            <p:nvPr/>
          </p:nvSpPr>
          <p:spPr>
            <a:xfrm>
              <a:off x="833247" y="5870448"/>
              <a:ext cx="9601200" cy="201168"/>
            </a:xfrm>
            <a:prstGeom prst="rect">
              <a:avLst/>
            </a:prstGeom>
            <a:noFill/>
            <a:ln>
              <a:noFill/>
            </a:ln>
          </p:spPr>
          <p:txBody>
            <a:bodyPr wrap="none" lIns="0" tIns="0" rIns="0" bIns="0" anchor="t" anchorCtr="0">
              <a:spAutoFit/>
            </a:bodyPr>
            <a:lstStyle/>
            <a:p>
              <a:pPr algn="l"/>
              <a:r>
                <a:rPr sz="1050" b="0">
                  <a:solidFill>
                    <a:srgbClr val="1E3A8A"/>
                  </a:solidFill>
                  <a:latin typeface="Segoe UI"/>
                </a:rPr>
                <a:t>Detection and forecast outputs are joined there with source labels.</a:t>
              </a:r>
            </a:p>
          </p:txBody>
        </p:sp>
      </p:grpSp>
      <p:grpSp>
        <p:nvGrpSpPr>
          <p:cNvPr id="14" name="p04-footer"/>
          <p:cNvGrpSpPr/>
          <p:nvPr/>
        </p:nvGrpSpPr>
        <p:grpSpPr>
          <a:xfrm>
            <a:off x="609600" y="6515100"/>
            <a:ext cx="10977753" cy="265111"/>
            <a:chOff x="609600" y="6515100"/>
            <a:chExt cx="10977753" cy="265111"/>
          </a:xfrm>
        </p:grpSpPr>
        <p:sp>
          <p:nvSpPr>
            <p:cNvPr id="12" name="Line 1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13" name="TextBox 13"/>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
        <p:nvSpPr>
          <p:cNvPr id="15" name="TextBox 14"/>
          <p:cNvSpPr txBox="1"/>
          <p:nvPr/>
        </p:nvSpPr>
        <p:spPr>
          <a:xfrm>
            <a:off x="749554" y="6023420"/>
            <a:ext cx="9601200" cy="201168"/>
          </a:xfrm>
          <a:prstGeom prst="rect">
            <a:avLst/>
          </a:prstGeom>
          <a:noFill/>
        </p:spPr>
        <p:txBody>
          <a:bodyPr wrap="square">
            <a:spAutoFit/>
          </a:bodyPr>
          <a:lstStyle/>
          <a:p>
            <a:r>
              <a:rPr sz="1050" b="0" dirty="0">
                <a:solidFill>
                  <a:srgbClr val="1E3A8A"/>
                </a:solidFill>
                <a:latin typeface="Segoe UI"/>
              </a:rPr>
              <a:t>The data domains stay separate; the workbench is a historical replay.</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6" name="p05-title"/>
          <p:cNvGrpSpPr/>
          <p:nvPr/>
        </p:nvGrpSpPr>
        <p:grpSpPr>
          <a:xfrm>
            <a:off x="590550" y="647700"/>
            <a:ext cx="3652375" cy="4031107"/>
            <a:chOff x="590550" y="647700"/>
            <a:chExt cx="3652375" cy="4031107"/>
          </a:xfrm>
        </p:grpSpPr>
        <p:sp>
          <p:nvSpPr>
            <p:cNvPr id="2" name="TextBox 2"/>
            <p:cNvSpPr txBox="1"/>
            <p:nvPr/>
          </p:nvSpPr>
          <p:spPr>
            <a:xfrm>
              <a:off x="604647" y="647700"/>
              <a:ext cx="1105154" cy="191643"/>
            </a:xfrm>
            <a:prstGeom prst="rect">
              <a:avLst/>
            </a:prstGeom>
            <a:noFill/>
            <a:ln>
              <a:noFill/>
            </a:ln>
          </p:spPr>
          <p:txBody>
            <a:bodyPr wrap="none" lIns="0" tIns="0" rIns="0" bIns="0" anchor="t" anchorCtr="0">
              <a:spAutoFit/>
            </a:bodyPr>
            <a:lstStyle/>
            <a:p>
              <a:pPr algn="l"/>
              <a:r>
                <a:rPr lang="en" sz="980" b="1" spc="112" dirty="0">
                  <a:solidFill>
                    <a:srgbClr val="5EEAD4"/>
                  </a:solidFill>
                  <a:latin typeface="Consolas"/>
                  <a:ea typeface="Consolas"/>
                  <a:cs typeface="Consolas"/>
                </a:rPr>
                <a:t>PART 02 / 05</a:t>
              </a:r>
            </a:p>
          </p:txBody>
        </p:sp>
        <p:sp>
          <p:nvSpPr>
            <p:cNvPr id="3" name="TextBox 3"/>
            <p:cNvSpPr txBox="1"/>
            <p:nvPr/>
          </p:nvSpPr>
          <p:spPr>
            <a:xfrm>
              <a:off x="590550" y="1778000"/>
              <a:ext cx="1153141" cy="1390650"/>
            </a:xfrm>
            <a:prstGeom prst="rect">
              <a:avLst/>
            </a:prstGeom>
            <a:noFill/>
            <a:ln>
              <a:noFill/>
            </a:ln>
          </p:spPr>
          <p:txBody>
            <a:bodyPr wrap="none" lIns="0" tIns="0" rIns="0" bIns="0" anchor="t" anchorCtr="0">
              <a:spAutoFit/>
            </a:bodyPr>
            <a:lstStyle/>
            <a:p>
              <a:pPr algn="l"/>
              <a:r>
                <a:rPr lang="en" sz="7200" b="1" dirty="0">
                  <a:solidFill>
                    <a:srgbClr val="38BDF8"/>
                  </a:solidFill>
                  <a:latin typeface="+mn-lt"/>
                  <a:ea typeface="+mn-ea"/>
                  <a:cs typeface="+mn-cs"/>
                </a:rPr>
                <a:t>02</a:t>
              </a:r>
            </a:p>
          </p:txBody>
        </p:sp>
        <p:sp>
          <p:nvSpPr>
            <p:cNvPr id="4" name="TextBox 4"/>
            <p:cNvSpPr txBox="1"/>
            <p:nvPr/>
          </p:nvSpPr>
          <p:spPr>
            <a:xfrm>
              <a:off x="594360" y="3060700"/>
              <a:ext cx="1891060" cy="586740"/>
            </a:xfrm>
            <a:prstGeom prst="rect">
              <a:avLst/>
            </a:prstGeom>
            <a:noFill/>
            <a:ln>
              <a:noFill/>
            </a:ln>
          </p:spPr>
          <p:txBody>
            <a:bodyPr wrap="none" lIns="0" tIns="0" rIns="0" bIns="0" anchor="t" anchorCtr="0">
              <a:spAutoFit/>
            </a:bodyPr>
            <a:lstStyle/>
            <a:p>
              <a:pPr algn="l"/>
              <a:r>
                <a:rPr lang="en" sz="3000" b="1" dirty="0">
                  <a:solidFill>
                    <a:srgbClr val="FFFFFF"/>
                  </a:solidFill>
                  <a:latin typeface="+mn-lt"/>
                  <a:ea typeface="+mn-ea"/>
                  <a:cs typeface="+mn-cs"/>
                </a:rPr>
                <a:t>Detection</a:t>
              </a:r>
            </a:p>
          </p:txBody>
        </p:sp>
        <p:sp>
          <p:nvSpPr>
            <p:cNvPr id="5" name="TextBox 5"/>
            <p:cNvSpPr txBox="1"/>
            <p:nvPr/>
          </p:nvSpPr>
          <p:spPr>
            <a:xfrm>
              <a:off x="601218" y="4032250"/>
              <a:ext cx="6583680" cy="649224"/>
            </a:xfrm>
            <a:prstGeom prst="rect">
              <a:avLst/>
            </a:prstGeom>
            <a:noFill/>
            <a:ln>
              <a:noFill/>
            </a:ln>
          </p:spPr>
          <p:txBody>
            <a:bodyPr wrap="square" lIns="0" tIns="0" rIns="0" bIns="0" anchor="t" anchorCtr="0">
              <a:spAutoFit/>
            </a:bodyPr>
            <a:lstStyle/>
            <a:p>
              <a:pPr algn="l">
                <a:lnSpc>
                  <a:spcPts val="2550"/>
                </a:lnSpc>
              </a:pPr>
              <a:r>
                <a:rPr sz="1650" b="0">
                  <a:solidFill>
                    <a:srgbClr val="CBD5E1"/>
                  </a:solidFill>
                  <a:latin typeface="Segoe UI"/>
                </a:rPr>
                <a:t>Fine-tuning adapts YOLO to LTA;
road regions support filtering and congestion grading.</a:t>
              </a:r>
            </a:p>
          </p:txBody>
        </p:sp>
      </p:grpSp>
      <p:sp>
        <p:nvSpPr>
          <p:cNvPr id="7" name="TextBox 7"/>
          <p:cNvSpPr txBox="1"/>
          <p:nvPr/>
        </p:nvSpPr>
        <p:spPr>
          <a:xfrm>
            <a:off x="7600950" y="2266950"/>
            <a:ext cx="3754904" cy="4591050"/>
          </a:xfrm>
          <a:prstGeom prst="rect">
            <a:avLst/>
          </a:prstGeom>
          <a:noFill/>
          <a:ln>
            <a:noFill/>
          </a:ln>
        </p:spPr>
        <p:txBody>
          <a:bodyPr wrap="none" lIns="0" tIns="0" rIns="0" bIns="0" anchor="t" anchorCtr="0">
            <a:spAutoFit/>
          </a:bodyPr>
          <a:lstStyle/>
          <a:p>
            <a:pPr algn="l"/>
            <a:r>
              <a:rPr lang="en" sz="24000" b="1" dirty="0">
                <a:solidFill>
                  <a:srgbClr val="24324A"/>
                </a:solidFill>
                <a:latin typeface="+mn-lt"/>
                <a:ea typeface="+mn-ea"/>
                <a:cs typeface="+mn-cs"/>
              </a:rPr>
              <a:t>02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6-title"/>
          <p:cNvGrpSpPr/>
          <p:nvPr/>
        </p:nvGrpSpPr>
        <p:grpSpPr>
          <a:xfrm>
            <a:off x="594360" y="419100"/>
            <a:ext cx="8346684" cy="789940"/>
            <a:chOff x="594360" y="419100"/>
            <a:chExt cx="8346684"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2 · DETECTION</a:t>
              </a:r>
            </a:p>
          </p:txBody>
        </p:sp>
        <p:sp>
          <p:nvSpPr>
            <p:cNvPr id="3" name="TextBox 3"/>
            <p:cNvSpPr txBox="1"/>
            <p:nvPr/>
          </p:nvSpPr>
          <p:spPr>
            <a:xfrm>
              <a:off x="594360" y="622300"/>
              <a:ext cx="8346684"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Fine-tuning adapts a public detector to LTA</a:t>
              </a:r>
            </a:p>
          </p:txBody>
        </p:sp>
      </p:grpSp>
      <p:grpSp>
        <p:nvGrpSpPr>
          <p:cNvPr id="14" name="p06-source"/>
          <p:cNvGrpSpPr/>
          <p:nvPr/>
        </p:nvGrpSpPr>
        <p:grpSpPr>
          <a:xfrm>
            <a:off x="609600" y="1333500"/>
            <a:ext cx="3467100" cy="2286000"/>
            <a:chOff x="609600" y="1333500"/>
            <a:chExt cx="3467100" cy="2286000"/>
          </a:xfrm>
        </p:grpSpPr>
        <p:sp>
          <p:nvSpPr>
            <p:cNvPr id="5" name="Rectangle 5"/>
            <p:cNvSpPr/>
            <p:nvPr/>
          </p:nvSpPr>
          <p:spPr>
            <a:xfrm>
              <a:off x="609600" y="1333500"/>
              <a:ext cx="3467100" cy="2286000"/>
            </a:xfrm>
            <a:prstGeom prst="roundRect">
              <a:avLst>
                <a:gd name="adj" fmla="val 5000"/>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562100"/>
              <a:ext cx="381000" cy="381000"/>
            </a:xfrm>
            <a:prstGeom prst="roundRect">
              <a:avLst>
                <a:gd name="adj" fmla="val 22500"/>
              </a:avLst>
            </a:prstGeom>
            <a:solidFill>
              <a:srgbClr val="DBEAFE"/>
            </a:solidFill>
            <a:ln>
              <a:noFill/>
            </a:ln>
          </p:spPr>
          <p:txBody>
            <a:bodyPr/>
            <a:lstStyle/>
            <a:p>
              <a:endParaRPr lang="zh-CN" altLang="en-US"/>
            </a:p>
          </p:txBody>
        </p:sp>
        <p:sp>
          <p:nvSpPr>
            <p:cNvPr id="7" name="Freeform 7"/>
            <p:cNvSpPr/>
            <p:nvPr/>
          </p:nvSpPr>
          <p:spPr>
            <a:xfrm>
              <a:off x="949324" y="1681160"/>
              <a:ext cx="158751" cy="142878"/>
            </a:xfrm>
            <a:custGeom>
              <a:avLst/>
              <a:gdLst/>
              <a:ahLst/>
              <a:cxnLst/>
              <a:rect l="l" t="t" r="r" b="b"/>
              <a:pathLst>
                <a:path w="158751" h="142878">
                  <a:moveTo>
                    <a:pt x="103188" y="3"/>
                  </a:moveTo>
                  <a:cubicBezTo>
                    <a:pt x="111496" y="0"/>
                    <a:pt x="118400" y="6403"/>
                    <a:pt x="119023" y="14687"/>
                  </a:cubicBezTo>
                  <a:lnTo>
                    <a:pt x="119063" y="15878"/>
                  </a:lnTo>
                  <a:cubicBezTo>
                    <a:pt x="119064" y="19902"/>
                    <a:pt x="122075" y="23289"/>
                    <a:pt x="126072" y="23760"/>
                  </a:cubicBezTo>
                  <a:lnTo>
                    <a:pt x="127001" y="23815"/>
                  </a:lnTo>
                  <a:lnTo>
                    <a:pt x="134938" y="23815"/>
                  </a:lnTo>
                  <a:cubicBezTo>
                    <a:pt x="147547" y="23814"/>
                    <a:pt x="157971" y="33643"/>
                    <a:pt x="158711" y="46231"/>
                  </a:cubicBezTo>
                  <a:lnTo>
                    <a:pt x="158751" y="47628"/>
                  </a:lnTo>
                  <a:lnTo>
                    <a:pt x="158751" y="119065"/>
                  </a:lnTo>
                  <a:cubicBezTo>
                    <a:pt x="158751" y="131674"/>
                    <a:pt x="148923" y="142098"/>
                    <a:pt x="136335" y="142838"/>
                  </a:cubicBezTo>
                  <a:lnTo>
                    <a:pt x="134938" y="142878"/>
                  </a:lnTo>
                  <a:lnTo>
                    <a:pt x="23813" y="142878"/>
                  </a:lnTo>
                  <a:cubicBezTo>
                    <a:pt x="11204" y="142878"/>
                    <a:pt x="780" y="133050"/>
                    <a:pt x="40" y="120462"/>
                  </a:cubicBezTo>
                  <a:lnTo>
                    <a:pt x="1" y="119065"/>
                  </a:lnTo>
                  <a:lnTo>
                    <a:pt x="1" y="47628"/>
                  </a:lnTo>
                  <a:cubicBezTo>
                    <a:pt x="0" y="35018"/>
                    <a:pt x="9829" y="24595"/>
                    <a:pt x="22416" y="23855"/>
                  </a:cubicBezTo>
                  <a:lnTo>
                    <a:pt x="23813" y="23815"/>
                  </a:lnTo>
                  <a:lnTo>
                    <a:pt x="31751" y="23815"/>
                  </a:lnTo>
                  <a:cubicBezTo>
                    <a:pt x="36134" y="23815"/>
                    <a:pt x="39688" y="20261"/>
                    <a:pt x="39688" y="15878"/>
                  </a:cubicBezTo>
                  <a:cubicBezTo>
                    <a:pt x="39686" y="7570"/>
                    <a:pt x="46088" y="665"/>
                    <a:pt x="54373" y="42"/>
                  </a:cubicBezTo>
                  <a:lnTo>
                    <a:pt x="55563" y="3"/>
                  </a:lnTo>
                  <a:lnTo>
                    <a:pt x="103188" y="3"/>
                  </a:lnTo>
                  <a:close/>
                  <a:moveTo>
                    <a:pt x="79376" y="55565"/>
                  </a:moveTo>
                  <a:cubicBezTo>
                    <a:pt x="67152" y="55564"/>
                    <a:pt x="56913" y="64819"/>
                    <a:pt x="55682" y="76980"/>
                  </a:cubicBezTo>
                  <a:lnTo>
                    <a:pt x="55595" y="78187"/>
                  </a:lnTo>
                  <a:lnTo>
                    <a:pt x="55563" y="79378"/>
                  </a:lnTo>
                  <a:lnTo>
                    <a:pt x="55595" y="80568"/>
                  </a:lnTo>
                  <a:cubicBezTo>
                    <a:pt x="56245" y="93549"/>
                    <a:pt x="67183" y="103611"/>
                    <a:pt x="80172" y="103177"/>
                  </a:cubicBezTo>
                  <a:cubicBezTo>
                    <a:pt x="93162" y="102743"/>
                    <a:pt x="103404" y="91974"/>
                    <a:pt x="103187" y="78979"/>
                  </a:cubicBezTo>
                  <a:cubicBezTo>
                    <a:pt x="102969" y="65984"/>
                    <a:pt x="92372" y="55564"/>
                    <a:pt x="79376" y="55565"/>
                  </a:cubicBezTo>
                  <a:close/>
                </a:path>
              </a:pathLst>
            </a:custGeom>
            <a:solidFill>
              <a:schemeClr val="accent2"/>
            </a:solidFill>
            <a:ln>
              <a:noFill/>
            </a:ln>
          </p:spPr>
          <p:txBody>
            <a:bodyPr/>
            <a:lstStyle/>
            <a:p>
              <a:endParaRPr lang="zh-CN" altLang="en-US"/>
            </a:p>
          </p:txBody>
        </p:sp>
        <p:sp>
          <p:nvSpPr>
            <p:cNvPr id="8" name="TextBox 8"/>
            <p:cNvSpPr txBox="1"/>
            <p:nvPr/>
          </p:nvSpPr>
          <p:spPr>
            <a:xfrm>
              <a:off x="1364742" y="1644650"/>
              <a:ext cx="1029199"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Source data</a:t>
              </a:r>
            </a:p>
          </p:txBody>
        </p:sp>
        <p:sp>
          <p:nvSpPr>
            <p:cNvPr id="9" name="TextBox 9"/>
            <p:cNvSpPr txBox="1"/>
            <p:nvPr/>
          </p:nvSpPr>
          <p:spPr>
            <a:xfrm>
              <a:off x="832866" y="2139950"/>
              <a:ext cx="2488960"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MIO-TCD supplies four vehicle classes</a:t>
              </a:r>
            </a:p>
          </p:txBody>
        </p:sp>
        <p:sp>
          <p:nvSpPr>
            <p:cNvPr id="10" name="TextBox 10"/>
            <p:cNvSpPr txBox="1"/>
            <p:nvPr/>
          </p:nvSpPr>
          <p:spPr>
            <a:xfrm>
              <a:off x="985266" y="2330450"/>
              <a:ext cx="1174057"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with human labels.</a:t>
              </a:r>
            </a:p>
          </p:txBody>
        </p:sp>
        <p:sp>
          <p:nvSpPr>
            <p:cNvPr id="11" name="TextBox 11"/>
            <p:cNvSpPr txBox="1"/>
            <p:nvPr/>
          </p:nvSpPr>
          <p:spPr>
            <a:xfrm>
              <a:off x="832866" y="2559050"/>
              <a:ext cx="2142574"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LTA supplies eight fixed cameras</a:t>
              </a:r>
            </a:p>
          </p:txBody>
        </p:sp>
        <p:sp>
          <p:nvSpPr>
            <p:cNvPr id="12" name="TextBox 12"/>
            <p:cNvSpPr txBox="1"/>
            <p:nvPr/>
          </p:nvSpPr>
          <p:spPr>
            <a:xfrm>
              <a:off x="985266" y="2749550"/>
              <a:ext cx="1453749"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at ten-minute intervals.</a:t>
              </a:r>
            </a:p>
          </p:txBody>
        </p:sp>
        <p:sp>
          <p:nvSpPr>
            <p:cNvPr id="13" name="TextBox 13"/>
            <p:cNvSpPr txBox="1"/>
            <p:nvPr/>
          </p:nvSpPr>
          <p:spPr>
            <a:xfrm>
              <a:off x="832866" y="2978150"/>
              <a:ext cx="2294275"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Viewpoint, lighting and scale differ.</a:t>
              </a:r>
            </a:p>
          </p:txBody>
        </p:sp>
      </p:grpSp>
      <p:grpSp>
        <p:nvGrpSpPr>
          <p:cNvPr id="27" name="p06-split"/>
          <p:cNvGrpSpPr/>
          <p:nvPr/>
        </p:nvGrpSpPr>
        <p:grpSpPr>
          <a:xfrm>
            <a:off x="4362450" y="1333500"/>
            <a:ext cx="3467100" cy="2286000"/>
            <a:chOff x="4362450" y="1333500"/>
            <a:chExt cx="3467100" cy="2286000"/>
          </a:xfrm>
        </p:grpSpPr>
        <p:sp>
          <p:nvSpPr>
            <p:cNvPr id="15" name="Rectangle 15"/>
            <p:cNvSpPr/>
            <p:nvPr/>
          </p:nvSpPr>
          <p:spPr>
            <a:xfrm>
              <a:off x="4362450" y="1333500"/>
              <a:ext cx="3467100" cy="2286000"/>
            </a:xfrm>
            <a:prstGeom prst="roundRect">
              <a:avLst>
                <a:gd name="adj" fmla="val 5000"/>
              </a:avLst>
            </a:prstGeom>
            <a:solidFill>
              <a:srgbClr val="FFFFFF"/>
            </a:solidFill>
            <a:ln w="9525">
              <a:solidFill>
                <a:schemeClr val="accent6"/>
              </a:solidFill>
            </a:ln>
          </p:spPr>
          <p:txBody>
            <a:bodyPr/>
            <a:lstStyle/>
            <a:p>
              <a:endParaRPr lang="zh-CN" altLang="en-US"/>
            </a:p>
          </p:txBody>
        </p:sp>
        <p:sp>
          <p:nvSpPr>
            <p:cNvPr id="16" name="Rectangle 16"/>
            <p:cNvSpPr/>
            <p:nvPr/>
          </p:nvSpPr>
          <p:spPr>
            <a:xfrm>
              <a:off x="4591050" y="1562100"/>
              <a:ext cx="381000" cy="381000"/>
            </a:xfrm>
            <a:prstGeom prst="roundRect">
              <a:avLst>
                <a:gd name="adj" fmla="val 22500"/>
              </a:avLst>
            </a:prstGeom>
            <a:solidFill>
              <a:srgbClr val="DBEAFE"/>
            </a:solidFill>
            <a:ln>
              <a:noFill/>
            </a:ln>
          </p:spPr>
          <p:txBody>
            <a:bodyPr/>
            <a:lstStyle/>
            <a:p>
              <a:endParaRPr lang="zh-CN" altLang="en-US"/>
            </a:p>
          </p:txBody>
        </p:sp>
        <p:grpSp>
          <p:nvGrpSpPr>
            <p:cNvPr id="21" name="Group 21"/>
            <p:cNvGrpSpPr/>
            <p:nvPr/>
          </p:nvGrpSpPr>
          <p:grpSpPr>
            <a:xfrm>
              <a:off x="4702175" y="1673225"/>
              <a:ext cx="158750" cy="158750"/>
              <a:chOff x="4702175" y="1673225"/>
              <a:chExt cx="158750" cy="158750"/>
            </a:xfrm>
          </p:grpSpPr>
          <p:sp>
            <p:nvSpPr>
              <p:cNvPr id="17" name="Freeform 17"/>
              <p:cNvSpPr/>
              <p:nvPr/>
            </p:nvSpPr>
            <p:spPr>
              <a:xfrm>
                <a:off x="4702175" y="1768475"/>
                <a:ext cx="63500" cy="63500"/>
              </a:xfrm>
              <a:custGeom>
                <a:avLst/>
                <a:gdLst/>
                <a:ahLst/>
                <a:cxnLst/>
                <a:rect l="l" t="t" r="r" b="b"/>
                <a:pathLst>
                  <a:path w="63500" h="63500">
                    <a:moveTo>
                      <a:pt x="0" y="21169"/>
                    </a:moveTo>
                    <a:cubicBezTo>
                      <a:pt x="0" y="9478"/>
                      <a:pt x="9478"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15555" y="63500"/>
                      <a:pt x="10170" y="61270"/>
                      <a:pt x="6200" y="57300"/>
                    </a:cubicBezTo>
                    <a:cubicBezTo>
                      <a:pt x="2230" y="53330"/>
                      <a:pt x="0" y="47945"/>
                      <a:pt x="0" y="42331"/>
                    </a:cubicBezTo>
                    <a:close/>
                  </a:path>
                </a:pathLst>
              </a:custGeom>
              <a:solidFill>
                <a:schemeClr val="accent2"/>
              </a:solidFill>
              <a:ln>
                <a:noFill/>
              </a:ln>
            </p:spPr>
            <p:txBody>
              <a:bodyPr/>
              <a:lstStyle/>
              <a:p>
                <a:endParaRPr lang="zh-CN" altLang="en-US"/>
              </a:p>
            </p:txBody>
          </p:sp>
          <p:sp>
            <p:nvSpPr>
              <p:cNvPr id="18" name="Freeform 18"/>
              <p:cNvSpPr/>
              <p:nvPr/>
            </p:nvSpPr>
            <p:spPr>
              <a:xfrm>
                <a:off x="4797425" y="1768475"/>
                <a:ext cx="63500" cy="63500"/>
              </a:xfrm>
              <a:custGeom>
                <a:avLst/>
                <a:gdLst/>
                <a:ahLst/>
                <a:cxnLst/>
                <a:rect l="l" t="t" r="r" b="b"/>
                <a:pathLst>
                  <a:path w="63500" h="63500">
                    <a:moveTo>
                      <a:pt x="0" y="21169"/>
                    </a:moveTo>
                    <a:cubicBezTo>
                      <a:pt x="0" y="15555"/>
                      <a:pt x="2230" y="10170"/>
                      <a:pt x="6200" y="6200"/>
                    </a:cubicBezTo>
                    <a:cubicBezTo>
                      <a:pt x="10170" y="2230"/>
                      <a:pt x="15555"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15555" y="63500"/>
                      <a:pt x="10170" y="61270"/>
                      <a:pt x="6200" y="57300"/>
                    </a:cubicBezTo>
                    <a:cubicBezTo>
                      <a:pt x="2230" y="53330"/>
                      <a:pt x="0" y="47945"/>
                      <a:pt x="0" y="42331"/>
                    </a:cubicBezTo>
                    <a:close/>
                  </a:path>
                </a:pathLst>
              </a:custGeom>
              <a:solidFill>
                <a:schemeClr val="accent2"/>
              </a:solidFill>
              <a:ln>
                <a:noFill/>
              </a:ln>
            </p:spPr>
            <p:txBody>
              <a:bodyPr/>
              <a:lstStyle/>
              <a:p>
                <a:endParaRPr lang="zh-CN" altLang="en-US"/>
              </a:p>
            </p:txBody>
          </p:sp>
          <p:sp>
            <p:nvSpPr>
              <p:cNvPr id="19" name="Freeform 19"/>
              <p:cNvSpPr/>
              <p:nvPr/>
            </p:nvSpPr>
            <p:spPr>
              <a:xfrm>
                <a:off x="4749800" y="1673225"/>
                <a:ext cx="63500" cy="63500"/>
              </a:xfrm>
              <a:custGeom>
                <a:avLst/>
                <a:gdLst/>
                <a:ahLst/>
                <a:cxnLst/>
                <a:rect l="l" t="t" r="r" b="b"/>
                <a:pathLst>
                  <a:path w="63500" h="63500">
                    <a:moveTo>
                      <a:pt x="0" y="21169"/>
                    </a:moveTo>
                    <a:cubicBezTo>
                      <a:pt x="0" y="9478"/>
                      <a:pt x="9478"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9478" y="63500"/>
                      <a:pt x="0" y="54022"/>
                      <a:pt x="0" y="42331"/>
                    </a:cubicBezTo>
                    <a:close/>
                  </a:path>
                </a:pathLst>
              </a:custGeom>
              <a:solidFill>
                <a:schemeClr val="accent2"/>
              </a:solidFill>
              <a:ln>
                <a:noFill/>
              </a:ln>
            </p:spPr>
            <p:txBody>
              <a:bodyPr/>
              <a:lstStyle/>
              <a:p>
                <a:endParaRPr lang="zh-CN" altLang="en-US"/>
              </a:p>
            </p:txBody>
          </p:sp>
          <p:sp>
            <p:nvSpPr>
              <p:cNvPr id="20" name="Freeform 20"/>
              <p:cNvSpPr/>
              <p:nvPr/>
            </p:nvSpPr>
            <p:spPr>
              <a:xfrm>
                <a:off x="4725987" y="1720850"/>
                <a:ext cx="111125" cy="63500"/>
              </a:xfrm>
              <a:custGeom>
                <a:avLst/>
                <a:gdLst/>
                <a:ahLst/>
                <a:cxnLst/>
                <a:rect l="l" t="t" r="r" b="b"/>
                <a:pathLst>
                  <a:path w="111125" h="63500">
                    <a:moveTo>
                      <a:pt x="55562" y="0"/>
                    </a:moveTo>
                    <a:cubicBezTo>
                      <a:pt x="51179" y="0"/>
                      <a:pt x="47625" y="3554"/>
                      <a:pt x="47625" y="7937"/>
                    </a:cubicBezTo>
                    <a:lnTo>
                      <a:pt x="47625" y="23812"/>
                    </a:lnTo>
                    <a:lnTo>
                      <a:pt x="23812" y="23812"/>
                    </a:lnTo>
                    <a:cubicBezTo>
                      <a:pt x="10755" y="23812"/>
                      <a:pt x="0" y="34568"/>
                      <a:pt x="0" y="47625"/>
                    </a:cubicBezTo>
                    <a:lnTo>
                      <a:pt x="0" y="55562"/>
                    </a:lnTo>
                    <a:cubicBezTo>
                      <a:pt x="0" y="59946"/>
                      <a:pt x="3554" y="63500"/>
                      <a:pt x="7937" y="63500"/>
                    </a:cubicBezTo>
                    <a:cubicBezTo>
                      <a:pt x="12321" y="63500"/>
                      <a:pt x="15875" y="59946"/>
                      <a:pt x="15875" y="55562"/>
                    </a:cubicBezTo>
                    <a:lnTo>
                      <a:pt x="15875" y="47625"/>
                    </a:lnTo>
                    <a:cubicBezTo>
                      <a:pt x="15875" y="43148"/>
                      <a:pt x="19336" y="39687"/>
                      <a:pt x="23812" y="39687"/>
                    </a:cubicBezTo>
                    <a:lnTo>
                      <a:pt x="87312" y="39687"/>
                    </a:lnTo>
                    <a:cubicBezTo>
                      <a:pt x="91789" y="39687"/>
                      <a:pt x="95250" y="43148"/>
                      <a:pt x="95250" y="47625"/>
                    </a:cubicBezTo>
                    <a:lnTo>
                      <a:pt x="95250" y="55562"/>
                    </a:lnTo>
                    <a:cubicBezTo>
                      <a:pt x="95250" y="59946"/>
                      <a:pt x="98804" y="63500"/>
                      <a:pt x="103187" y="63500"/>
                    </a:cubicBezTo>
                    <a:cubicBezTo>
                      <a:pt x="107571" y="63500"/>
                      <a:pt x="111125" y="59946"/>
                      <a:pt x="111125" y="55562"/>
                    </a:cubicBezTo>
                    <a:lnTo>
                      <a:pt x="111125" y="47625"/>
                    </a:lnTo>
                    <a:cubicBezTo>
                      <a:pt x="111125" y="34568"/>
                      <a:pt x="100370" y="23812"/>
                      <a:pt x="87312" y="23812"/>
                    </a:cubicBezTo>
                    <a:lnTo>
                      <a:pt x="63500" y="23812"/>
                    </a:lnTo>
                    <a:lnTo>
                      <a:pt x="63500" y="7937"/>
                    </a:lnTo>
                    <a:cubicBezTo>
                      <a:pt x="63500" y="3554"/>
                      <a:pt x="59946" y="0"/>
                      <a:pt x="55562" y="0"/>
                    </a:cubicBezTo>
                    <a:close/>
                  </a:path>
                </a:pathLst>
              </a:custGeom>
              <a:solidFill>
                <a:schemeClr val="accent2"/>
              </a:solidFill>
              <a:ln>
                <a:noFill/>
              </a:ln>
            </p:spPr>
            <p:txBody>
              <a:bodyPr/>
              <a:lstStyle/>
              <a:p>
                <a:endParaRPr lang="zh-CN" altLang="en-US"/>
              </a:p>
            </p:txBody>
          </p:sp>
        </p:grpSp>
        <p:sp>
          <p:nvSpPr>
            <p:cNvPr id="22" name="TextBox 22"/>
            <p:cNvSpPr txBox="1"/>
            <p:nvPr/>
          </p:nvSpPr>
          <p:spPr>
            <a:xfrm>
              <a:off x="5117592" y="1644650"/>
              <a:ext cx="1554407"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Leakage-safe split</a:t>
              </a:r>
            </a:p>
          </p:txBody>
        </p:sp>
        <p:sp>
          <p:nvSpPr>
            <p:cNvPr id="23" name="TextBox 23"/>
            <p:cNvSpPr txBox="1"/>
            <p:nvPr/>
          </p:nvSpPr>
          <p:spPr>
            <a:xfrm>
              <a:off x="4585716" y="2139950"/>
              <a:ext cx="2917124"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Near-duplicate frames are grouped by scene.</a:t>
              </a:r>
            </a:p>
          </p:txBody>
        </p:sp>
        <p:sp>
          <p:nvSpPr>
            <p:cNvPr id="24" name="TextBox 24"/>
            <p:cNvSpPr txBox="1"/>
            <p:nvPr/>
          </p:nvSpPr>
          <p:spPr>
            <a:xfrm>
              <a:off x="4585716" y="2501900"/>
              <a:ext cx="2446035"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Whole groups go to train, dev or test.</a:t>
              </a:r>
            </a:p>
          </p:txBody>
        </p:sp>
        <p:sp>
          <p:nvSpPr>
            <p:cNvPr id="25" name="TextBox 25"/>
            <p:cNvSpPr txBox="1"/>
            <p:nvPr/>
          </p:nvSpPr>
          <p:spPr>
            <a:xfrm>
              <a:off x="4585716" y="2863850"/>
              <a:ext cx="1896826"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Test groups are scored once.</a:t>
              </a:r>
            </a:p>
          </p:txBody>
        </p:sp>
        <p:sp>
          <p:nvSpPr>
            <p:cNvPr id="26" name="TextBox 26"/>
            <p:cNvSpPr txBox="1"/>
            <p:nvPr/>
          </p:nvSpPr>
          <p:spPr>
            <a:xfrm>
              <a:off x="4585716" y="3225800"/>
              <a:ext cx="2191291"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Every frame stays inside one split.</a:t>
              </a:r>
            </a:p>
          </p:txBody>
        </p:sp>
      </p:grpSp>
      <p:grpSp>
        <p:nvGrpSpPr>
          <p:cNvPr id="39" name="p06-adapt"/>
          <p:cNvGrpSpPr/>
          <p:nvPr/>
        </p:nvGrpSpPr>
        <p:grpSpPr>
          <a:xfrm>
            <a:off x="8115300" y="1333500"/>
            <a:ext cx="3467100" cy="2286000"/>
            <a:chOff x="8115300" y="1333500"/>
            <a:chExt cx="3467100" cy="2286000"/>
          </a:xfrm>
        </p:grpSpPr>
        <p:sp>
          <p:nvSpPr>
            <p:cNvPr id="28" name="Rectangle 28"/>
            <p:cNvSpPr/>
            <p:nvPr/>
          </p:nvSpPr>
          <p:spPr>
            <a:xfrm>
              <a:off x="8115300" y="1333500"/>
              <a:ext cx="3467100" cy="2286000"/>
            </a:xfrm>
            <a:prstGeom prst="roundRect">
              <a:avLst>
                <a:gd name="adj" fmla="val 5000"/>
              </a:avLst>
            </a:prstGeom>
            <a:solidFill>
              <a:srgbClr val="FFFFFF"/>
            </a:solidFill>
            <a:ln w="9525">
              <a:solidFill>
                <a:schemeClr val="accent6"/>
              </a:solidFill>
            </a:ln>
          </p:spPr>
          <p:txBody>
            <a:bodyPr/>
            <a:lstStyle/>
            <a:p>
              <a:endParaRPr lang="zh-CN" altLang="en-US"/>
            </a:p>
          </p:txBody>
        </p:sp>
        <p:sp>
          <p:nvSpPr>
            <p:cNvPr id="29" name="Rectangle 29"/>
            <p:cNvSpPr/>
            <p:nvPr/>
          </p:nvSpPr>
          <p:spPr>
            <a:xfrm>
              <a:off x="8343900" y="1562100"/>
              <a:ext cx="381000" cy="381000"/>
            </a:xfrm>
            <a:prstGeom prst="roundRect">
              <a:avLst>
                <a:gd name="adj" fmla="val 22500"/>
              </a:avLst>
            </a:prstGeom>
            <a:solidFill>
              <a:srgbClr val="CCFBF1"/>
            </a:solidFill>
            <a:ln>
              <a:noFill/>
            </a:ln>
          </p:spPr>
          <p:txBody>
            <a:bodyPr/>
            <a:lstStyle/>
            <a:p>
              <a:endParaRPr lang="zh-CN" altLang="en-US"/>
            </a:p>
          </p:txBody>
        </p:sp>
        <p:grpSp>
          <p:nvGrpSpPr>
            <p:cNvPr id="32" name="Group 32"/>
            <p:cNvGrpSpPr/>
            <p:nvPr/>
          </p:nvGrpSpPr>
          <p:grpSpPr>
            <a:xfrm>
              <a:off x="8462023" y="1680204"/>
              <a:ext cx="144588" cy="135896"/>
              <a:chOff x="8462023" y="1680204"/>
              <a:chExt cx="144588" cy="135896"/>
            </a:xfrm>
          </p:grpSpPr>
          <p:sp>
            <p:nvSpPr>
              <p:cNvPr id="30" name="Freeform 30"/>
              <p:cNvSpPr/>
              <p:nvPr/>
            </p:nvSpPr>
            <p:spPr>
              <a:xfrm>
                <a:off x="8462962" y="1727799"/>
                <a:ext cx="142875" cy="88301"/>
              </a:xfrm>
              <a:custGeom>
                <a:avLst/>
                <a:gdLst/>
                <a:ahLst/>
                <a:cxnLst/>
                <a:rect l="l" t="t" r="r" b="b"/>
                <a:pathLst>
                  <a:path w="142875" h="88301">
                    <a:moveTo>
                      <a:pt x="96996" y="3965"/>
                    </a:moveTo>
                    <a:cubicBezTo>
                      <a:pt x="99706" y="583"/>
                      <a:pt x="104628" y="0"/>
                      <a:pt x="108053" y="2655"/>
                    </a:cubicBezTo>
                    <a:lnTo>
                      <a:pt x="108799" y="3314"/>
                    </a:lnTo>
                    <a:lnTo>
                      <a:pt x="140549" y="35064"/>
                    </a:lnTo>
                    <a:cubicBezTo>
                      <a:pt x="141783" y="36299"/>
                      <a:pt x="142575" y="37905"/>
                      <a:pt x="142804" y="39636"/>
                    </a:cubicBezTo>
                    <a:lnTo>
                      <a:pt x="142875" y="40676"/>
                    </a:lnTo>
                    <a:lnTo>
                      <a:pt x="142875" y="80363"/>
                    </a:lnTo>
                    <a:cubicBezTo>
                      <a:pt x="142874" y="84387"/>
                      <a:pt x="139863" y="87774"/>
                      <a:pt x="135866" y="88245"/>
                    </a:cubicBezTo>
                    <a:lnTo>
                      <a:pt x="134937" y="88301"/>
                    </a:lnTo>
                    <a:lnTo>
                      <a:pt x="7763" y="88301"/>
                    </a:lnTo>
                    <a:lnTo>
                      <a:pt x="6890" y="88229"/>
                    </a:lnTo>
                    <a:lnTo>
                      <a:pt x="6017" y="88070"/>
                    </a:lnTo>
                    <a:lnTo>
                      <a:pt x="5167" y="87801"/>
                    </a:lnTo>
                    <a:lnTo>
                      <a:pt x="4334" y="87435"/>
                    </a:lnTo>
                    <a:lnTo>
                      <a:pt x="3540" y="86967"/>
                    </a:lnTo>
                    <a:lnTo>
                      <a:pt x="2794" y="86412"/>
                    </a:lnTo>
                    <a:lnTo>
                      <a:pt x="2318" y="85975"/>
                    </a:lnTo>
                    <a:lnTo>
                      <a:pt x="1746" y="85324"/>
                    </a:lnTo>
                    <a:lnTo>
                      <a:pt x="1238" y="84618"/>
                    </a:lnTo>
                    <a:lnTo>
                      <a:pt x="810" y="83856"/>
                    </a:lnTo>
                    <a:lnTo>
                      <a:pt x="683" y="83578"/>
                    </a:lnTo>
                    <a:lnTo>
                      <a:pt x="365" y="82760"/>
                    </a:lnTo>
                    <a:lnTo>
                      <a:pt x="151" y="81919"/>
                    </a:lnTo>
                    <a:lnTo>
                      <a:pt x="32" y="81062"/>
                    </a:lnTo>
                    <a:lnTo>
                      <a:pt x="0" y="80189"/>
                    </a:lnTo>
                    <a:lnTo>
                      <a:pt x="71" y="79315"/>
                    </a:lnTo>
                    <a:lnTo>
                      <a:pt x="222" y="78482"/>
                    </a:lnTo>
                    <a:cubicBezTo>
                      <a:pt x="302" y="78164"/>
                      <a:pt x="397" y="77871"/>
                      <a:pt x="500" y="77593"/>
                    </a:cubicBezTo>
                    <a:lnTo>
                      <a:pt x="865" y="76760"/>
                    </a:lnTo>
                    <a:lnTo>
                      <a:pt x="1333" y="75966"/>
                    </a:lnTo>
                    <a:lnTo>
                      <a:pt x="33083" y="28341"/>
                    </a:lnTo>
                    <a:cubicBezTo>
                      <a:pt x="35094" y="25314"/>
                      <a:pt x="38903" y="24039"/>
                      <a:pt x="42331" y="25245"/>
                    </a:cubicBezTo>
                    <a:lnTo>
                      <a:pt x="43236" y="25642"/>
                    </a:lnTo>
                    <a:lnTo>
                      <a:pt x="69247" y="38644"/>
                    </a:lnTo>
                    <a:lnTo>
                      <a:pt x="96988" y="3965"/>
                    </a:lnTo>
                    <a:close/>
                  </a:path>
                </a:pathLst>
              </a:custGeom>
              <a:solidFill>
                <a:schemeClr val="accent3"/>
              </a:solidFill>
              <a:ln>
                <a:noFill/>
              </a:ln>
            </p:spPr>
            <p:txBody>
              <a:bodyPr/>
              <a:lstStyle/>
              <a:p>
                <a:endParaRPr lang="zh-CN" altLang="en-US"/>
              </a:p>
            </p:txBody>
          </p:sp>
          <p:sp>
            <p:nvSpPr>
              <p:cNvPr id="31" name="Freeform 31"/>
              <p:cNvSpPr/>
              <p:nvPr/>
            </p:nvSpPr>
            <p:spPr>
              <a:xfrm>
                <a:off x="8462023" y="1680204"/>
                <a:ext cx="144588" cy="81273"/>
              </a:xfrm>
              <a:custGeom>
                <a:avLst/>
                <a:gdLst/>
                <a:ahLst/>
                <a:cxnLst/>
                <a:rect l="l" t="t" r="r" b="b"/>
                <a:pathLst>
                  <a:path w="144588" h="81273">
                    <a:moveTo>
                      <a:pt x="98031" y="3816"/>
                    </a:moveTo>
                    <a:cubicBezTo>
                      <a:pt x="100769" y="527"/>
                      <a:pt x="105621" y="0"/>
                      <a:pt x="109001" y="2625"/>
                    </a:cubicBezTo>
                    <a:lnTo>
                      <a:pt x="109739" y="3284"/>
                    </a:lnTo>
                    <a:lnTo>
                      <a:pt x="141489" y="35034"/>
                    </a:lnTo>
                    <a:cubicBezTo>
                      <a:pt x="144443" y="37998"/>
                      <a:pt x="144588" y="42747"/>
                      <a:pt x="141820" y="45887"/>
                    </a:cubicBezTo>
                    <a:cubicBezTo>
                      <a:pt x="139052" y="49026"/>
                      <a:pt x="134322" y="49476"/>
                      <a:pt x="131011" y="46916"/>
                    </a:cubicBezTo>
                    <a:lnTo>
                      <a:pt x="130265" y="46257"/>
                    </a:lnTo>
                    <a:lnTo>
                      <a:pt x="104659" y="20659"/>
                    </a:lnTo>
                    <a:lnTo>
                      <a:pt x="70536" y="61601"/>
                    </a:lnTo>
                    <a:cubicBezTo>
                      <a:pt x="68413" y="64147"/>
                      <a:pt x="64931" y="65106"/>
                      <a:pt x="61804" y="64006"/>
                    </a:cubicBezTo>
                    <a:lnTo>
                      <a:pt x="60891" y="63617"/>
                    </a:lnTo>
                    <a:lnTo>
                      <a:pt x="35063" y="50710"/>
                    </a:lnTo>
                    <a:lnTo>
                      <a:pt x="15227" y="77158"/>
                    </a:lnTo>
                    <a:cubicBezTo>
                      <a:pt x="12828" y="80358"/>
                      <a:pt x="8423" y="81273"/>
                      <a:pt x="4948" y="79293"/>
                    </a:cubicBezTo>
                    <a:lnTo>
                      <a:pt x="4115" y="78746"/>
                    </a:lnTo>
                    <a:cubicBezTo>
                      <a:pt x="915" y="76346"/>
                      <a:pt x="0" y="71942"/>
                      <a:pt x="1979" y="68467"/>
                    </a:cubicBezTo>
                    <a:lnTo>
                      <a:pt x="2527" y="67633"/>
                    </a:lnTo>
                    <a:lnTo>
                      <a:pt x="26340" y="35883"/>
                    </a:lnTo>
                    <a:cubicBezTo>
                      <a:pt x="28429" y="33100"/>
                      <a:pt x="32088" y="32003"/>
                      <a:pt x="35364" y="33176"/>
                    </a:cubicBezTo>
                    <a:lnTo>
                      <a:pt x="36238" y="33550"/>
                    </a:lnTo>
                    <a:lnTo>
                      <a:pt x="62360" y="46607"/>
                    </a:lnTo>
                    <a:lnTo>
                      <a:pt x="98031" y="3816"/>
                    </a:lnTo>
                    <a:close/>
                  </a:path>
                </a:pathLst>
              </a:custGeom>
              <a:solidFill>
                <a:schemeClr val="accent3"/>
              </a:solidFill>
              <a:ln>
                <a:noFill/>
              </a:ln>
            </p:spPr>
            <p:txBody>
              <a:bodyPr/>
              <a:lstStyle/>
              <a:p>
                <a:endParaRPr lang="zh-CN" altLang="en-US"/>
              </a:p>
            </p:txBody>
          </p:sp>
        </p:grpSp>
        <p:sp>
          <p:nvSpPr>
            <p:cNvPr id="33" name="TextBox 33"/>
            <p:cNvSpPr txBox="1"/>
            <p:nvPr/>
          </p:nvSpPr>
          <p:spPr>
            <a:xfrm>
              <a:off x="8870442" y="1644650"/>
              <a:ext cx="1414862"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Teacher-student</a:t>
              </a:r>
            </a:p>
          </p:txBody>
        </p:sp>
        <p:sp>
          <p:nvSpPr>
            <p:cNvPr id="34" name="TextBox 34"/>
            <p:cNvSpPr txBox="1"/>
            <p:nvPr/>
          </p:nvSpPr>
          <p:spPr>
            <a:xfrm>
              <a:off x="8338566" y="2139950"/>
              <a:ext cx="2432019"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A stronger teacher labels LTA frames.</a:t>
              </a:r>
            </a:p>
          </p:txBody>
        </p:sp>
        <p:sp>
          <p:nvSpPr>
            <p:cNvPr id="35" name="TextBox 35"/>
            <p:cNvSpPr txBox="1"/>
            <p:nvPr/>
          </p:nvSpPr>
          <p:spPr>
            <a:xfrm>
              <a:off x="8338566" y="2501900"/>
              <a:ext cx="2083618"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The student trains on MIO-TCD</a:t>
              </a:r>
            </a:p>
          </p:txBody>
        </p:sp>
        <p:sp>
          <p:nvSpPr>
            <p:cNvPr id="36" name="TextBox 36"/>
            <p:cNvSpPr txBox="1"/>
            <p:nvPr/>
          </p:nvSpPr>
          <p:spPr>
            <a:xfrm>
              <a:off x="8490966" y="2692400"/>
              <a:ext cx="1497950"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plus LTA pseudo-labels.</a:t>
              </a:r>
            </a:p>
          </p:txBody>
        </p:sp>
        <p:sp>
          <p:nvSpPr>
            <p:cNvPr id="37" name="TextBox 37"/>
            <p:cNvSpPr txBox="1"/>
            <p:nvPr/>
          </p:nvSpPr>
          <p:spPr>
            <a:xfrm>
              <a:off x="8338566" y="2921000"/>
              <a:ext cx="2369245" cy="205359"/>
            </a:xfrm>
            <a:prstGeom prst="rect">
              <a:avLst/>
            </a:prstGeom>
            <a:noFill/>
            <a:ln>
              <a:noFill/>
            </a:ln>
          </p:spPr>
          <p:txBody>
            <a:bodyPr wrap="none" lIns="0" tIns="0" rIns="0" bIns="0" anchor="t" anchorCtr="0">
              <a:spAutoFit/>
            </a:bodyPr>
            <a:lstStyle/>
            <a:p>
              <a:pPr marL="90691" indent="-90691" algn="l">
                <a:buClr>
                  <a:schemeClr val="dk1"/>
                </a:buClr>
                <a:buSzTx/>
                <a:buFontTx/>
                <a:buChar char="•"/>
              </a:pPr>
              <a:r>
                <a:rPr lang="en" sz="1050" dirty="0">
                  <a:solidFill>
                    <a:schemeClr val="dk1"/>
                  </a:solidFill>
                  <a:latin typeface="+mn-lt"/>
                  <a:ea typeface="+mn-ea"/>
                  <a:cs typeface="+mn-cs"/>
                </a:rPr>
                <a:t>A 63-frame human-corrected subset</a:t>
              </a:r>
            </a:p>
          </p:txBody>
        </p:sp>
        <p:sp>
          <p:nvSpPr>
            <p:cNvPr id="38" name="TextBox 38"/>
            <p:cNvSpPr txBox="1"/>
            <p:nvPr/>
          </p:nvSpPr>
          <p:spPr>
            <a:xfrm>
              <a:off x="8490966" y="3111500"/>
              <a:ext cx="150757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is frozen before scoring.</a:t>
              </a:r>
            </a:p>
          </p:txBody>
        </p:sp>
      </p:grpSp>
      <p:grpSp>
        <p:nvGrpSpPr>
          <p:cNvPr id="49" name="p06-rationale"/>
          <p:cNvGrpSpPr/>
          <p:nvPr/>
        </p:nvGrpSpPr>
        <p:grpSpPr>
          <a:xfrm>
            <a:off x="609600" y="3810000"/>
            <a:ext cx="10972800" cy="1905000"/>
            <a:chOff x="609600" y="3810000"/>
            <a:chExt cx="10972800" cy="1905000"/>
          </a:xfrm>
        </p:grpSpPr>
        <p:sp>
          <p:nvSpPr>
            <p:cNvPr id="40" name="Rectangle 40"/>
            <p:cNvSpPr/>
            <p:nvPr/>
          </p:nvSpPr>
          <p:spPr>
            <a:xfrm>
              <a:off x="609600" y="3810000"/>
              <a:ext cx="10972800" cy="1905000"/>
            </a:xfrm>
            <a:prstGeom prst="roundRect">
              <a:avLst>
                <a:gd name="adj" fmla="val 6000"/>
              </a:avLst>
            </a:prstGeom>
            <a:solidFill>
              <a:srgbClr val="FFFFFF"/>
            </a:solidFill>
            <a:ln w="9525">
              <a:solidFill>
                <a:schemeClr val="accent6"/>
              </a:solidFill>
            </a:ln>
          </p:spPr>
          <p:txBody>
            <a:bodyPr/>
            <a:lstStyle/>
            <a:p>
              <a:endParaRPr lang="zh-CN" altLang="en-US"/>
            </a:p>
          </p:txBody>
        </p:sp>
        <p:sp>
          <p:nvSpPr>
            <p:cNvPr id="41" name="TextBox 41"/>
            <p:cNvSpPr txBox="1"/>
            <p:nvPr/>
          </p:nvSpPr>
          <p:spPr>
            <a:xfrm>
              <a:off x="830580" y="3962400"/>
              <a:ext cx="1574246"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Design rationale</a:t>
              </a:r>
            </a:p>
          </p:txBody>
        </p:sp>
      </p:grpSp>
      <p:grpSp>
        <p:nvGrpSpPr>
          <p:cNvPr id="52" name="p06-footer"/>
          <p:cNvGrpSpPr/>
          <p:nvPr/>
        </p:nvGrpSpPr>
        <p:grpSpPr>
          <a:xfrm>
            <a:off x="609600" y="6515100"/>
            <a:ext cx="10977753" cy="265111"/>
            <a:chOff x="609600" y="6515100"/>
            <a:chExt cx="10977753" cy="265111"/>
          </a:xfrm>
        </p:grpSpPr>
        <p:sp>
          <p:nvSpPr>
            <p:cNvPr id="50" name="Line 50"/>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51" name="TextBox 51"/>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
        <p:nvSpPr>
          <p:cNvPr id="53" name="TextBox 52"/>
          <p:cNvSpPr txBox="1"/>
          <p:nvPr/>
        </p:nvSpPr>
        <p:spPr>
          <a:xfrm>
            <a:off x="832104" y="4297680"/>
            <a:ext cx="2286000" cy="182880"/>
          </a:xfrm>
          <a:prstGeom prst="rect">
            <a:avLst/>
          </a:prstGeom>
          <a:noFill/>
        </p:spPr>
        <p:txBody>
          <a:bodyPr wrap="square" lIns="0" tIns="0" rIns="0" bIns="0">
            <a:spAutoFit/>
          </a:bodyPr>
          <a:lstStyle/>
          <a:p>
            <a:pPr algn="l"/>
            <a:r>
              <a:rPr sz="1000" b="1">
                <a:solidFill>
                  <a:srgbClr val="0D9488"/>
                </a:solidFill>
                <a:latin typeface="Segoe UI"/>
              </a:rPr>
              <a:t>Question</a:t>
            </a:r>
          </a:p>
        </p:txBody>
      </p:sp>
      <p:sp>
        <p:nvSpPr>
          <p:cNvPr id="54" name="TextBox 53"/>
          <p:cNvSpPr txBox="1"/>
          <p:nvPr/>
        </p:nvSpPr>
        <p:spPr>
          <a:xfrm>
            <a:off x="3246120" y="4297680"/>
            <a:ext cx="3474720" cy="182880"/>
          </a:xfrm>
          <a:prstGeom prst="rect">
            <a:avLst/>
          </a:prstGeom>
          <a:noFill/>
        </p:spPr>
        <p:txBody>
          <a:bodyPr wrap="square" lIns="0" tIns="0" rIns="0" bIns="0">
            <a:spAutoFit/>
          </a:bodyPr>
          <a:lstStyle/>
          <a:p>
            <a:pPr algn="l"/>
            <a:r>
              <a:rPr sz="1000" b="1">
                <a:solidFill>
                  <a:srgbClr val="0D9488"/>
                </a:solidFill>
                <a:latin typeface="Segoe UI"/>
              </a:rPr>
              <a:t>Design choice</a:t>
            </a:r>
          </a:p>
        </p:txBody>
      </p:sp>
      <p:sp>
        <p:nvSpPr>
          <p:cNvPr id="55" name="TextBox 54"/>
          <p:cNvSpPr txBox="1"/>
          <p:nvPr/>
        </p:nvSpPr>
        <p:spPr>
          <a:xfrm>
            <a:off x="6903720" y="4297680"/>
            <a:ext cx="4480560" cy="182880"/>
          </a:xfrm>
          <a:prstGeom prst="rect">
            <a:avLst/>
          </a:prstGeom>
          <a:noFill/>
        </p:spPr>
        <p:txBody>
          <a:bodyPr wrap="square" lIns="0" tIns="0" rIns="0" bIns="0">
            <a:spAutoFit/>
          </a:bodyPr>
          <a:lstStyle/>
          <a:p>
            <a:pPr algn="l"/>
            <a:r>
              <a:rPr sz="1000" b="1">
                <a:solidFill>
                  <a:srgbClr val="0D9488"/>
                </a:solidFill>
                <a:latin typeface="Segoe UI"/>
              </a:rPr>
              <a:t>What it protects</a:t>
            </a:r>
          </a:p>
        </p:txBody>
      </p:sp>
      <p:sp>
        <p:nvSpPr>
          <p:cNvPr id="56" name="TextBox 55"/>
          <p:cNvSpPr txBox="1"/>
          <p:nvPr/>
        </p:nvSpPr>
        <p:spPr>
          <a:xfrm>
            <a:off x="832104" y="4553712"/>
            <a:ext cx="2240280" cy="256032"/>
          </a:xfrm>
          <a:prstGeom prst="rect">
            <a:avLst/>
          </a:prstGeom>
          <a:noFill/>
        </p:spPr>
        <p:txBody>
          <a:bodyPr wrap="square" lIns="0" tIns="0" rIns="0" bIns="0">
            <a:spAutoFit/>
          </a:bodyPr>
          <a:lstStyle/>
          <a:p>
            <a:pPr algn="l"/>
            <a:r>
              <a:rPr sz="1000" b="0">
                <a:solidFill>
                  <a:srgbClr val="0F172A"/>
                </a:solidFill>
                <a:latin typeface="Segoe UI"/>
              </a:rPr>
              <a:t>Will the model memorize scenes?</a:t>
            </a:r>
          </a:p>
        </p:txBody>
      </p:sp>
      <p:sp>
        <p:nvSpPr>
          <p:cNvPr id="57" name="TextBox 56"/>
          <p:cNvSpPr txBox="1"/>
          <p:nvPr/>
        </p:nvSpPr>
        <p:spPr>
          <a:xfrm>
            <a:off x="3246120" y="4553712"/>
            <a:ext cx="3383280" cy="256032"/>
          </a:xfrm>
          <a:prstGeom prst="rect">
            <a:avLst/>
          </a:prstGeom>
          <a:noFill/>
        </p:spPr>
        <p:txBody>
          <a:bodyPr wrap="square" lIns="0" tIns="0" rIns="0" bIns="0">
            <a:spAutoFit/>
          </a:bodyPr>
          <a:lstStyle/>
          <a:p>
            <a:pPr algn="l"/>
            <a:r>
              <a:rPr sz="1000" b="0">
                <a:solidFill>
                  <a:srgbClr val="1E293B"/>
                </a:solidFill>
                <a:latin typeface="Segoe UI"/>
              </a:rPr>
              <a:t>Group near-duplicate frames by scene.</a:t>
            </a:r>
          </a:p>
        </p:txBody>
      </p:sp>
      <p:sp>
        <p:nvSpPr>
          <p:cNvPr id="58" name="TextBox 57"/>
          <p:cNvSpPr txBox="1"/>
          <p:nvPr/>
        </p:nvSpPr>
        <p:spPr>
          <a:xfrm>
            <a:off x="6903720" y="4553712"/>
            <a:ext cx="4480560" cy="256032"/>
          </a:xfrm>
          <a:prstGeom prst="rect">
            <a:avLst/>
          </a:prstGeom>
          <a:noFill/>
        </p:spPr>
        <p:txBody>
          <a:bodyPr wrap="square" lIns="0" tIns="0" rIns="0" bIns="0">
            <a:spAutoFit/>
          </a:bodyPr>
          <a:lstStyle/>
          <a:p>
            <a:pPr algn="l"/>
            <a:r>
              <a:rPr sz="1000" b="0">
                <a:solidFill>
                  <a:srgbClr val="1E293B"/>
                </a:solidFill>
                <a:latin typeface="Segoe UI"/>
              </a:rPr>
              <a:t>Test scenes stay unseen.</a:t>
            </a:r>
          </a:p>
        </p:txBody>
      </p:sp>
      <p:sp>
        <p:nvSpPr>
          <p:cNvPr id="59" name="TextBox 58"/>
          <p:cNvSpPr txBox="1"/>
          <p:nvPr/>
        </p:nvSpPr>
        <p:spPr>
          <a:xfrm>
            <a:off x="832104" y="4882896"/>
            <a:ext cx="2240280" cy="256032"/>
          </a:xfrm>
          <a:prstGeom prst="rect">
            <a:avLst/>
          </a:prstGeom>
          <a:noFill/>
        </p:spPr>
        <p:txBody>
          <a:bodyPr wrap="square" lIns="0" tIns="0" rIns="0" bIns="0">
            <a:spAutoFit/>
          </a:bodyPr>
          <a:lstStyle/>
          <a:p>
            <a:pPr algn="l"/>
            <a:r>
              <a:rPr sz="1000" b="0">
                <a:solidFill>
                  <a:srgbClr val="0F172A"/>
                </a:solidFill>
                <a:latin typeface="Segoe UI"/>
              </a:rPr>
              <a:t>Where do LTA labels come from?</a:t>
            </a:r>
          </a:p>
        </p:txBody>
      </p:sp>
      <p:sp>
        <p:nvSpPr>
          <p:cNvPr id="60" name="TextBox 59"/>
          <p:cNvSpPr txBox="1"/>
          <p:nvPr/>
        </p:nvSpPr>
        <p:spPr>
          <a:xfrm>
            <a:off x="3246120" y="4882896"/>
            <a:ext cx="3383280" cy="256032"/>
          </a:xfrm>
          <a:prstGeom prst="rect">
            <a:avLst/>
          </a:prstGeom>
          <a:noFill/>
        </p:spPr>
        <p:txBody>
          <a:bodyPr wrap="square" lIns="0" tIns="0" rIns="0" bIns="0">
            <a:spAutoFit/>
          </a:bodyPr>
          <a:lstStyle/>
          <a:p>
            <a:pPr algn="l"/>
            <a:r>
              <a:rPr sz="1000" b="0">
                <a:solidFill>
                  <a:srgbClr val="1E293B"/>
                </a:solidFill>
                <a:latin typeface="Segoe UI"/>
              </a:rPr>
              <a:t>Teacher pseudo-labels on LTA frames.</a:t>
            </a:r>
          </a:p>
        </p:txBody>
      </p:sp>
      <p:sp>
        <p:nvSpPr>
          <p:cNvPr id="61" name="TextBox 60"/>
          <p:cNvSpPr txBox="1"/>
          <p:nvPr/>
        </p:nvSpPr>
        <p:spPr>
          <a:xfrm>
            <a:off x="6903720" y="4882896"/>
            <a:ext cx="4480560" cy="256032"/>
          </a:xfrm>
          <a:prstGeom prst="rect">
            <a:avLst/>
          </a:prstGeom>
          <a:noFill/>
        </p:spPr>
        <p:txBody>
          <a:bodyPr wrap="square" lIns="0" tIns="0" rIns="0" bIns="0">
            <a:spAutoFit/>
          </a:bodyPr>
          <a:lstStyle/>
          <a:p>
            <a:pPr algn="l"/>
            <a:r>
              <a:rPr sz="1000" b="0">
                <a:solidFill>
                  <a:srgbClr val="1E293B"/>
                </a:solidFill>
                <a:latin typeface="Segoe UI"/>
              </a:rPr>
              <a:t>Target-domain supervision without full annotation.</a:t>
            </a:r>
          </a:p>
        </p:txBody>
      </p:sp>
      <p:sp>
        <p:nvSpPr>
          <p:cNvPr id="62" name="TextBox 61"/>
          <p:cNvSpPr txBox="1"/>
          <p:nvPr/>
        </p:nvSpPr>
        <p:spPr>
          <a:xfrm>
            <a:off x="832104" y="5212080"/>
            <a:ext cx="2240280" cy="256032"/>
          </a:xfrm>
          <a:prstGeom prst="rect">
            <a:avLst/>
          </a:prstGeom>
          <a:noFill/>
        </p:spPr>
        <p:txBody>
          <a:bodyPr wrap="square" lIns="0" tIns="0" rIns="0" bIns="0">
            <a:spAutoFit/>
          </a:bodyPr>
          <a:lstStyle/>
          <a:p>
            <a:pPr algn="l"/>
            <a:r>
              <a:rPr sz="1000" b="0">
                <a:solidFill>
                  <a:srgbClr val="0F172A"/>
                </a:solidFill>
                <a:latin typeface="Segoe UI"/>
              </a:rPr>
              <a:t>How do we check the teacher?</a:t>
            </a:r>
          </a:p>
        </p:txBody>
      </p:sp>
      <p:sp>
        <p:nvSpPr>
          <p:cNvPr id="63" name="TextBox 62"/>
          <p:cNvSpPr txBox="1"/>
          <p:nvPr/>
        </p:nvSpPr>
        <p:spPr>
          <a:xfrm>
            <a:off x="3246120" y="5212080"/>
            <a:ext cx="3383280" cy="256032"/>
          </a:xfrm>
          <a:prstGeom prst="rect">
            <a:avLst/>
          </a:prstGeom>
          <a:noFill/>
        </p:spPr>
        <p:txBody>
          <a:bodyPr wrap="square" lIns="0" tIns="0" rIns="0" bIns="0">
            <a:spAutoFit/>
          </a:bodyPr>
          <a:lstStyle/>
          <a:p>
            <a:pPr algn="l"/>
            <a:r>
              <a:rPr sz="1000" b="0">
                <a:solidFill>
                  <a:srgbClr val="1E293B"/>
                </a:solidFill>
                <a:latin typeface="Segoe UI"/>
              </a:rPr>
              <a:t>63-frame human-corrected subset.</a:t>
            </a:r>
          </a:p>
        </p:txBody>
      </p:sp>
      <p:sp>
        <p:nvSpPr>
          <p:cNvPr id="64" name="TextBox 63"/>
          <p:cNvSpPr txBox="1"/>
          <p:nvPr/>
        </p:nvSpPr>
        <p:spPr>
          <a:xfrm>
            <a:off x="6903720" y="5212080"/>
            <a:ext cx="4480560" cy="256032"/>
          </a:xfrm>
          <a:prstGeom prst="rect">
            <a:avLst/>
          </a:prstGeom>
          <a:noFill/>
        </p:spPr>
        <p:txBody>
          <a:bodyPr wrap="square" lIns="0" tIns="0" rIns="0" bIns="0">
            <a:spAutoFit/>
          </a:bodyPr>
          <a:lstStyle/>
          <a:p>
            <a:pPr algn="l"/>
            <a:r>
              <a:rPr sz="1000" b="0">
                <a:solidFill>
                  <a:srgbClr val="1E293B"/>
                </a:solidFill>
                <a:latin typeface="Segoe UI"/>
              </a:rPr>
              <a:t>Human check frozen before scoring.</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7-title"/>
          <p:cNvGrpSpPr/>
          <p:nvPr/>
        </p:nvGrpSpPr>
        <p:grpSpPr>
          <a:xfrm>
            <a:off x="594360" y="419100"/>
            <a:ext cx="11177915" cy="789940"/>
            <a:chOff x="594360" y="419100"/>
            <a:chExt cx="11177915"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2 · DETECTION</a:t>
              </a:r>
            </a:p>
          </p:txBody>
        </p:sp>
        <p:sp>
          <p:nvSpPr>
            <p:cNvPr id="3" name="TextBox 3"/>
            <p:cNvSpPr txBox="1"/>
            <p:nvPr/>
          </p:nvSpPr>
          <p:spPr>
            <a:xfrm>
              <a:off x="594360" y="622300"/>
              <a:ext cx="11177915"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MIO-TCD fine-tuning drives mAP; LTA training adds recall</a:t>
              </a:r>
            </a:p>
          </p:txBody>
        </p:sp>
      </p:grpSp>
      <p:grpSp>
        <p:nvGrpSpPr>
          <p:cNvPr id="23" name="p07-metrics"/>
          <p:cNvGrpSpPr/>
          <p:nvPr/>
        </p:nvGrpSpPr>
        <p:grpSpPr>
          <a:xfrm>
            <a:off x="609600" y="1333500"/>
            <a:ext cx="5334000" cy="2857500"/>
            <a:chOff x="609600" y="1333500"/>
            <a:chExt cx="5334000" cy="2857500"/>
          </a:xfrm>
        </p:grpSpPr>
        <p:sp>
          <p:nvSpPr>
            <p:cNvPr id="5" name="Rectangle 5"/>
            <p:cNvSpPr/>
            <p:nvPr/>
          </p:nvSpPr>
          <p:spPr>
            <a:xfrm>
              <a:off x="609600" y="1333500"/>
              <a:ext cx="5334000" cy="2857500"/>
            </a:xfrm>
            <a:prstGeom prst="roundRect">
              <a:avLst>
                <a:gd name="adj" fmla="val 4000"/>
              </a:avLst>
            </a:prstGeom>
            <a:solidFill>
              <a:srgbClr val="FFFFFF"/>
            </a:solidFill>
            <a:ln w="9525">
              <a:solidFill>
                <a:schemeClr val="accent6"/>
              </a:solidFill>
            </a:ln>
          </p:spPr>
          <p:txBody>
            <a:bodyPr/>
            <a:lstStyle/>
            <a:p>
              <a:endParaRPr lang="zh-CN" altLang="en-US"/>
            </a:p>
          </p:txBody>
        </p:sp>
        <p:sp>
          <p:nvSpPr>
            <p:cNvPr id="6" name="TextBox 6"/>
            <p:cNvSpPr txBox="1"/>
            <p:nvPr/>
          </p:nvSpPr>
          <p:spPr>
            <a:xfrm>
              <a:off x="833438" y="1536700"/>
              <a:ext cx="1827352"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MIO-TCD · HUMAN LABELS</a:t>
              </a:r>
            </a:p>
          </p:txBody>
        </p:sp>
        <p:sp>
          <p:nvSpPr>
            <p:cNvPr id="7" name="TextBox 7"/>
            <p:cNvSpPr txBox="1"/>
            <p:nvPr/>
          </p:nvSpPr>
          <p:spPr>
            <a:xfrm>
              <a:off x="822960" y="1746250"/>
              <a:ext cx="2563853" cy="586740"/>
            </a:xfrm>
            <a:prstGeom prst="rect">
              <a:avLst/>
            </a:prstGeom>
            <a:noFill/>
            <a:ln>
              <a:noFill/>
            </a:ln>
          </p:spPr>
          <p:txBody>
            <a:bodyPr wrap="none" lIns="0" tIns="0" rIns="0" bIns="0" anchor="t" anchorCtr="0">
              <a:spAutoFit/>
            </a:bodyPr>
            <a:lstStyle/>
            <a:p>
              <a:pPr algn="l"/>
              <a:r>
                <a:rPr lang="en" sz="3000" b="1" dirty="0">
                  <a:solidFill>
                    <a:schemeClr val="accent2"/>
                  </a:solidFill>
                  <a:latin typeface="+mn-lt"/>
                  <a:ea typeface="+mn-ea"/>
                  <a:cs typeface="+mn-cs"/>
                </a:rPr>
                <a:t>0.430 → 0.720</a:t>
              </a:r>
            </a:p>
          </p:txBody>
        </p:sp>
        <p:sp>
          <p:nvSpPr>
            <p:cNvPr id="8" name="TextBox 8"/>
            <p:cNvSpPr txBox="1"/>
            <p:nvPr/>
          </p:nvSpPr>
          <p:spPr>
            <a:xfrm>
              <a:off x="832866" y="2349500"/>
              <a:ext cx="441323"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Model</a:t>
              </a:r>
            </a:p>
          </p:txBody>
        </p:sp>
        <p:sp>
          <p:nvSpPr>
            <p:cNvPr id="9" name="TextBox 9"/>
            <p:cNvSpPr txBox="1"/>
            <p:nvPr/>
          </p:nvSpPr>
          <p:spPr>
            <a:xfrm>
              <a:off x="2861910" y="2349500"/>
              <a:ext cx="686724" cy="205359"/>
            </a:xfrm>
            <a:prstGeom prst="rect">
              <a:avLst/>
            </a:prstGeom>
            <a:noFill/>
            <a:ln>
              <a:noFill/>
            </a:ln>
          </p:spPr>
          <p:txBody>
            <a:bodyPr wrap="none" lIns="0" tIns="0" rIns="0" bIns="0" anchor="t" anchorCtr="0">
              <a:spAutoFit/>
            </a:bodyPr>
            <a:lstStyle/>
            <a:p>
              <a:pPr algn="r"/>
              <a:r>
                <a:rPr lang="en" sz="1050" b="1" dirty="0">
                  <a:solidFill>
                    <a:schemeClr val="accent1"/>
                  </a:solidFill>
                  <a:latin typeface="+mn-lt"/>
                  <a:ea typeface="+mn-ea"/>
                  <a:cs typeface="+mn-cs"/>
                </a:rPr>
                <a:t>mAP@0.5</a:t>
              </a:r>
            </a:p>
          </p:txBody>
        </p:sp>
        <p:sp>
          <p:nvSpPr>
            <p:cNvPr id="10" name="TextBox 10"/>
            <p:cNvSpPr txBox="1"/>
            <p:nvPr/>
          </p:nvSpPr>
          <p:spPr>
            <a:xfrm>
              <a:off x="4557911" y="2349500"/>
              <a:ext cx="781423" cy="205359"/>
            </a:xfrm>
            <a:prstGeom prst="rect">
              <a:avLst/>
            </a:prstGeom>
            <a:noFill/>
            <a:ln>
              <a:noFill/>
            </a:ln>
          </p:spPr>
          <p:txBody>
            <a:bodyPr wrap="none" lIns="0" tIns="0" rIns="0" bIns="0" anchor="t" anchorCtr="0">
              <a:spAutoFit/>
            </a:bodyPr>
            <a:lstStyle/>
            <a:p>
              <a:pPr algn="r"/>
              <a:r>
                <a:rPr lang="en" sz="1050" b="1" dirty="0">
                  <a:solidFill>
                    <a:schemeClr val="accent1"/>
                  </a:solidFill>
                  <a:latin typeface="+mn-lt"/>
                  <a:ea typeface="+mn-ea"/>
                  <a:cs typeface="+mn-cs"/>
                </a:rPr>
                <a:t>Count MAE</a:t>
              </a:r>
            </a:p>
          </p:txBody>
        </p:sp>
        <p:sp>
          <p:nvSpPr>
            <p:cNvPr id="11" name="Line 11"/>
            <p:cNvSpPr/>
            <p:nvPr/>
          </p:nvSpPr>
          <p:spPr>
            <a:xfrm>
              <a:off x="838200" y="2609850"/>
              <a:ext cx="4876800" cy="9525"/>
            </a:xfrm>
            <a:custGeom>
              <a:avLst/>
              <a:gdLst/>
              <a:ahLst/>
              <a:cxnLst/>
              <a:rect l="l" t="t" r="r" b="b"/>
              <a:pathLst>
                <a:path w="4876800" h="9525">
                  <a:moveTo>
                    <a:pt x="0" y="0"/>
                  </a:moveTo>
                  <a:lnTo>
                    <a:pt x="4876800" y="0"/>
                  </a:lnTo>
                </a:path>
              </a:pathLst>
            </a:custGeom>
            <a:noFill/>
            <a:ln w="9525">
              <a:solidFill>
                <a:schemeClr val="accent6"/>
              </a:solidFill>
            </a:ln>
          </p:spPr>
          <p:txBody>
            <a:bodyPr/>
            <a:lstStyle/>
            <a:p>
              <a:endParaRPr lang="zh-CN" altLang="en-US"/>
            </a:p>
          </p:txBody>
        </p:sp>
        <p:sp>
          <p:nvSpPr>
            <p:cNvPr id="12" name="TextBox 12"/>
            <p:cNvSpPr txBox="1"/>
            <p:nvPr/>
          </p:nvSpPr>
          <p:spPr>
            <a:xfrm>
              <a:off x="832866" y="2749550"/>
              <a:ext cx="1348710"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Pretrained YOLO26m</a:t>
              </a:r>
            </a:p>
          </p:txBody>
        </p:sp>
        <p:sp>
          <p:nvSpPr>
            <p:cNvPr id="13" name="TextBox 13"/>
            <p:cNvSpPr txBox="1"/>
            <p:nvPr/>
          </p:nvSpPr>
          <p:spPr>
            <a:xfrm>
              <a:off x="3202512" y="2749550"/>
              <a:ext cx="346122"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0.430</a:t>
              </a:r>
            </a:p>
          </p:txBody>
        </p:sp>
        <p:sp>
          <p:nvSpPr>
            <p:cNvPr id="14" name="TextBox 14"/>
            <p:cNvSpPr txBox="1"/>
            <p:nvPr/>
          </p:nvSpPr>
          <p:spPr>
            <a:xfrm>
              <a:off x="4993212" y="2749550"/>
              <a:ext cx="346122"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1.212</a:t>
              </a:r>
            </a:p>
          </p:txBody>
        </p:sp>
        <p:sp>
          <p:nvSpPr>
            <p:cNvPr id="15" name="TextBox 15"/>
            <p:cNvSpPr txBox="1"/>
            <p:nvPr/>
          </p:nvSpPr>
          <p:spPr>
            <a:xfrm>
              <a:off x="832866" y="3035300"/>
              <a:ext cx="93345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MIO-TCD only</a:t>
              </a:r>
            </a:p>
          </p:txBody>
        </p:sp>
        <p:sp>
          <p:nvSpPr>
            <p:cNvPr id="16" name="TextBox 16"/>
            <p:cNvSpPr txBox="1"/>
            <p:nvPr/>
          </p:nvSpPr>
          <p:spPr>
            <a:xfrm>
              <a:off x="3202512" y="3035300"/>
              <a:ext cx="346122"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0.709</a:t>
              </a:r>
            </a:p>
          </p:txBody>
        </p:sp>
        <p:sp>
          <p:nvSpPr>
            <p:cNvPr id="17" name="TextBox 17"/>
            <p:cNvSpPr txBox="1"/>
            <p:nvPr/>
          </p:nvSpPr>
          <p:spPr>
            <a:xfrm>
              <a:off x="4993212" y="3035300"/>
              <a:ext cx="346122"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0.650</a:t>
              </a:r>
            </a:p>
          </p:txBody>
        </p:sp>
        <p:sp>
          <p:nvSpPr>
            <p:cNvPr id="18" name="TextBox 18"/>
            <p:cNvSpPr txBox="1"/>
            <p:nvPr/>
          </p:nvSpPr>
          <p:spPr>
            <a:xfrm>
              <a:off x="832866" y="3321050"/>
              <a:ext cx="1136691" cy="205359"/>
            </a:xfrm>
            <a:prstGeom prst="rect">
              <a:avLst/>
            </a:prstGeom>
            <a:noFill/>
            <a:ln>
              <a:noFill/>
            </a:ln>
          </p:spPr>
          <p:txBody>
            <a:bodyPr wrap="none" lIns="0" tIns="0" rIns="0" bIns="0" anchor="t" anchorCtr="0">
              <a:spAutoFit/>
            </a:bodyPr>
            <a:lstStyle/>
            <a:p>
              <a:pPr algn="l"/>
              <a:r>
                <a:rPr lang="en" sz="1050" b="1" dirty="0">
                  <a:solidFill>
                    <a:srgbClr val="1E40AF"/>
                  </a:solidFill>
                  <a:latin typeface="+mn-lt"/>
                  <a:ea typeface="+mn-ea"/>
                  <a:cs typeface="+mn-cs"/>
                </a:rPr>
                <a:t>Joint fine-tuning</a:t>
              </a:r>
            </a:p>
          </p:txBody>
        </p:sp>
        <p:sp>
          <p:nvSpPr>
            <p:cNvPr id="19" name="TextBox 19"/>
            <p:cNvSpPr txBox="1"/>
            <p:nvPr/>
          </p:nvSpPr>
          <p:spPr>
            <a:xfrm>
              <a:off x="3174439" y="3321050"/>
              <a:ext cx="374195" cy="205359"/>
            </a:xfrm>
            <a:prstGeom prst="rect">
              <a:avLst/>
            </a:prstGeom>
            <a:noFill/>
            <a:ln>
              <a:noFill/>
            </a:ln>
          </p:spPr>
          <p:txBody>
            <a:bodyPr wrap="none" lIns="0" tIns="0" rIns="0" bIns="0" anchor="t" anchorCtr="0">
              <a:spAutoFit/>
            </a:bodyPr>
            <a:lstStyle/>
            <a:p>
              <a:pPr algn="r"/>
              <a:r>
                <a:rPr lang="en" sz="1050" b="1" dirty="0">
                  <a:solidFill>
                    <a:srgbClr val="1E40AF"/>
                  </a:solidFill>
                  <a:latin typeface="+mn-lt"/>
                  <a:ea typeface="+mn-ea"/>
                  <a:cs typeface="+mn-cs"/>
                </a:rPr>
                <a:t>0.720</a:t>
              </a:r>
            </a:p>
          </p:txBody>
        </p:sp>
        <p:sp>
          <p:nvSpPr>
            <p:cNvPr id="20" name="TextBox 20"/>
            <p:cNvSpPr txBox="1"/>
            <p:nvPr/>
          </p:nvSpPr>
          <p:spPr>
            <a:xfrm>
              <a:off x="4965139" y="3321050"/>
              <a:ext cx="374195" cy="205359"/>
            </a:xfrm>
            <a:prstGeom prst="rect">
              <a:avLst/>
            </a:prstGeom>
            <a:noFill/>
            <a:ln>
              <a:noFill/>
            </a:ln>
          </p:spPr>
          <p:txBody>
            <a:bodyPr wrap="none" lIns="0" tIns="0" rIns="0" bIns="0" anchor="t" anchorCtr="0">
              <a:spAutoFit/>
            </a:bodyPr>
            <a:lstStyle/>
            <a:p>
              <a:pPr algn="r"/>
              <a:r>
                <a:rPr lang="en" sz="1050" b="1" dirty="0">
                  <a:solidFill>
                    <a:srgbClr val="1E40AF"/>
                  </a:solidFill>
                  <a:latin typeface="+mn-lt"/>
                  <a:ea typeface="+mn-ea"/>
                  <a:cs typeface="+mn-cs"/>
                </a:rPr>
                <a:t>0.698</a:t>
              </a:r>
            </a:p>
          </p:txBody>
        </p:sp>
        <p:sp>
          <p:nvSpPr>
            <p:cNvPr id="21" name="Line 21"/>
            <p:cNvSpPr/>
            <p:nvPr/>
          </p:nvSpPr>
          <p:spPr>
            <a:xfrm>
              <a:off x="838200" y="3619500"/>
              <a:ext cx="4876800" cy="9525"/>
            </a:xfrm>
            <a:custGeom>
              <a:avLst/>
              <a:gdLst/>
              <a:ahLst/>
              <a:cxnLst/>
              <a:rect l="l" t="t" r="r" b="b"/>
              <a:pathLst>
                <a:path w="4876800" h="9525">
                  <a:moveTo>
                    <a:pt x="0" y="0"/>
                  </a:moveTo>
                  <a:lnTo>
                    <a:pt x="4876800" y="0"/>
                  </a:lnTo>
                </a:path>
              </a:pathLst>
            </a:custGeom>
            <a:noFill/>
            <a:ln w="9525">
              <a:solidFill>
                <a:schemeClr val="accent6"/>
              </a:solidFill>
            </a:ln>
          </p:spPr>
          <p:txBody>
            <a:bodyPr/>
            <a:lstStyle/>
            <a:p>
              <a:endParaRPr lang="zh-CN" altLang="en-US"/>
            </a:p>
          </p:txBody>
        </p:sp>
        <p:sp>
          <p:nvSpPr>
            <p:cNvPr id="22" name="TextBox 22"/>
            <p:cNvSpPr txBox="1"/>
            <p:nvPr/>
          </p:nvSpPr>
          <p:spPr>
            <a:xfrm>
              <a:off x="833247" y="3740150"/>
              <a:ext cx="491784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Most mAP gain comes from MIO-TCD training; LTA joint training mainly adds recall.</a:t>
              </a:r>
            </a:p>
          </p:txBody>
        </p:sp>
      </p:grpSp>
      <p:grpSp>
        <p:nvGrpSpPr>
          <p:cNvPr id="26" name="p07-chart"/>
          <p:cNvGrpSpPr/>
          <p:nvPr/>
        </p:nvGrpSpPr>
        <p:grpSpPr>
          <a:xfrm>
            <a:off x="6172200" y="1333500"/>
            <a:ext cx="5410200" cy="2857500"/>
            <a:chOff x="6172200" y="1333500"/>
            <a:chExt cx="5410200" cy="2857500"/>
          </a:xfrm>
        </p:grpSpPr>
        <p:sp>
          <p:nvSpPr>
            <p:cNvPr id="24" name="Rectangle 24"/>
            <p:cNvSpPr/>
            <p:nvPr/>
          </p:nvSpPr>
          <p:spPr>
            <a:xfrm>
              <a:off x="6172200" y="1333500"/>
              <a:ext cx="5410200" cy="2857500"/>
            </a:xfrm>
            <a:prstGeom prst="roundRect">
              <a:avLst>
                <a:gd name="adj" fmla="val 4000"/>
              </a:avLst>
            </a:prstGeom>
            <a:solidFill>
              <a:srgbClr val="FFFFFF"/>
            </a:solidFill>
            <a:ln w="9525">
              <a:solidFill>
                <a:schemeClr val="accent6"/>
              </a:solidFill>
            </a:ln>
          </p:spPr>
          <p:txBody>
            <a:bodyPr/>
            <a:lstStyle/>
            <a:p>
              <a:endParaRPr lang="zh-CN" altLang="en-US"/>
            </a:p>
          </p:txBody>
        </p:sp>
        <p:pic>
          <p:nvPicPr>
            <p:cNvPr id="25" name="Image 25"/>
            <p:cNvPicPr>
              <a:picLocks noChangeAspect="1"/>
            </p:cNvPicPr>
            <p:nvPr/>
          </p:nvPicPr>
          <p:blipFill>
            <a:blip r:embed="rId3"/>
            <a:stretch>
              <a:fillRect/>
            </a:stretch>
          </p:blipFill>
          <p:spPr>
            <a:xfrm>
              <a:off x="6286500" y="1719858"/>
              <a:ext cx="5181600" cy="2084784"/>
            </a:xfrm>
            <a:prstGeom prst="rect">
              <a:avLst/>
            </a:prstGeom>
          </p:spPr>
        </p:pic>
      </p:grpSp>
      <p:grpSp>
        <p:nvGrpSpPr>
          <p:cNvPr id="34" name="p07-human"/>
          <p:cNvGrpSpPr/>
          <p:nvPr/>
        </p:nvGrpSpPr>
        <p:grpSpPr>
          <a:xfrm>
            <a:off x="609600" y="4381500"/>
            <a:ext cx="10972800" cy="1428750"/>
            <a:chOff x="609600" y="4381500"/>
            <a:chExt cx="10972800" cy="1428750"/>
          </a:xfrm>
        </p:grpSpPr>
        <p:sp>
          <p:nvSpPr>
            <p:cNvPr id="27" name="Rectangle 27"/>
            <p:cNvSpPr/>
            <p:nvPr/>
          </p:nvSpPr>
          <p:spPr>
            <a:xfrm>
              <a:off x="609600" y="4381500"/>
              <a:ext cx="10972800" cy="1428750"/>
            </a:xfrm>
            <a:prstGeom prst="roundRect">
              <a:avLst>
                <a:gd name="adj" fmla="val 8000"/>
              </a:avLst>
            </a:prstGeom>
            <a:solidFill>
              <a:srgbClr val="FFFFFF"/>
            </a:solidFill>
            <a:ln w="9525">
              <a:solidFill>
                <a:schemeClr val="accent6"/>
              </a:solidFill>
            </a:ln>
          </p:spPr>
          <p:txBody>
            <a:bodyPr/>
            <a:lstStyle/>
            <a:p>
              <a:endParaRPr lang="zh-CN" altLang="en-US"/>
            </a:p>
          </p:txBody>
        </p:sp>
        <p:sp>
          <p:nvSpPr>
            <p:cNvPr id="28" name="TextBox 28"/>
            <p:cNvSpPr txBox="1"/>
            <p:nvPr/>
          </p:nvSpPr>
          <p:spPr>
            <a:xfrm>
              <a:off x="833438" y="4584700"/>
              <a:ext cx="2576246"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HUMAN-CORRECTED LTA · 63 IMAGES</a:t>
              </a:r>
            </a:p>
          </p:txBody>
        </p:sp>
        <p:sp>
          <p:nvSpPr>
            <p:cNvPr id="29" name="TextBox 29"/>
            <p:cNvSpPr txBox="1"/>
            <p:nvPr/>
          </p:nvSpPr>
          <p:spPr>
            <a:xfrm>
              <a:off x="826008" y="4832350"/>
              <a:ext cx="2051083" cy="469392"/>
            </a:xfrm>
            <a:prstGeom prst="rect">
              <a:avLst/>
            </a:prstGeom>
            <a:noFill/>
            <a:ln>
              <a:noFill/>
            </a:ln>
          </p:spPr>
          <p:txBody>
            <a:bodyPr wrap="none" lIns="0" tIns="0" rIns="0" bIns="0" anchor="t" anchorCtr="0">
              <a:spAutoFit/>
            </a:bodyPr>
            <a:lstStyle/>
            <a:p>
              <a:pPr algn="l"/>
              <a:r>
                <a:rPr lang="en" sz="2400" b="1" dirty="0">
                  <a:solidFill>
                    <a:schemeClr val="accent2"/>
                  </a:solidFill>
                  <a:latin typeface="+mn-lt"/>
                  <a:ea typeface="+mn-ea"/>
                  <a:cs typeface="+mn-cs"/>
                </a:rPr>
                <a:t>0.467 → 0.478</a:t>
              </a:r>
            </a:p>
          </p:txBody>
        </p:sp>
        <p:sp>
          <p:nvSpPr>
            <p:cNvPr id="30" name="TextBox 30"/>
            <p:cNvSpPr txBox="1"/>
            <p:nvPr/>
          </p:nvSpPr>
          <p:spPr>
            <a:xfrm>
              <a:off x="3347466" y="4806950"/>
              <a:ext cx="1382826" cy="414909"/>
            </a:xfrm>
            <a:prstGeom prst="rect">
              <a:avLst/>
            </a:prstGeom>
            <a:noFill/>
            <a:ln>
              <a:noFill/>
            </a:ln>
          </p:spPr>
          <p:txBody>
            <a:bodyPr wrap="none" lIns="0" tIns="0" rIns="0" bIns="0" anchor="t" anchorCtr="0">
              <a:spAutoFit/>
            </a:bodyPr>
            <a:lstStyle/>
            <a:p>
              <a:pPr algn="l">
                <a:lnSpc>
                  <a:spcPts val="1650"/>
                </a:lnSpc>
              </a:pPr>
              <a:r>
                <a:rPr lang="en" sz="1050" dirty="0">
                  <a:solidFill>
                    <a:schemeClr val="dk1"/>
                  </a:solidFill>
                  <a:latin typeface="+mn-lt"/>
                  <a:ea typeface="+mn-ea"/>
                  <a:cs typeface="+mn-cs"/>
                </a:rPr>
                <a:t>mAP difference +0.011;</a:t>
              </a:r>
              <a:br>
                <a:rPr lang="en" sz="1050" dirty="0">
                  <a:solidFill>
                    <a:schemeClr val="dk1"/>
                  </a:solidFill>
                  <a:latin typeface="+mn-lt"/>
                  <a:ea typeface="+mn-ea"/>
                  <a:cs typeface="+mn-cs"/>
                </a:rPr>
              </a:br>
              <a:r>
                <a:rPr lang="en" sz="1050" dirty="0">
                  <a:solidFill>
                    <a:schemeClr val="dk1"/>
                  </a:solidFill>
                  <a:latin typeface="+mn-lt"/>
                  <a:ea typeface="+mn-ea"/>
                  <a:cs typeface="+mn-cs"/>
                </a:rPr>
                <a:t>95% CI −0.043 to 0.060</a:t>
              </a:r>
            </a:p>
          </p:txBody>
        </p:sp>
        <p:sp>
          <p:nvSpPr>
            <p:cNvPr id="31" name="TextBox 31"/>
            <p:cNvSpPr txBox="1"/>
            <p:nvPr/>
          </p:nvSpPr>
          <p:spPr>
            <a:xfrm>
              <a:off x="5893308" y="4832350"/>
              <a:ext cx="2051083" cy="469392"/>
            </a:xfrm>
            <a:prstGeom prst="rect">
              <a:avLst/>
            </a:prstGeom>
            <a:noFill/>
            <a:ln>
              <a:noFill/>
            </a:ln>
          </p:spPr>
          <p:txBody>
            <a:bodyPr wrap="none" lIns="0" tIns="0" rIns="0" bIns="0" anchor="t" anchorCtr="0">
              <a:spAutoFit/>
            </a:bodyPr>
            <a:lstStyle/>
            <a:p>
              <a:pPr algn="l"/>
              <a:r>
                <a:rPr lang="en" sz="2400" b="1" dirty="0">
                  <a:solidFill>
                    <a:schemeClr val="accent3"/>
                  </a:solidFill>
                  <a:latin typeface="+mn-lt"/>
                  <a:ea typeface="+mn-ea"/>
                  <a:cs typeface="+mn-cs"/>
                </a:rPr>
                <a:t>0.394 → 0.547</a:t>
              </a:r>
            </a:p>
          </p:txBody>
        </p:sp>
        <p:sp>
          <p:nvSpPr>
            <p:cNvPr id="32" name="TextBox 32"/>
            <p:cNvSpPr txBox="1"/>
            <p:nvPr/>
          </p:nvSpPr>
          <p:spPr>
            <a:xfrm>
              <a:off x="8414766" y="4806950"/>
              <a:ext cx="2334438" cy="414909"/>
            </a:xfrm>
            <a:prstGeom prst="rect">
              <a:avLst/>
            </a:prstGeom>
            <a:noFill/>
            <a:ln>
              <a:noFill/>
            </a:ln>
          </p:spPr>
          <p:txBody>
            <a:bodyPr wrap="none" lIns="0" tIns="0" rIns="0" bIns="0" anchor="t" anchorCtr="0">
              <a:spAutoFit/>
            </a:bodyPr>
            <a:lstStyle/>
            <a:p>
              <a:pPr algn="l">
                <a:lnSpc>
                  <a:spcPts val="1650"/>
                </a:lnSpc>
              </a:pPr>
              <a:r>
                <a:rPr lang="en" sz="1050" dirty="0">
                  <a:solidFill>
                    <a:schemeClr val="dk1"/>
                  </a:solidFill>
                  <a:latin typeface="+mn-lt"/>
                  <a:ea typeface="+mn-ea"/>
                  <a:cs typeface="+mn-cs"/>
                </a:rPr>
                <a:t>The gain is class-agnostic recall:</a:t>
              </a:r>
              <a:br>
                <a:rPr lang="en" sz="1050" dirty="0">
                  <a:solidFill>
                    <a:schemeClr val="dk1"/>
                  </a:solidFill>
                  <a:latin typeface="+mn-lt"/>
                  <a:ea typeface="+mn-ea"/>
                  <a:cs typeface="+mn-cs"/>
                </a:rPr>
              </a:br>
              <a:r>
                <a:rPr lang="en" sz="1050" dirty="0">
                  <a:solidFill>
                    <a:schemeClr val="dk1"/>
                  </a:solidFill>
                  <a:latin typeface="+mn-lt"/>
                  <a:ea typeface="+mn-ea"/>
                  <a:cs typeface="+mn-cs"/>
                </a:rPr>
                <a:t>coverage rises while precision stays flat.</a:t>
              </a:r>
            </a:p>
          </p:txBody>
        </p:sp>
        <p:sp>
          <p:nvSpPr>
            <p:cNvPr id="33" name="TextBox 33"/>
            <p:cNvSpPr txBox="1"/>
            <p:nvPr/>
          </p:nvSpPr>
          <p:spPr>
            <a:xfrm>
              <a:off x="833247" y="5435600"/>
              <a:ext cx="538738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Absolute scores are lower than against the teacher because human labels add small vehicles.</a:t>
              </a:r>
            </a:p>
          </p:txBody>
        </p:sp>
      </p:grpSp>
      <p:grpSp>
        <p:nvGrpSpPr>
          <p:cNvPr id="37" name="p07-footer"/>
          <p:cNvGrpSpPr/>
          <p:nvPr/>
        </p:nvGrpSpPr>
        <p:grpSpPr>
          <a:xfrm>
            <a:off x="609600" y="6515100"/>
            <a:ext cx="10977753" cy="265111"/>
            <a:chOff x="609600" y="6515100"/>
            <a:chExt cx="10977753" cy="265111"/>
          </a:xfrm>
        </p:grpSpPr>
        <p:sp>
          <p:nvSpPr>
            <p:cNvPr id="35" name="Line 35"/>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6" name="TextBox 36"/>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8-title"/>
          <p:cNvGrpSpPr/>
          <p:nvPr/>
        </p:nvGrpSpPr>
        <p:grpSpPr>
          <a:xfrm>
            <a:off x="594360" y="419100"/>
            <a:ext cx="10437713" cy="789940"/>
            <a:chOff x="594360" y="419100"/>
            <a:chExt cx="10437713"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2 · DETECTION</a:t>
              </a:r>
            </a:p>
          </p:txBody>
        </p:sp>
        <p:sp>
          <p:nvSpPr>
            <p:cNvPr id="3" name="TextBox 3"/>
            <p:cNvSpPr txBox="1"/>
            <p:nvPr/>
          </p:nvSpPr>
          <p:spPr>
            <a:xfrm>
              <a:off x="594360" y="622300"/>
              <a:ext cx="10437713"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Teacher agreement depends on resolution and domain</a:t>
              </a:r>
            </a:p>
          </p:txBody>
        </p:sp>
      </p:grpSp>
      <p:grpSp>
        <p:nvGrpSpPr>
          <p:cNvPr id="28" name="lta-teacher-agreement"/>
          <p:cNvGrpSpPr/>
          <p:nvPr/>
        </p:nvGrpSpPr>
        <p:grpSpPr>
          <a:xfrm>
            <a:off x="609600" y="1333500"/>
            <a:ext cx="5905500" cy="3048000"/>
            <a:chOff x="609600" y="1333500"/>
            <a:chExt cx="5905500" cy="3048000"/>
          </a:xfrm>
        </p:grpSpPr>
        <p:sp>
          <p:nvSpPr>
            <p:cNvPr id="5" name="Rectangle 5"/>
            <p:cNvSpPr/>
            <p:nvPr/>
          </p:nvSpPr>
          <p:spPr>
            <a:xfrm>
              <a:off x="609600" y="1333500"/>
              <a:ext cx="5905500" cy="3048000"/>
            </a:xfrm>
            <a:prstGeom prst="roundRect">
              <a:avLst>
                <a:gd name="adj" fmla="val 3750"/>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762000" y="1524000"/>
              <a:ext cx="5600700" cy="381000"/>
            </a:xfrm>
            <a:prstGeom prst="rect">
              <a:avLst/>
            </a:prstGeom>
            <a:solidFill>
              <a:srgbClr val="DBEAFE"/>
            </a:solidFill>
            <a:ln>
              <a:noFill/>
            </a:ln>
          </p:spPr>
          <p:txBody>
            <a:bodyPr/>
            <a:lstStyle/>
            <a:p>
              <a:endParaRPr lang="zh-CN" altLang="en-US"/>
            </a:p>
          </p:txBody>
        </p:sp>
        <p:sp>
          <p:nvSpPr>
            <p:cNvPr id="7" name="TextBox 7"/>
            <p:cNvSpPr txBox="1"/>
            <p:nvPr/>
          </p:nvSpPr>
          <p:spPr>
            <a:xfrm>
              <a:off x="909066" y="1644650"/>
              <a:ext cx="441323"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Model</a:t>
              </a:r>
            </a:p>
          </p:txBody>
        </p:sp>
        <p:sp>
          <p:nvSpPr>
            <p:cNvPr id="8" name="TextBox 8"/>
            <p:cNvSpPr txBox="1"/>
            <p:nvPr/>
          </p:nvSpPr>
          <p:spPr>
            <a:xfrm>
              <a:off x="3147441" y="1644650"/>
              <a:ext cx="1120267"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mAP@0.5 @960</a:t>
              </a:r>
            </a:p>
          </p:txBody>
        </p:sp>
        <p:sp>
          <p:nvSpPr>
            <p:cNvPr id="9" name="TextBox 9"/>
            <p:cNvSpPr txBox="1"/>
            <p:nvPr/>
          </p:nvSpPr>
          <p:spPr>
            <a:xfrm>
              <a:off x="4823841" y="1644650"/>
              <a:ext cx="1204640"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mAP@0.5 @1280</a:t>
              </a:r>
            </a:p>
          </p:txBody>
        </p:sp>
        <p:sp>
          <p:nvSpPr>
            <p:cNvPr id="10" name="Line 10"/>
            <p:cNvSpPr/>
            <p:nvPr/>
          </p:nvSpPr>
          <p:spPr>
            <a:xfrm>
              <a:off x="762000" y="1905000"/>
              <a:ext cx="5600700" cy="9525"/>
            </a:xfrm>
            <a:custGeom>
              <a:avLst/>
              <a:gdLst/>
              <a:ahLst/>
              <a:cxnLst/>
              <a:rect l="l" t="t" r="r" b="b"/>
              <a:pathLst>
                <a:path w="5600700" h="9525">
                  <a:moveTo>
                    <a:pt x="0" y="0"/>
                  </a:moveTo>
                  <a:lnTo>
                    <a:pt x="5600700" y="0"/>
                  </a:lnTo>
                </a:path>
              </a:pathLst>
            </a:custGeom>
            <a:noFill/>
            <a:ln w="9525">
              <a:solidFill>
                <a:schemeClr val="accent6"/>
              </a:solidFill>
            </a:ln>
          </p:spPr>
          <p:txBody>
            <a:bodyPr/>
            <a:lstStyle/>
            <a:p>
              <a:endParaRPr lang="zh-CN" altLang="en-US"/>
            </a:p>
          </p:txBody>
        </p:sp>
        <p:sp>
          <p:nvSpPr>
            <p:cNvPr id="11" name="TextBox 11"/>
            <p:cNvSpPr txBox="1"/>
            <p:nvPr/>
          </p:nvSpPr>
          <p:spPr>
            <a:xfrm>
              <a:off x="909066" y="2101850"/>
              <a:ext cx="1348710"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Pretrained YOLO26m</a:t>
              </a:r>
            </a:p>
          </p:txBody>
        </p:sp>
        <p:sp>
          <p:nvSpPr>
            <p:cNvPr id="12" name="TextBox 12"/>
            <p:cNvSpPr txBox="1"/>
            <p:nvPr/>
          </p:nvSpPr>
          <p:spPr>
            <a:xfrm>
              <a:off x="3147441" y="2101850"/>
              <a:ext cx="346122"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0.555</a:t>
              </a:r>
            </a:p>
          </p:txBody>
        </p:sp>
        <p:sp>
          <p:nvSpPr>
            <p:cNvPr id="13" name="TextBox 13"/>
            <p:cNvSpPr txBox="1"/>
            <p:nvPr/>
          </p:nvSpPr>
          <p:spPr>
            <a:xfrm>
              <a:off x="4823841" y="2101850"/>
              <a:ext cx="346122"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0.660</a:t>
              </a:r>
            </a:p>
          </p:txBody>
        </p:sp>
        <p:sp>
          <p:nvSpPr>
            <p:cNvPr id="14" name="Line 14"/>
            <p:cNvSpPr/>
            <p:nvPr/>
          </p:nvSpPr>
          <p:spPr>
            <a:xfrm>
              <a:off x="762000" y="2381250"/>
              <a:ext cx="5600700" cy="9525"/>
            </a:xfrm>
            <a:custGeom>
              <a:avLst/>
              <a:gdLst/>
              <a:ahLst/>
              <a:cxnLst/>
              <a:rect l="l" t="t" r="r" b="b"/>
              <a:pathLst>
                <a:path w="5600700" h="9525">
                  <a:moveTo>
                    <a:pt x="0" y="0"/>
                  </a:moveTo>
                  <a:lnTo>
                    <a:pt x="5600700" y="0"/>
                  </a:lnTo>
                </a:path>
              </a:pathLst>
            </a:custGeom>
            <a:noFill/>
            <a:ln w="9525">
              <a:solidFill>
                <a:schemeClr val="accent6"/>
              </a:solidFill>
            </a:ln>
          </p:spPr>
          <p:txBody>
            <a:bodyPr/>
            <a:lstStyle/>
            <a:p>
              <a:endParaRPr lang="zh-CN" altLang="en-US"/>
            </a:p>
          </p:txBody>
        </p:sp>
        <p:sp>
          <p:nvSpPr>
            <p:cNvPr id="15" name="TextBox 15"/>
            <p:cNvSpPr txBox="1"/>
            <p:nvPr/>
          </p:nvSpPr>
          <p:spPr>
            <a:xfrm>
              <a:off x="909066" y="2578100"/>
              <a:ext cx="93345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MIO-TCD only</a:t>
              </a:r>
            </a:p>
          </p:txBody>
        </p:sp>
        <p:sp>
          <p:nvSpPr>
            <p:cNvPr id="16" name="TextBox 16"/>
            <p:cNvSpPr txBox="1"/>
            <p:nvPr/>
          </p:nvSpPr>
          <p:spPr>
            <a:xfrm>
              <a:off x="3147441" y="2578100"/>
              <a:ext cx="346122"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0.175</a:t>
              </a:r>
            </a:p>
          </p:txBody>
        </p:sp>
        <p:sp>
          <p:nvSpPr>
            <p:cNvPr id="17" name="TextBox 17"/>
            <p:cNvSpPr txBox="1"/>
            <p:nvPr/>
          </p:nvSpPr>
          <p:spPr>
            <a:xfrm>
              <a:off x="4823841" y="2578100"/>
              <a:ext cx="346122"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0.201</a:t>
              </a:r>
            </a:p>
          </p:txBody>
        </p:sp>
        <p:sp>
          <p:nvSpPr>
            <p:cNvPr id="18" name="Line 18"/>
            <p:cNvSpPr/>
            <p:nvPr/>
          </p:nvSpPr>
          <p:spPr>
            <a:xfrm>
              <a:off x="762000" y="2857500"/>
              <a:ext cx="5600700" cy="9525"/>
            </a:xfrm>
            <a:custGeom>
              <a:avLst/>
              <a:gdLst/>
              <a:ahLst/>
              <a:cxnLst/>
              <a:rect l="l" t="t" r="r" b="b"/>
              <a:pathLst>
                <a:path w="5600700" h="9525">
                  <a:moveTo>
                    <a:pt x="0" y="0"/>
                  </a:moveTo>
                  <a:lnTo>
                    <a:pt x="5600700" y="0"/>
                  </a:lnTo>
                </a:path>
              </a:pathLst>
            </a:custGeom>
            <a:noFill/>
            <a:ln w="9525">
              <a:solidFill>
                <a:schemeClr val="accent6"/>
              </a:solidFill>
            </a:ln>
          </p:spPr>
          <p:txBody>
            <a:bodyPr/>
            <a:lstStyle/>
            <a:p>
              <a:endParaRPr lang="zh-CN" altLang="en-US"/>
            </a:p>
          </p:txBody>
        </p:sp>
        <p:sp>
          <p:nvSpPr>
            <p:cNvPr id="19" name="TextBox 19"/>
            <p:cNvSpPr txBox="1"/>
            <p:nvPr/>
          </p:nvSpPr>
          <p:spPr>
            <a:xfrm>
              <a:off x="909066" y="3054350"/>
              <a:ext cx="1136691" cy="205359"/>
            </a:xfrm>
            <a:prstGeom prst="rect">
              <a:avLst/>
            </a:prstGeom>
            <a:noFill/>
            <a:ln>
              <a:noFill/>
            </a:ln>
          </p:spPr>
          <p:txBody>
            <a:bodyPr wrap="none" lIns="0" tIns="0" rIns="0" bIns="0" anchor="t" anchorCtr="0">
              <a:spAutoFit/>
            </a:bodyPr>
            <a:lstStyle/>
            <a:p>
              <a:pPr algn="l"/>
              <a:r>
                <a:rPr lang="en" sz="1050" b="1" dirty="0">
                  <a:solidFill>
                    <a:srgbClr val="1E40AF"/>
                  </a:solidFill>
                  <a:latin typeface="+mn-lt"/>
                  <a:ea typeface="+mn-ea"/>
                  <a:cs typeface="+mn-cs"/>
                </a:rPr>
                <a:t>Joint fine-tuning</a:t>
              </a:r>
            </a:p>
          </p:txBody>
        </p:sp>
        <p:sp>
          <p:nvSpPr>
            <p:cNvPr id="20" name="TextBox 20"/>
            <p:cNvSpPr txBox="1"/>
            <p:nvPr/>
          </p:nvSpPr>
          <p:spPr>
            <a:xfrm>
              <a:off x="3147441" y="3054350"/>
              <a:ext cx="374195" cy="205359"/>
            </a:xfrm>
            <a:prstGeom prst="rect">
              <a:avLst/>
            </a:prstGeom>
            <a:noFill/>
            <a:ln>
              <a:noFill/>
            </a:ln>
          </p:spPr>
          <p:txBody>
            <a:bodyPr wrap="none" lIns="0" tIns="0" rIns="0" bIns="0" anchor="t" anchorCtr="0">
              <a:spAutoFit/>
            </a:bodyPr>
            <a:lstStyle/>
            <a:p>
              <a:pPr algn="l"/>
              <a:r>
                <a:rPr lang="en" sz="1050" b="1" dirty="0">
                  <a:solidFill>
                    <a:srgbClr val="1E40AF"/>
                  </a:solidFill>
                  <a:latin typeface="+mn-lt"/>
                  <a:ea typeface="+mn-ea"/>
                  <a:cs typeface="+mn-cs"/>
                </a:rPr>
                <a:t>0.635</a:t>
              </a:r>
            </a:p>
          </p:txBody>
        </p:sp>
        <p:sp>
          <p:nvSpPr>
            <p:cNvPr id="21" name="TextBox 21"/>
            <p:cNvSpPr txBox="1"/>
            <p:nvPr/>
          </p:nvSpPr>
          <p:spPr>
            <a:xfrm>
              <a:off x="4823841" y="3054350"/>
              <a:ext cx="374195" cy="205359"/>
            </a:xfrm>
            <a:prstGeom prst="rect">
              <a:avLst/>
            </a:prstGeom>
            <a:noFill/>
            <a:ln>
              <a:noFill/>
            </a:ln>
          </p:spPr>
          <p:txBody>
            <a:bodyPr wrap="none" lIns="0" tIns="0" rIns="0" bIns="0" anchor="t" anchorCtr="0">
              <a:spAutoFit/>
            </a:bodyPr>
            <a:lstStyle/>
            <a:p>
              <a:pPr algn="l"/>
              <a:r>
                <a:rPr lang="en" sz="1050" b="1" dirty="0">
                  <a:solidFill>
                    <a:srgbClr val="1E40AF"/>
                  </a:solidFill>
                  <a:latin typeface="+mn-lt"/>
                  <a:ea typeface="+mn-ea"/>
                  <a:cs typeface="+mn-cs"/>
                </a:rPr>
                <a:t>0.638</a:t>
              </a:r>
            </a:p>
          </p:txBody>
        </p:sp>
        <p:sp>
          <p:nvSpPr>
            <p:cNvPr id="22" name="Line 22"/>
            <p:cNvSpPr/>
            <p:nvPr/>
          </p:nvSpPr>
          <p:spPr>
            <a:xfrm>
              <a:off x="762000" y="3333750"/>
              <a:ext cx="5600700" cy="9525"/>
            </a:xfrm>
            <a:custGeom>
              <a:avLst/>
              <a:gdLst/>
              <a:ahLst/>
              <a:cxnLst/>
              <a:rect l="l" t="t" r="r" b="b"/>
              <a:pathLst>
                <a:path w="5600700" h="9525">
                  <a:moveTo>
                    <a:pt x="0" y="0"/>
                  </a:moveTo>
                  <a:lnTo>
                    <a:pt x="5600700" y="0"/>
                  </a:lnTo>
                </a:path>
              </a:pathLst>
            </a:custGeom>
            <a:noFill/>
            <a:ln w="9525">
              <a:solidFill>
                <a:schemeClr val="accent6"/>
              </a:solidFill>
            </a:ln>
          </p:spPr>
          <p:txBody>
            <a:bodyPr/>
            <a:lstStyle/>
            <a:p>
              <a:endParaRPr lang="zh-CN" altLang="en-US"/>
            </a:p>
          </p:txBody>
        </p:sp>
        <p:sp>
          <p:nvSpPr>
            <p:cNvPr id="23" name="TextBox 23"/>
            <p:cNvSpPr txBox="1"/>
            <p:nvPr/>
          </p:nvSpPr>
          <p:spPr>
            <a:xfrm>
              <a:off x="909066" y="3530600"/>
              <a:ext cx="1138703"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Teacher YOLO26x</a:t>
              </a:r>
            </a:p>
          </p:txBody>
        </p:sp>
        <p:sp>
          <p:nvSpPr>
            <p:cNvPr id="24" name="TextBox 24"/>
            <p:cNvSpPr txBox="1"/>
            <p:nvPr/>
          </p:nvSpPr>
          <p:spPr>
            <a:xfrm>
              <a:off x="3147441" y="3530600"/>
              <a:ext cx="346122"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0.707</a:t>
              </a:r>
            </a:p>
          </p:txBody>
        </p:sp>
        <p:sp>
          <p:nvSpPr>
            <p:cNvPr id="25" name="TextBox 25"/>
            <p:cNvSpPr txBox="1"/>
            <p:nvPr/>
          </p:nvSpPr>
          <p:spPr>
            <a:xfrm>
              <a:off x="4823841" y="3530600"/>
              <a:ext cx="346122" cy="205359"/>
            </a:xfrm>
            <a:prstGeom prst="rect">
              <a:avLst/>
            </a:prstGeom>
            <a:noFill/>
            <a:ln>
              <a:noFill/>
            </a:ln>
          </p:spPr>
          <p:txBody>
            <a:bodyPr wrap="none" lIns="0" tIns="0" rIns="0" bIns="0" anchor="t" anchorCtr="0">
              <a:spAutoFit/>
            </a:bodyPr>
            <a:lstStyle/>
            <a:p>
              <a:pPr algn="l"/>
              <a:r>
                <a:rPr lang="en" sz="1050" dirty="0">
                  <a:solidFill>
                    <a:schemeClr val="accent5"/>
                  </a:solidFill>
                  <a:latin typeface="+mn-lt"/>
                  <a:ea typeface="+mn-ea"/>
                  <a:cs typeface="+mn-cs"/>
                </a:rPr>
                <a:t>0.775</a:t>
              </a:r>
            </a:p>
          </p:txBody>
        </p:sp>
        <p:sp>
          <p:nvSpPr>
            <p:cNvPr id="26" name="Line 26"/>
            <p:cNvSpPr/>
            <p:nvPr/>
          </p:nvSpPr>
          <p:spPr>
            <a:xfrm>
              <a:off x="762000" y="3810000"/>
              <a:ext cx="5600700" cy="9525"/>
            </a:xfrm>
            <a:custGeom>
              <a:avLst/>
              <a:gdLst/>
              <a:ahLst/>
              <a:cxnLst/>
              <a:rect l="l" t="t" r="r" b="b"/>
              <a:pathLst>
                <a:path w="5600700" h="9525">
                  <a:moveTo>
                    <a:pt x="0" y="0"/>
                  </a:moveTo>
                  <a:lnTo>
                    <a:pt x="5600700" y="0"/>
                  </a:lnTo>
                </a:path>
              </a:pathLst>
            </a:custGeom>
            <a:noFill/>
            <a:ln w="9525">
              <a:solidFill>
                <a:schemeClr val="accent6"/>
              </a:solidFill>
            </a:ln>
          </p:spPr>
          <p:txBody>
            <a:bodyPr/>
            <a:lstStyle/>
            <a:p>
              <a:endParaRPr lang="zh-CN" altLang="en-US"/>
            </a:p>
          </p:txBody>
        </p:sp>
        <p:sp>
          <p:nvSpPr>
            <p:cNvPr id="27" name="TextBox 27"/>
            <p:cNvSpPr txBox="1"/>
            <p:nvPr/>
          </p:nvSpPr>
          <p:spPr>
            <a:xfrm>
              <a:off x="909447" y="3968750"/>
              <a:ext cx="4042775"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Agreement with the frozen teacher; teacher row is a reference ceiling.</a:t>
              </a:r>
            </a:p>
          </p:txBody>
        </p:sp>
      </p:grpSp>
      <p:grpSp>
        <p:nvGrpSpPr>
          <p:cNvPr id="39" name="p08-stats"/>
          <p:cNvGrpSpPr/>
          <p:nvPr/>
        </p:nvGrpSpPr>
        <p:grpSpPr>
          <a:xfrm>
            <a:off x="6743700" y="1333500"/>
            <a:ext cx="4838700" cy="3048000"/>
            <a:chOff x="6743700" y="1333500"/>
            <a:chExt cx="4838700" cy="3048000"/>
          </a:xfrm>
        </p:grpSpPr>
        <p:sp>
          <p:nvSpPr>
            <p:cNvPr id="29" name="Rectangle 29"/>
            <p:cNvSpPr/>
            <p:nvPr/>
          </p:nvSpPr>
          <p:spPr>
            <a:xfrm>
              <a:off x="6743700" y="1333500"/>
              <a:ext cx="4838700" cy="3048000"/>
            </a:xfrm>
            <a:prstGeom prst="roundRect">
              <a:avLst>
                <a:gd name="adj" fmla="val 3750"/>
              </a:avLst>
            </a:prstGeom>
            <a:solidFill>
              <a:srgbClr val="FFFFFF"/>
            </a:solidFill>
            <a:ln w="9525">
              <a:solidFill>
                <a:schemeClr val="accent6"/>
              </a:solidFill>
            </a:ln>
          </p:spPr>
          <p:txBody>
            <a:bodyPr/>
            <a:lstStyle/>
            <a:p>
              <a:endParaRPr lang="zh-CN" altLang="en-US"/>
            </a:p>
          </p:txBody>
        </p:sp>
        <p:sp>
          <p:nvSpPr>
            <p:cNvPr id="30" name="TextBox 30"/>
            <p:cNvSpPr txBox="1"/>
            <p:nvPr/>
          </p:nvSpPr>
          <p:spPr>
            <a:xfrm>
              <a:off x="6967538" y="1555750"/>
              <a:ext cx="4572000" cy="176212"/>
            </a:xfrm>
            <a:prstGeom prst="rect">
              <a:avLst/>
            </a:prstGeom>
            <a:noFill/>
            <a:ln>
              <a:noFill/>
            </a:ln>
          </p:spPr>
          <p:txBody>
            <a:bodyPr wrap="none" lIns="0" tIns="0" rIns="0" bIns="0" anchor="t" anchorCtr="0">
              <a:spAutoFit/>
            </a:bodyPr>
            <a:lstStyle/>
            <a:p>
              <a:pPr algn="l"/>
              <a:r>
                <a:rPr sz="900" b="1">
                  <a:solidFill>
                    <a:srgbClr val="0D9488"/>
                  </a:solidFill>
                  <a:latin typeface="Consolas"/>
                </a:rPr>
                <a:t>HOW TO READ THE TABLE</a:t>
              </a:r>
            </a:p>
          </p:txBody>
        </p:sp>
        <p:sp>
          <p:nvSpPr>
            <p:cNvPr id="31" name="TextBox 31"/>
            <p:cNvSpPr txBox="1"/>
            <p:nvPr/>
          </p:nvSpPr>
          <p:spPr>
            <a:xfrm>
              <a:off x="6966204" y="1847850"/>
              <a:ext cx="4572000" cy="234696"/>
            </a:xfrm>
            <a:prstGeom prst="rect">
              <a:avLst/>
            </a:prstGeom>
            <a:noFill/>
            <a:ln>
              <a:noFill/>
            </a:ln>
          </p:spPr>
          <p:txBody>
            <a:bodyPr wrap="none" lIns="0" tIns="0" rIns="0" bIns="0" anchor="t" anchorCtr="0">
              <a:spAutoFit/>
            </a:bodyPr>
            <a:lstStyle/>
            <a:p>
              <a:pPr algn="l"/>
              <a:r>
                <a:rPr sz="1200" b="1">
                  <a:solidFill>
                    <a:srgbClr val="0F172A"/>
                  </a:solidFill>
                  <a:latin typeface="Segoe UI"/>
                </a:rPr>
                <a:t>Metric: teacher agreement on LTA</a:t>
              </a:r>
            </a:p>
          </p:txBody>
        </p:sp>
        <p:sp>
          <p:nvSpPr>
            <p:cNvPr id="32" name="TextBox 32"/>
            <p:cNvSpPr txBox="1"/>
            <p:nvPr/>
          </p:nvSpPr>
          <p:spPr>
            <a:xfrm>
              <a:off x="6966966" y="2101850"/>
              <a:ext cx="457200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Not human accuracy; teacher row is the ceiling.</a:t>
              </a:r>
            </a:p>
          </p:txBody>
        </p:sp>
        <p:sp>
          <p:nvSpPr>
            <p:cNvPr id="33" name="TextBox 33"/>
            <p:cNvSpPr txBox="1"/>
            <p:nvPr/>
          </p:nvSpPr>
          <p:spPr>
            <a:xfrm>
              <a:off x="6966204" y="2476500"/>
              <a:ext cx="4572000" cy="234696"/>
            </a:xfrm>
            <a:prstGeom prst="rect">
              <a:avLst/>
            </a:prstGeom>
            <a:noFill/>
            <a:ln>
              <a:noFill/>
            </a:ln>
          </p:spPr>
          <p:txBody>
            <a:bodyPr wrap="none" lIns="0" tIns="0" rIns="0" bIns="0" anchor="t" anchorCtr="0">
              <a:spAutoFit/>
            </a:bodyPr>
            <a:lstStyle/>
            <a:p>
              <a:pPr algn="l"/>
              <a:r>
                <a:rPr sz="1200" b="1">
                  <a:solidFill>
                    <a:srgbClr val="0F172A"/>
                  </a:solidFill>
                  <a:latin typeface="Segoe UI"/>
                </a:rPr>
                <a:t>At 960 px: joint &gt; pretrained &gt; MIO-only</a:t>
              </a:r>
            </a:p>
          </p:txBody>
        </p:sp>
        <p:sp>
          <p:nvSpPr>
            <p:cNvPr id="34" name="TextBox 34"/>
            <p:cNvSpPr txBox="1"/>
            <p:nvPr/>
          </p:nvSpPr>
          <p:spPr>
            <a:xfrm>
              <a:off x="6966966" y="2730500"/>
              <a:ext cx="457200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0.635 &gt; 0.555 &gt; 0.175.</a:t>
              </a:r>
            </a:p>
          </p:txBody>
        </p:sp>
        <p:sp>
          <p:nvSpPr>
            <p:cNvPr id="35" name="TextBox 35"/>
            <p:cNvSpPr txBox="1"/>
            <p:nvPr/>
          </p:nvSpPr>
          <p:spPr>
            <a:xfrm>
              <a:off x="6966204" y="3105150"/>
              <a:ext cx="4572000" cy="234696"/>
            </a:xfrm>
            <a:prstGeom prst="rect">
              <a:avLst/>
            </a:prstGeom>
            <a:noFill/>
            <a:ln>
              <a:noFill/>
            </a:ln>
          </p:spPr>
          <p:txBody>
            <a:bodyPr wrap="none" lIns="0" tIns="0" rIns="0" bIns="0" anchor="t" anchorCtr="0">
              <a:spAutoFit/>
            </a:bodyPr>
            <a:lstStyle/>
            <a:p>
              <a:pPr algn="l"/>
              <a:r>
                <a:rPr sz="1200" b="1">
                  <a:solidFill>
                    <a:srgbClr val="0F172A"/>
                  </a:solidFill>
                  <a:latin typeface="Segoe UI"/>
                </a:rPr>
                <a:t>At 1280 px: pretrained &gt; joint &gt; MIO-only</a:t>
              </a:r>
            </a:p>
          </p:txBody>
        </p:sp>
        <p:sp>
          <p:nvSpPr>
            <p:cNvPr id="36" name="TextBox 36"/>
            <p:cNvSpPr txBox="1"/>
            <p:nvPr/>
          </p:nvSpPr>
          <p:spPr>
            <a:xfrm>
              <a:off x="6966966" y="3359150"/>
              <a:ext cx="457200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0.660 &gt; 0.638 &gt; 0.201.</a:t>
              </a:r>
            </a:p>
          </p:txBody>
        </p:sp>
        <p:sp>
          <p:nvSpPr>
            <p:cNvPr id="37" name="TextBox 37"/>
            <p:cNvSpPr txBox="1"/>
            <p:nvPr/>
          </p:nvSpPr>
          <p:spPr>
            <a:xfrm>
              <a:off x="6966204" y="3733800"/>
              <a:ext cx="4572000" cy="234696"/>
            </a:xfrm>
            <a:prstGeom prst="rect">
              <a:avLst/>
            </a:prstGeom>
            <a:noFill/>
            <a:ln>
              <a:noFill/>
            </a:ln>
          </p:spPr>
          <p:txBody>
            <a:bodyPr wrap="none" lIns="0" tIns="0" rIns="0" bIns="0" anchor="t" anchorCtr="0">
              <a:spAutoFit/>
            </a:bodyPr>
            <a:lstStyle/>
            <a:p>
              <a:pPr algn="l"/>
              <a:r>
                <a:rPr sz="1200" b="1">
                  <a:solidFill>
                    <a:srgbClr val="0F172A"/>
                  </a:solidFill>
                  <a:latin typeface="Segoe UI"/>
                </a:rPr>
                <a:t>Night sets the count limit</a:t>
              </a:r>
            </a:p>
          </p:txBody>
        </p:sp>
        <p:sp>
          <p:nvSpPr>
            <p:cNvPr id="38" name="TextBox 38"/>
            <p:cNvSpPr txBox="1"/>
            <p:nvPr/>
          </p:nvSpPr>
          <p:spPr>
            <a:xfrm>
              <a:off x="6966966" y="3987800"/>
              <a:ext cx="457200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1,437 of 1,478 zero-detection frames are at night.</a:t>
              </a:r>
            </a:p>
          </p:txBody>
        </p:sp>
      </p:grpSp>
      <p:grpSp>
        <p:nvGrpSpPr>
          <p:cNvPr id="42" name="p08-statement"/>
          <p:cNvGrpSpPr/>
          <p:nvPr/>
        </p:nvGrpSpPr>
        <p:grpSpPr>
          <a:xfrm>
            <a:off x="609600" y="4572000"/>
            <a:ext cx="10972800" cy="762000"/>
            <a:chOff x="609600" y="4572000"/>
            <a:chExt cx="10972800" cy="762000"/>
          </a:xfrm>
        </p:grpSpPr>
        <p:sp>
          <p:nvSpPr>
            <p:cNvPr id="40" name="Rectangle 40"/>
            <p:cNvSpPr/>
            <p:nvPr/>
          </p:nvSpPr>
          <p:spPr>
            <a:xfrm>
              <a:off x="609600" y="4572000"/>
              <a:ext cx="10972800" cy="762000"/>
            </a:xfrm>
            <a:prstGeom prst="roundRect">
              <a:avLst>
                <a:gd name="adj" fmla="val 15000"/>
              </a:avLst>
            </a:prstGeom>
            <a:solidFill>
              <a:srgbClr val="DBEAFE"/>
            </a:solidFill>
            <a:ln>
              <a:noFill/>
            </a:ln>
          </p:spPr>
          <p:txBody>
            <a:bodyPr/>
            <a:lstStyle/>
            <a:p>
              <a:endParaRPr lang="zh-CN" altLang="en-US"/>
            </a:p>
          </p:txBody>
        </p:sp>
        <p:sp>
          <p:nvSpPr>
            <p:cNvPr id="41" name="TextBox 41"/>
            <p:cNvSpPr txBox="1"/>
            <p:nvPr/>
          </p:nvSpPr>
          <p:spPr>
            <a:xfrm>
              <a:off x="832104" y="4736592"/>
              <a:ext cx="10515600" cy="475488"/>
            </a:xfrm>
            <a:prstGeom prst="rect">
              <a:avLst/>
            </a:prstGeom>
            <a:noFill/>
            <a:ln>
              <a:noFill/>
            </a:ln>
          </p:spPr>
          <p:txBody>
            <a:bodyPr wrap="square" lIns="0" tIns="0" rIns="0" bIns="0" anchor="t" anchorCtr="0">
              <a:spAutoFit/>
            </a:bodyPr>
            <a:lstStyle/>
            <a:p>
              <a:pPr algn="l"/>
              <a:r>
                <a:rPr sz="1200" b="1">
                  <a:solidFill>
                    <a:srgbClr val="1E40AF"/>
                  </a:solidFill>
                  <a:latin typeface="Segoe UI"/>
                </a:rPr>
                <a:t>Higher resolution favors pretrained; joint training buys LTA recall.</a:t>
              </a:r>
            </a:p>
            <a:p>
              <a:pPr>
                <a:spcBef>
                  <a:spcPts val="400"/>
                </a:spcBef>
              </a:pPr>
              <a:r>
                <a:rPr sz="1050" b="0">
                  <a:solidFill>
                    <a:srgbClr val="1E3A8A"/>
                  </a:solidFill>
                  <a:latin typeface="Segoe UI"/>
                </a:rPr>
                <a:t>These are teacher-agreement numbers; human-corrected results are on the previous page.</a:t>
              </a:r>
            </a:p>
          </p:txBody>
        </p:sp>
      </p:grpSp>
      <p:grpSp>
        <p:nvGrpSpPr>
          <p:cNvPr id="45" name="p08-footer"/>
          <p:cNvGrpSpPr/>
          <p:nvPr/>
        </p:nvGrpSpPr>
        <p:grpSpPr>
          <a:xfrm>
            <a:off x="609600" y="6515100"/>
            <a:ext cx="10977753" cy="265111"/>
            <a:chOff x="609600" y="6515100"/>
            <a:chExt cx="10977753" cy="265111"/>
          </a:xfrm>
        </p:grpSpPr>
        <p:sp>
          <p:nvSpPr>
            <p:cNvPr id="43" name="Line 43"/>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44" name="TextBox 44"/>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9-title"/>
          <p:cNvGrpSpPr/>
          <p:nvPr/>
        </p:nvGrpSpPr>
        <p:grpSpPr>
          <a:xfrm>
            <a:off x="594360" y="419100"/>
            <a:ext cx="10413206" cy="789940"/>
            <a:chOff x="594360" y="419100"/>
            <a:chExt cx="10413206"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2 · DETECTION</a:t>
              </a:r>
            </a:p>
          </p:txBody>
        </p:sp>
        <p:sp>
          <p:nvSpPr>
            <p:cNvPr id="3" name="TextBox 3"/>
            <p:cNvSpPr txBox="1"/>
            <p:nvPr/>
          </p:nvSpPr>
          <p:spPr>
            <a:xfrm>
              <a:off x="594360" y="622300"/>
              <a:ext cx="10413206"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Road regions support filtering and congestion grading</a:t>
              </a:r>
            </a:p>
          </p:txBody>
        </p:sp>
      </p:grpSp>
      <p:grpSp>
        <p:nvGrpSpPr>
          <p:cNvPr id="15" name="p09-step1"/>
          <p:cNvGrpSpPr/>
          <p:nvPr/>
        </p:nvGrpSpPr>
        <p:grpSpPr>
          <a:xfrm>
            <a:off x="609600" y="1333500"/>
            <a:ext cx="2400300" cy="1238250"/>
            <a:chOff x="609600" y="1333500"/>
            <a:chExt cx="2400300" cy="1238250"/>
          </a:xfrm>
        </p:grpSpPr>
        <p:sp>
          <p:nvSpPr>
            <p:cNvPr id="5" name="Rectangle 5"/>
            <p:cNvSpPr/>
            <p:nvPr/>
          </p:nvSpPr>
          <p:spPr>
            <a:xfrm>
              <a:off x="609600" y="1333500"/>
              <a:ext cx="2400300" cy="1238250"/>
            </a:xfrm>
            <a:prstGeom prst="roundRect">
              <a:avLst>
                <a:gd name="adj" fmla="val 9231"/>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00100" y="1504950"/>
              <a:ext cx="266700" cy="266700"/>
            </a:xfrm>
            <a:prstGeom prst="roundRect">
              <a:avLst>
                <a:gd name="adj" fmla="val 21429"/>
              </a:avLst>
            </a:prstGeom>
            <a:solidFill>
              <a:srgbClr val="DBEAFE"/>
            </a:solidFill>
            <a:ln>
              <a:noFill/>
            </a:ln>
          </p:spPr>
          <p:txBody>
            <a:bodyPr/>
            <a:lstStyle/>
            <a:p>
              <a:endParaRPr lang="zh-CN" altLang="en-US"/>
            </a:p>
          </p:txBody>
        </p:sp>
        <p:sp>
          <p:nvSpPr>
            <p:cNvPr id="7" name="TextBox 7"/>
            <p:cNvSpPr txBox="1"/>
            <p:nvPr/>
          </p:nvSpPr>
          <p:spPr>
            <a:xfrm>
              <a:off x="862051" y="15843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01</a:t>
              </a:r>
            </a:p>
          </p:txBody>
        </p:sp>
        <p:sp>
          <p:nvSpPr>
            <p:cNvPr id="8" name="TextBox 8"/>
            <p:cNvSpPr txBox="1"/>
            <p:nvPr/>
          </p:nvSpPr>
          <p:spPr>
            <a:xfrm>
              <a:off x="1175004" y="1543050"/>
              <a:ext cx="947270"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Road region</a:t>
              </a:r>
            </a:p>
          </p:txBody>
        </p:sp>
        <p:grpSp>
          <p:nvGrpSpPr>
            <p:cNvPr id="13" name="Group 13"/>
            <p:cNvGrpSpPr/>
            <p:nvPr/>
          </p:nvGrpSpPr>
          <p:grpSpPr>
            <a:xfrm>
              <a:off x="2682875" y="1539875"/>
              <a:ext cx="158750" cy="158750"/>
              <a:chOff x="2682875" y="1539875"/>
              <a:chExt cx="158750" cy="158750"/>
            </a:xfrm>
          </p:grpSpPr>
          <p:sp>
            <p:nvSpPr>
              <p:cNvPr id="9" name="Freeform 9"/>
              <p:cNvSpPr/>
              <p:nvPr/>
            </p:nvSpPr>
            <p:spPr>
              <a:xfrm>
                <a:off x="2682875" y="1635125"/>
                <a:ext cx="63500" cy="63500"/>
              </a:xfrm>
              <a:custGeom>
                <a:avLst/>
                <a:gdLst/>
                <a:ahLst/>
                <a:cxnLst/>
                <a:rect l="l" t="t" r="r" b="b"/>
                <a:pathLst>
                  <a:path w="63500" h="63500">
                    <a:moveTo>
                      <a:pt x="0" y="21169"/>
                    </a:moveTo>
                    <a:cubicBezTo>
                      <a:pt x="0" y="9478"/>
                      <a:pt x="9478"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15555" y="63500"/>
                      <a:pt x="10170" y="61270"/>
                      <a:pt x="6200" y="57300"/>
                    </a:cubicBezTo>
                    <a:cubicBezTo>
                      <a:pt x="2230" y="53330"/>
                      <a:pt x="0" y="47945"/>
                      <a:pt x="0" y="42331"/>
                    </a:cubicBezTo>
                    <a:close/>
                  </a:path>
                </a:pathLst>
              </a:custGeom>
              <a:solidFill>
                <a:schemeClr val="accent2"/>
              </a:solidFill>
              <a:ln>
                <a:noFill/>
              </a:ln>
            </p:spPr>
            <p:txBody>
              <a:bodyPr/>
              <a:lstStyle/>
              <a:p>
                <a:endParaRPr lang="zh-CN" altLang="en-US"/>
              </a:p>
            </p:txBody>
          </p:sp>
          <p:sp>
            <p:nvSpPr>
              <p:cNvPr id="10" name="Freeform 10"/>
              <p:cNvSpPr/>
              <p:nvPr/>
            </p:nvSpPr>
            <p:spPr>
              <a:xfrm>
                <a:off x="2778125" y="1635125"/>
                <a:ext cx="63500" cy="63500"/>
              </a:xfrm>
              <a:custGeom>
                <a:avLst/>
                <a:gdLst/>
                <a:ahLst/>
                <a:cxnLst/>
                <a:rect l="l" t="t" r="r" b="b"/>
                <a:pathLst>
                  <a:path w="63500" h="63500">
                    <a:moveTo>
                      <a:pt x="0" y="21169"/>
                    </a:moveTo>
                    <a:cubicBezTo>
                      <a:pt x="0" y="15555"/>
                      <a:pt x="2230" y="10170"/>
                      <a:pt x="6200" y="6200"/>
                    </a:cubicBezTo>
                    <a:cubicBezTo>
                      <a:pt x="10170" y="2230"/>
                      <a:pt x="15555"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15555" y="63500"/>
                      <a:pt x="10170" y="61270"/>
                      <a:pt x="6200" y="57300"/>
                    </a:cubicBezTo>
                    <a:cubicBezTo>
                      <a:pt x="2230" y="53330"/>
                      <a:pt x="0" y="47945"/>
                      <a:pt x="0" y="42331"/>
                    </a:cubicBezTo>
                    <a:close/>
                  </a:path>
                </a:pathLst>
              </a:custGeom>
              <a:solidFill>
                <a:schemeClr val="accent2"/>
              </a:solidFill>
              <a:ln>
                <a:noFill/>
              </a:ln>
            </p:spPr>
            <p:txBody>
              <a:bodyPr/>
              <a:lstStyle/>
              <a:p>
                <a:endParaRPr lang="zh-CN" altLang="en-US"/>
              </a:p>
            </p:txBody>
          </p:sp>
          <p:sp>
            <p:nvSpPr>
              <p:cNvPr id="11" name="Freeform 11"/>
              <p:cNvSpPr/>
              <p:nvPr/>
            </p:nvSpPr>
            <p:spPr>
              <a:xfrm>
                <a:off x="2730500" y="1539875"/>
                <a:ext cx="63500" cy="63500"/>
              </a:xfrm>
              <a:custGeom>
                <a:avLst/>
                <a:gdLst/>
                <a:ahLst/>
                <a:cxnLst/>
                <a:rect l="l" t="t" r="r" b="b"/>
                <a:pathLst>
                  <a:path w="63500" h="63500">
                    <a:moveTo>
                      <a:pt x="0" y="21169"/>
                    </a:moveTo>
                    <a:cubicBezTo>
                      <a:pt x="0" y="9478"/>
                      <a:pt x="9478" y="0"/>
                      <a:pt x="21169" y="0"/>
                    </a:cubicBezTo>
                    <a:lnTo>
                      <a:pt x="42331" y="0"/>
                    </a:lnTo>
                    <a:cubicBezTo>
                      <a:pt x="54022" y="0"/>
                      <a:pt x="63500" y="9478"/>
                      <a:pt x="63500" y="21169"/>
                    </a:cubicBezTo>
                    <a:lnTo>
                      <a:pt x="63500" y="42331"/>
                    </a:lnTo>
                    <a:cubicBezTo>
                      <a:pt x="63500" y="54022"/>
                      <a:pt x="54022" y="63500"/>
                      <a:pt x="42331" y="63500"/>
                    </a:cubicBezTo>
                    <a:lnTo>
                      <a:pt x="21169" y="63500"/>
                    </a:lnTo>
                    <a:cubicBezTo>
                      <a:pt x="9478" y="63500"/>
                      <a:pt x="0" y="54022"/>
                      <a:pt x="0" y="42331"/>
                    </a:cubicBezTo>
                    <a:close/>
                  </a:path>
                </a:pathLst>
              </a:custGeom>
              <a:solidFill>
                <a:schemeClr val="accent2"/>
              </a:solidFill>
              <a:ln>
                <a:noFill/>
              </a:ln>
            </p:spPr>
            <p:txBody>
              <a:bodyPr/>
              <a:lstStyle/>
              <a:p>
                <a:endParaRPr lang="zh-CN" altLang="en-US"/>
              </a:p>
            </p:txBody>
          </p:sp>
          <p:sp>
            <p:nvSpPr>
              <p:cNvPr id="12" name="Freeform 12"/>
              <p:cNvSpPr/>
              <p:nvPr/>
            </p:nvSpPr>
            <p:spPr>
              <a:xfrm>
                <a:off x="2706687" y="1587500"/>
                <a:ext cx="111125" cy="63500"/>
              </a:xfrm>
              <a:custGeom>
                <a:avLst/>
                <a:gdLst/>
                <a:ahLst/>
                <a:cxnLst/>
                <a:rect l="l" t="t" r="r" b="b"/>
                <a:pathLst>
                  <a:path w="111125" h="63500">
                    <a:moveTo>
                      <a:pt x="55562" y="0"/>
                    </a:moveTo>
                    <a:cubicBezTo>
                      <a:pt x="51179" y="0"/>
                      <a:pt x="47625" y="3554"/>
                      <a:pt x="47625" y="7937"/>
                    </a:cubicBezTo>
                    <a:lnTo>
                      <a:pt x="47625" y="23812"/>
                    </a:lnTo>
                    <a:lnTo>
                      <a:pt x="23812" y="23812"/>
                    </a:lnTo>
                    <a:cubicBezTo>
                      <a:pt x="10755" y="23812"/>
                      <a:pt x="0" y="34568"/>
                      <a:pt x="0" y="47625"/>
                    </a:cubicBezTo>
                    <a:lnTo>
                      <a:pt x="0" y="55562"/>
                    </a:lnTo>
                    <a:cubicBezTo>
                      <a:pt x="0" y="59946"/>
                      <a:pt x="3554" y="63500"/>
                      <a:pt x="7937" y="63500"/>
                    </a:cubicBezTo>
                    <a:cubicBezTo>
                      <a:pt x="12321" y="63500"/>
                      <a:pt x="15875" y="59946"/>
                      <a:pt x="15875" y="55562"/>
                    </a:cubicBezTo>
                    <a:lnTo>
                      <a:pt x="15875" y="47625"/>
                    </a:lnTo>
                    <a:cubicBezTo>
                      <a:pt x="15875" y="43148"/>
                      <a:pt x="19336" y="39687"/>
                      <a:pt x="23812" y="39687"/>
                    </a:cubicBezTo>
                    <a:lnTo>
                      <a:pt x="87312" y="39687"/>
                    </a:lnTo>
                    <a:cubicBezTo>
                      <a:pt x="91789" y="39687"/>
                      <a:pt x="95250" y="43148"/>
                      <a:pt x="95250" y="47625"/>
                    </a:cubicBezTo>
                    <a:lnTo>
                      <a:pt x="95250" y="55562"/>
                    </a:lnTo>
                    <a:cubicBezTo>
                      <a:pt x="95250" y="59946"/>
                      <a:pt x="98804" y="63500"/>
                      <a:pt x="103187" y="63500"/>
                    </a:cubicBezTo>
                    <a:cubicBezTo>
                      <a:pt x="107571" y="63500"/>
                      <a:pt x="111125" y="59946"/>
                      <a:pt x="111125" y="55562"/>
                    </a:cubicBezTo>
                    <a:lnTo>
                      <a:pt x="111125" y="47625"/>
                    </a:lnTo>
                    <a:cubicBezTo>
                      <a:pt x="111125" y="34568"/>
                      <a:pt x="100370" y="23812"/>
                      <a:pt x="87312" y="23812"/>
                    </a:cubicBezTo>
                    <a:lnTo>
                      <a:pt x="63500" y="23812"/>
                    </a:lnTo>
                    <a:lnTo>
                      <a:pt x="63500" y="7937"/>
                    </a:lnTo>
                    <a:cubicBezTo>
                      <a:pt x="63500" y="3554"/>
                      <a:pt x="59946" y="0"/>
                      <a:pt x="55562" y="0"/>
                    </a:cubicBezTo>
                    <a:close/>
                  </a:path>
                </a:pathLst>
              </a:custGeom>
              <a:solidFill>
                <a:schemeClr val="accent2"/>
              </a:solidFill>
              <a:ln>
                <a:noFill/>
              </a:ln>
            </p:spPr>
            <p:txBody>
              <a:bodyPr/>
              <a:lstStyle/>
              <a:p>
                <a:endParaRPr lang="zh-CN" altLang="en-US"/>
              </a:p>
            </p:txBody>
          </p:sp>
        </p:grpSp>
        <p:sp>
          <p:nvSpPr>
            <p:cNvPr id="14" name="TextBox 14"/>
            <p:cNvSpPr txBox="1"/>
            <p:nvPr/>
          </p:nvSpPr>
          <p:spPr>
            <a:xfrm>
              <a:off x="795147" y="1892300"/>
              <a:ext cx="1836867" cy="401193"/>
            </a:xfrm>
            <a:prstGeom prst="rect">
              <a:avLst/>
            </a:prstGeom>
            <a:noFill/>
            <a:ln>
              <a:noFill/>
            </a:ln>
          </p:spPr>
          <p:txBody>
            <a:bodyPr wrap="none" lIns="0" tIns="0" rIns="0" bIns="0" anchor="t" anchorCtr="0">
              <a:spAutoFit/>
            </a:bodyPr>
            <a:lstStyle/>
            <a:p>
              <a:pPr algn="l">
                <a:lnSpc>
                  <a:spcPts val="1650"/>
                </a:lnSpc>
              </a:pPr>
              <a:r>
                <a:rPr lang="en" sz="980" dirty="0">
                  <a:solidFill>
                    <a:schemeClr val="dk1"/>
                  </a:solidFill>
                  <a:latin typeface="+mn-lt"/>
                  <a:ea typeface="+mn-ea"/>
                  <a:cs typeface="+mn-cs"/>
                </a:rPr>
                <a:t>Road polygons, exclusion set and</a:t>
              </a:r>
              <a:br>
                <a:rPr lang="en" sz="980" dirty="0">
                  <a:solidFill>
                    <a:schemeClr val="dk1"/>
                  </a:solidFill>
                  <a:latin typeface="+mn-lt"/>
                  <a:ea typeface="+mn-ea"/>
                  <a:cs typeface="+mn-cs"/>
                </a:rPr>
              </a:br>
              <a:r>
                <a:rPr lang="en" sz="980" dirty="0">
                  <a:solidFill>
                    <a:schemeClr val="dk1"/>
                  </a:solidFill>
                  <a:latin typeface="+mn-lt"/>
                  <a:ea typeface="+mn-ea"/>
                  <a:cs typeface="+mn-cs"/>
                </a:rPr>
                <a:t>detection zones per camera</a:t>
              </a:r>
            </a:p>
          </p:txBody>
        </p:sp>
      </p:grpSp>
      <p:grpSp>
        <p:nvGrpSpPr>
          <p:cNvPr id="22" name="p09-step2"/>
          <p:cNvGrpSpPr/>
          <p:nvPr/>
        </p:nvGrpSpPr>
        <p:grpSpPr>
          <a:xfrm>
            <a:off x="3238500" y="1333500"/>
            <a:ext cx="2400300" cy="1238250"/>
            <a:chOff x="3238500" y="1333500"/>
            <a:chExt cx="2400300" cy="1238250"/>
          </a:xfrm>
        </p:grpSpPr>
        <p:sp>
          <p:nvSpPr>
            <p:cNvPr id="16" name="Rectangle 16"/>
            <p:cNvSpPr/>
            <p:nvPr/>
          </p:nvSpPr>
          <p:spPr>
            <a:xfrm>
              <a:off x="3238500" y="1333500"/>
              <a:ext cx="2400300" cy="1238250"/>
            </a:xfrm>
            <a:prstGeom prst="roundRect">
              <a:avLst>
                <a:gd name="adj" fmla="val 9231"/>
              </a:avLst>
            </a:prstGeom>
            <a:solidFill>
              <a:srgbClr val="FFFFFF"/>
            </a:solidFill>
            <a:ln w="9525">
              <a:solidFill>
                <a:schemeClr val="accent6"/>
              </a:solidFill>
            </a:ln>
          </p:spPr>
          <p:txBody>
            <a:bodyPr/>
            <a:lstStyle/>
            <a:p>
              <a:endParaRPr lang="zh-CN" altLang="en-US"/>
            </a:p>
          </p:txBody>
        </p:sp>
        <p:sp>
          <p:nvSpPr>
            <p:cNvPr id="17" name="Rectangle 17"/>
            <p:cNvSpPr/>
            <p:nvPr/>
          </p:nvSpPr>
          <p:spPr>
            <a:xfrm>
              <a:off x="3429000" y="1504950"/>
              <a:ext cx="266700" cy="266700"/>
            </a:xfrm>
            <a:prstGeom prst="roundRect">
              <a:avLst>
                <a:gd name="adj" fmla="val 21429"/>
              </a:avLst>
            </a:prstGeom>
            <a:solidFill>
              <a:srgbClr val="DBEAFE"/>
            </a:solidFill>
            <a:ln>
              <a:noFill/>
            </a:ln>
          </p:spPr>
          <p:txBody>
            <a:bodyPr/>
            <a:lstStyle/>
            <a:p>
              <a:endParaRPr lang="zh-CN" altLang="en-US"/>
            </a:p>
          </p:txBody>
        </p:sp>
        <p:sp>
          <p:nvSpPr>
            <p:cNvPr id="18" name="TextBox 18"/>
            <p:cNvSpPr txBox="1"/>
            <p:nvPr/>
          </p:nvSpPr>
          <p:spPr>
            <a:xfrm>
              <a:off x="3490951" y="15843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02</a:t>
              </a:r>
            </a:p>
          </p:txBody>
        </p:sp>
        <p:sp>
          <p:nvSpPr>
            <p:cNvPr id="19" name="TextBox 19"/>
            <p:cNvSpPr txBox="1"/>
            <p:nvPr/>
          </p:nvSpPr>
          <p:spPr>
            <a:xfrm>
              <a:off x="3803904" y="1543050"/>
              <a:ext cx="820764"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Road filter</a:t>
              </a:r>
            </a:p>
          </p:txBody>
        </p:sp>
        <p:sp>
          <p:nvSpPr>
            <p:cNvPr id="20" name="Freeform 20"/>
            <p:cNvSpPr/>
            <p:nvPr/>
          </p:nvSpPr>
          <p:spPr>
            <a:xfrm>
              <a:off x="5319712" y="1547812"/>
              <a:ext cx="142878" cy="151214"/>
            </a:xfrm>
            <a:custGeom>
              <a:avLst/>
              <a:gdLst/>
              <a:ahLst/>
              <a:cxnLst/>
              <a:rect l="l" t="t" r="r" b="b"/>
              <a:pathLst>
                <a:path w="142878" h="151214">
                  <a:moveTo>
                    <a:pt x="134937" y="0"/>
                  </a:moveTo>
                  <a:lnTo>
                    <a:pt x="7937" y="0"/>
                  </a:lnTo>
                  <a:cubicBezTo>
                    <a:pt x="3554" y="0"/>
                    <a:pt x="0" y="3554"/>
                    <a:pt x="0" y="7937"/>
                  </a:cubicBezTo>
                  <a:lnTo>
                    <a:pt x="0" y="25614"/>
                  </a:lnTo>
                  <a:lnTo>
                    <a:pt x="63" y="27384"/>
                  </a:lnTo>
                  <a:cubicBezTo>
                    <a:pt x="459" y="32684"/>
                    <a:pt x="2616" y="37700"/>
                    <a:pt x="6191" y="41632"/>
                  </a:cubicBezTo>
                  <a:lnTo>
                    <a:pt x="39687" y="78470"/>
                  </a:lnTo>
                  <a:lnTo>
                    <a:pt x="39687" y="142875"/>
                  </a:lnTo>
                  <a:cubicBezTo>
                    <a:pt x="39687" y="145426"/>
                    <a:pt x="40913" y="147823"/>
                    <a:pt x="42982" y="149315"/>
                  </a:cubicBezTo>
                  <a:cubicBezTo>
                    <a:pt x="45052" y="150807"/>
                    <a:pt x="47713" y="151214"/>
                    <a:pt x="50133" y="150408"/>
                  </a:cubicBezTo>
                  <a:lnTo>
                    <a:pt x="97758" y="134533"/>
                  </a:lnTo>
                  <a:lnTo>
                    <a:pt x="98615" y="134191"/>
                  </a:lnTo>
                  <a:cubicBezTo>
                    <a:pt x="101406" y="132885"/>
                    <a:pt x="103188" y="130081"/>
                    <a:pt x="103187" y="127000"/>
                  </a:cubicBezTo>
                  <a:lnTo>
                    <a:pt x="103187" y="74724"/>
                  </a:lnTo>
                  <a:lnTo>
                    <a:pt x="135898" y="42021"/>
                  </a:lnTo>
                  <a:cubicBezTo>
                    <a:pt x="140368" y="37553"/>
                    <a:pt x="142878" y="31490"/>
                    <a:pt x="142875" y="25170"/>
                  </a:cubicBezTo>
                  <a:lnTo>
                    <a:pt x="142875" y="7937"/>
                  </a:lnTo>
                  <a:cubicBezTo>
                    <a:pt x="142875" y="3554"/>
                    <a:pt x="139321" y="0"/>
                    <a:pt x="134937" y="0"/>
                  </a:cubicBezTo>
                  <a:close/>
                </a:path>
              </a:pathLst>
            </a:custGeom>
            <a:solidFill>
              <a:schemeClr val="accent2"/>
            </a:solidFill>
            <a:ln>
              <a:noFill/>
            </a:ln>
          </p:spPr>
          <p:txBody>
            <a:bodyPr/>
            <a:lstStyle/>
            <a:p>
              <a:endParaRPr lang="zh-CN" altLang="en-US"/>
            </a:p>
          </p:txBody>
        </p:sp>
        <p:sp>
          <p:nvSpPr>
            <p:cNvPr id="21" name="TextBox 21"/>
            <p:cNvSpPr txBox="1"/>
            <p:nvPr/>
          </p:nvSpPr>
          <p:spPr>
            <a:xfrm>
              <a:off x="3424047" y="1892300"/>
              <a:ext cx="1877640" cy="401193"/>
            </a:xfrm>
            <a:prstGeom prst="rect">
              <a:avLst/>
            </a:prstGeom>
            <a:noFill/>
            <a:ln>
              <a:noFill/>
            </a:ln>
          </p:spPr>
          <p:txBody>
            <a:bodyPr wrap="none" lIns="0" tIns="0" rIns="0" bIns="0" anchor="t" anchorCtr="0">
              <a:spAutoFit/>
            </a:bodyPr>
            <a:lstStyle/>
            <a:p>
              <a:pPr algn="l">
                <a:lnSpc>
                  <a:spcPts val="1650"/>
                </a:lnSpc>
              </a:pPr>
              <a:r>
                <a:rPr lang="en" sz="980" dirty="0">
                  <a:solidFill>
                    <a:schemeClr val="dk1"/>
                  </a:solidFill>
                  <a:latin typeface="+mn-lt"/>
                  <a:ea typeface="+mn-ea"/>
                  <a:cs typeface="+mn-cs"/>
                </a:rPr>
                <a:t>5,536 boxes removed (2.0%)</a:t>
              </a:r>
              <a:br>
                <a:rPr lang="en" sz="980" dirty="0">
                  <a:solidFill>
                    <a:schemeClr val="dk1"/>
                  </a:solidFill>
                  <a:latin typeface="+mn-lt"/>
                  <a:ea typeface="+mn-ea"/>
                  <a:cs typeface="+mn-cs"/>
                </a:rPr>
              </a:br>
              <a:r>
                <a:rPr lang="en" sz="980" dirty="0">
                  <a:solidFill>
                    <a:schemeClr val="dk1"/>
                  </a:solidFill>
                  <a:latin typeface="+mn-lt"/>
                  <a:ea typeface="+mn-ea"/>
                  <a:cs typeface="+mn-cs"/>
                </a:rPr>
                <a:t>Precision 0.816 → 0.833; recall −0.4</a:t>
              </a:r>
            </a:p>
          </p:txBody>
        </p:sp>
      </p:grpSp>
      <p:grpSp>
        <p:nvGrpSpPr>
          <p:cNvPr id="29" name="p09-step3"/>
          <p:cNvGrpSpPr/>
          <p:nvPr/>
        </p:nvGrpSpPr>
        <p:grpSpPr>
          <a:xfrm>
            <a:off x="5867400" y="1333500"/>
            <a:ext cx="2400300" cy="1238250"/>
            <a:chOff x="5867400" y="1333500"/>
            <a:chExt cx="2400300" cy="1238250"/>
          </a:xfrm>
        </p:grpSpPr>
        <p:sp>
          <p:nvSpPr>
            <p:cNvPr id="23" name="Rectangle 23"/>
            <p:cNvSpPr/>
            <p:nvPr/>
          </p:nvSpPr>
          <p:spPr>
            <a:xfrm>
              <a:off x="5867400" y="1333500"/>
              <a:ext cx="2400300" cy="1238250"/>
            </a:xfrm>
            <a:prstGeom prst="roundRect">
              <a:avLst>
                <a:gd name="adj" fmla="val 9231"/>
              </a:avLst>
            </a:prstGeom>
            <a:solidFill>
              <a:srgbClr val="FFFFFF"/>
            </a:solidFill>
            <a:ln w="9525">
              <a:solidFill>
                <a:schemeClr val="accent6"/>
              </a:solidFill>
            </a:ln>
          </p:spPr>
          <p:txBody>
            <a:bodyPr/>
            <a:lstStyle/>
            <a:p>
              <a:endParaRPr lang="zh-CN" altLang="en-US"/>
            </a:p>
          </p:txBody>
        </p:sp>
        <p:sp>
          <p:nvSpPr>
            <p:cNvPr id="24" name="Rectangle 24"/>
            <p:cNvSpPr/>
            <p:nvPr/>
          </p:nvSpPr>
          <p:spPr>
            <a:xfrm>
              <a:off x="6057900" y="1504950"/>
              <a:ext cx="266700" cy="266700"/>
            </a:xfrm>
            <a:prstGeom prst="roundRect">
              <a:avLst>
                <a:gd name="adj" fmla="val 21429"/>
              </a:avLst>
            </a:prstGeom>
            <a:solidFill>
              <a:srgbClr val="CCFBF1"/>
            </a:solidFill>
            <a:ln>
              <a:noFill/>
            </a:ln>
          </p:spPr>
          <p:txBody>
            <a:bodyPr/>
            <a:lstStyle/>
            <a:p>
              <a:endParaRPr lang="zh-CN" altLang="en-US"/>
            </a:p>
          </p:txBody>
        </p:sp>
        <p:sp>
          <p:nvSpPr>
            <p:cNvPr id="25" name="TextBox 25"/>
            <p:cNvSpPr txBox="1"/>
            <p:nvPr/>
          </p:nvSpPr>
          <p:spPr>
            <a:xfrm>
              <a:off x="6119851" y="1584325"/>
              <a:ext cx="142799" cy="176212"/>
            </a:xfrm>
            <a:prstGeom prst="rect">
              <a:avLst/>
            </a:prstGeom>
            <a:noFill/>
            <a:ln>
              <a:noFill/>
            </a:ln>
          </p:spPr>
          <p:txBody>
            <a:bodyPr wrap="none" lIns="0" tIns="0" rIns="0" bIns="0" anchor="t" anchorCtr="0">
              <a:spAutoFit/>
            </a:bodyPr>
            <a:lstStyle/>
            <a:p>
              <a:pPr algn="ctr"/>
              <a:r>
                <a:rPr lang="en" sz="900" dirty="0">
                  <a:solidFill>
                    <a:srgbClr val="0F766E"/>
                  </a:solidFill>
                  <a:latin typeface="Consolas"/>
                  <a:ea typeface="Consolas"/>
                  <a:cs typeface="Consolas"/>
                </a:rPr>
                <a:t>03</a:t>
              </a:r>
            </a:p>
          </p:txBody>
        </p:sp>
        <p:sp>
          <p:nvSpPr>
            <p:cNvPr id="26" name="TextBox 26"/>
            <p:cNvSpPr txBox="1"/>
            <p:nvPr/>
          </p:nvSpPr>
          <p:spPr>
            <a:xfrm>
              <a:off x="6432804" y="1543050"/>
              <a:ext cx="1394600"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Congestion voters</a:t>
              </a:r>
            </a:p>
          </p:txBody>
        </p:sp>
        <p:sp>
          <p:nvSpPr>
            <p:cNvPr id="27" name="Freeform 27"/>
            <p:cNvSpPr/>
            <p:nvPr/>
          </p:nvSpPr>
          <p:spPr>
            <a:xfrm>
              <a:off x="7947752" y="1547812"/>
              <a:ext cx="144859" cy="143150"/>
            </a:xfrm>
            <a:custGeom>
              <a:avLst/>
              <a:gdLst/>
              <a:ahLst/>
              <a:cxnLst/>
              <a:rect l="l" t="t" r="r" b="b"/>
              <a:pathLst>
                <a:path w="144859" h="143150">
                  <a:moveTo>
                    <a:pt x="142894" y="99639"/>
                  </a:moveTo>
                  <a:cubicBezTo>
                    <a:pt x="144851" y="103559"/>
                    <a:pt x="143263" y="108323"/>
                    <a:pt x="139346" y="110284"/>
                  </a:cubicBezTo>
                  <a:lnTo>
                    <a:pt x="75846" y="142034"/>
                  </a:lnTo>
                  <a:cubicBezTo>
                    <a:pt x="73612" y="143150"/>
                    <a:pt x="70983" y="143150"/>
                    <a:pt x="68750" y="142034"/>
                  </a:cubicBezTo>
                  <a:lnTo>
                    <a:pt x="5250" y="110284"/>
                  </a:lnTo>
                  <a:cubicBezTo>
                    <a:pt x="1475" y="108248"/>
                    <a:pt x="0" y="103583"/>
                    <a:pt x="1918" y="99747"/>
                  </a:cubicBezTo>
                  <a:cubicBezTo>
                    <a:pt x="3836" y="95912"/>
                    <a:pt x="8453" y="94293"/>
                    <a:pt x="12346" y="96091"/>
                  </a:cubicBezTo>
                  <a:lnTo>
                    <a:pt x="72298" y="126047"/>
                  </a:lnTo>
                  <a:lnTo>
                    <a:pt x="132258" y="96083"/>
                  </a:lnTo>
                  <a:cubicBezTo>
                    <a:pt x="136177" y="94126"/>
                    <a:pt x="140941" y="95714"/>
                    <a:pt x="142902" y="99631"/>
                  </a:cubicBezTo>
                  <a:moveTo>
                    <a:pt x="142902" y="67881"/>
                  </a:moveTo>
                  <a:cubicBezTo>
                    <a:pt x="144859" y="71801"/>
                    <a:pt x="143271" y="76565"/>
                    <a:pt x="139354" y="78526"/>
                  </a:cubicBezTo>
                  <a:lnTo>
                    <a:pt x="75854" y="110276"/>
                  </a:lnTo>
                  <a:cubicBezTo>
                    <a:pt x="73620" y="111392"/>
                    <a:pt x="70991" y="111392"/>
                    <a:pt x="68758" y="110276"/>
                  </a:cubicBezTo>
                  <a:lnTo>
                    <a:pt x="5258" y="78526"/>
                  </a:lnTo>
                  <a:cubicBezTo>
                    <a:pt x="1483" y="76490"/>
                    <a:pt x="8" y="71825"/>
                    <a:pt x="1926" y="67989"/>
                  </a:cubicBezTo>
                  <a:cubicBezTo>
                    <a:pt x="3843" y="64154"/>
                    <a:pt x="8461" y="62535"/>
                    <a:pt x="12354" y="64333"/>
                  </a:cubicBezTo>
                  <a:lnTo>
                    <a:pt x="72298" y="94297"/>
                  </a:lnTo>
                  <a:lnTo>
                    <a:pt x="132258" y="64333"/>
                  </a:lnTo>
                  <a:cubicBezTo>
                    <a:pt x="136177" y="62376"/>
                    <a:pt x="140941" y="63964"/>
                    <a:pt x="142902" y="67881"/>
                  </a:cubicBezTo>
                  <a:moveTo>
                    <a:pt x="72361" y="0"/>
                  </a:moveTo>
                  <a:cubicBezTo>
                    <a:pt x="72658" y="0"/>
                    <a:pt x="72951" y="19"/>
                    <a:pt x="73242" y="56"/>
                  </a:cubicBezTo>
                  <a:lnTo>
                    <a:pt x="74123" y="214"/>
                  </a:lnTo>
                  <a:lnTo>
                    <a:pt x="74806" y="405"/>
                  </a:lnTo>
                  <a:lnTo>
                    <a:pt x="74901" y="452"/>
                  </a:lnTo>
                  <a:lnTo>
                    <a:pt x="74997" y="468"/>
                  </a:lnTo>
                  <a:lnTo>
                    <a:pt x="75227" y="579"/>
                  </a:lnTo>
                  <a:lnTo>
                    <a:pt x="75624" y="730"/>
                  </a:lnTo>
                  <a:lnTo>
                    <a:pt x="75751" y="802"/>
                  </a:lnTo>
                  <a:lnTo>
                    <a:pt x="75846" y="841"/>
                  </a:lnTo>
                  <a:lnTo>
                    <a:pt x="139346" y="32591"/>
                  </a:lnTo>
                  <a:cubicBezTo>
                    <a:pt x="142031" y="33937"/>
                    <a:pt x="143727" y="36684"/>
                    <a:pt x="143727" y="39687"/>
                  </a:cubicBezTo>
                  <a:cubicBezTo>
                    <a:pt x="143727" y="42691"/>
                    <a:pt x="142031" y="45438"/>
                    <a:pt x="139346" y="46784"/>
                  </a:cubicBezTo>
                  <a:lnTo>
                    <a:pt x="75846" y="78534"/>
                  </a:lnTo>
                  <a:cubicBezTo>
                    <a:pt x="73612" y="79650"/>
                    <a:pt x="70983" y="79650"/>
                    <a:pt x="68750" y="78534"/>
                  </a:cubicBezTo>
                  <a:lnTo>
                    <a:pt x="5250" y="46784"/>
                  </a:lnTo>
                  <a:cubicBezTo>
                    <a:pt x="2564" y="45438"/>
                    <a:pt x="869" y="42691"/>
                    <a:pt x="869" y="39687"/>
                  </a:cubicBezTo>
                  <a:cubicBezTo>
                    <a:pt x="869" y="36684"/>
                    <a:pt x="2564" y="33937"/>
                    <a:pt x="5250" y="32591"/>
                  </a:cubicBezTo>
                  <a:lnTo>
                    <a:pt x="68750" y="841"/>
                  </a:lnTo>
                  <a:lnTo>
                    <a:pt x="68837" y="802"/>
                  </a:lnTo>
                  <a:lnTo>
                    <a:pt x="68980" y="722"/>
                  </a:lnTo>
                  <a:lnTo>
                    <a:pt x="69599" y="468"/>
                  </a:lnTo>
                  <a:lnTo>
                    <a:pt x="69686" y="452"/>
                  </a:lnTo>
                  <a:lnTo>
                    <a:pt x="69790" y="405"/>
                  </a:lnTo>
                  <a:lnTo>
                    <a:pt x="70472" y="214"/>
                  </a:lnTo>
                  <a:lnTo>
                    <a:pt x="71345" y="56"/>
                  </a:lnTo>
                  <a:lnTo>
                    <a:pt x="71790" y="16"/>
                  </a:lnTo>
                  <a:close/>
                </a:path>
              </a:pathLst>
            </a:custGeom>
            <a:solidFill>
              <a:schemeClr val="accent3"/>
            </a:solidFill>
            <a:ln>
              <a:noFill/>
            </a:ln>
          </p:spPr>
          <p:txBody>
            <a:bodyPr/>
            <a:lstStyle/>
            <a:p>
              <a:endParaRPr lang="zh-CN" altLang="en-US"/>
            </a:p>
          </p:txBody>
        </p:sp>
        <p:sp>
          <p:nvSpPr>
            <p:cNvPr id="28" name="TextBox 28"/>
            <p:cNvSpPr txBox="1"/>
            <p:nvPr/>
          </p:nvSpPr>
          <p:spPr>
            <a:xfrm>
              <a:off x="6052947" y="1892300"/>
              <a:ext cx="1633325" cy="401193"/>
            </a:xfrm>
            <a:prstGeom prst="rect">
              <a:avLst/>
            </a:prstGeom>
            <a:noFill/>
            <a:ln>
              <a:noFill/>
            </a:ln>
          </p:spPr>
          <p:txBody>
            <a:bodyPr wrap="none" lIns="0" tIns="0" rIns="0" bIns="0" anchor="t" anchorCtr="0">
              <a:spAutoFit/>
            </a:bodyPr>
            <a:lstStyle/>
            <a:p>
              <a:pPr algn="l">
                <a:lnSpc>
                  <a:spcPts val="1650"/>
                </a:lnSpc>
              </a:pPr>
              <a:r>
                <a:rPr lang="en" sz="980" dirty="0">
                  <a:solidFill>
                    <a:schemeClr val="dk1"/>
                  </a:solidFill>
                  <a:latin typeface="+mn-lt"/>
                  <a:ea typeface="+mn-ea"/>
                  <a:cs typeface="+mn-cs"/>
                </a:rPr>
                <a:t>Detector count / occupancy</a:t>
              </a:r>
              <a:br>
                <a:rPr lang="en" sz="980" dirty="0">
                  <a:solidFill>
                    <a:schemeClr val="dk1"/>
                  </a:solidFill>
                  <a:latin typeface="+mn-lt"/>
                  <a:ea typeface="+mn-ea"/>
                  <a:cs typeface="+mn-cs"/>
                </a:rPr>
              </a:br>
              <a:r>
                <a:rPr lang="en" sz="980" dirty="0">
                  <a:solidFill>
                    <a:schemeClr val="dk1"/>
                  </a:solidFill>
                  <a:latin typeface="+mn-lt"/>
                  <a:ea typeface="+mn-ea"/>
                  <a:cs typeface="+mn-cs"/>
                </a:rPr>
                <a:t>Background edges; OpenCLIP</a:t>
              </a:r>
            </a:p>
          </p:txBody>
        </p:sp>
      </p:grpSp>
      <p:grpSp>
        <p:nvGrpSpPr>
          <p:cNvPr id="36" name="p09-step4"/>
          <p:cNvGrpSpPr/>
          <p:nvPr/>
        </p:nvGrpSpPr>
        <p:grpSpPr>
          <a:xfrm>
            <a:off x="8496300" y="1333500"/>
            <a:ext cx="2400300" cy="1238250"/>
            <a:chOff x="8496300" y="1333500"/>
            <a:chExt cx="2400300" cy="1238250"/>
          </a:xfrm>
        </p:grpSpPr>
        <p:sp>
          <p:nvSpPr>
            <p:cNvPr id="30" name="Rectangle 30"/>
            <p:cNvSpPr/>
            <p:nvPr/>
          </p:nvSpPr>
          <p:spPr>
            <a:xfrm>
              <a:off x="8496300" y="1333500"/>
              <a:ext cx="2400300" cy="1238250"/>
            </a:xfrm>
            <a:prstGeom prst="roundRect">
              <a:avLst>
                <a:gd name="adj" fmla="val 9231"/>
              </a:avLst>
            </a:prstGeom>
            <a:solidFill>
              <a:srgbClr val="FFFFFF"/>
            </a:solidFill>
            <a:ln w="9525">
              <a:solidFill>
                <a:schemeClr val="accent6"/>
              </a:solidFill>
            </a:ln>
          </p:spPr>
          <p:txBody>
            <a:bodyPr/>
            <a:lstStyle/>
            <a:p>
              <a:endParaRPr lang="zh-CN" altLang="en-US"/>
            </a:p>
          </p:txBody>
        </p:sp>
        <p:sp>
          <p:nvSpPr>
            <p:cNvPr id="31" name="Rectangle 31"/>
            <p:cNvSpPr/>
            <p:nvPr/>
          </p:nvSpPr>
          <p:spPr>
            <a:xfrm>
              <a:off x="8686800" y="1504950"/>
              <a:ext cx="266700" cy="266700"/>
            </a:xfrm>
            <a:prstGeom prst="roundRect">
              <a:avLst>
                <a:gd name="adj" fmla="val 21429"/>
              </a:avLst>
            </a:prstGeom>
            <a:solidFill>
              <a:srgbClr val="CCFBF1"/>
            </a:solidFill>
            <a:ln>
              <a:noFill/>
            </a:ln>
          </p:spPr>
          <p:txBody>
            <a:bodyPr/>
            <a:lstStyle/>
            <a:p>
              <a:endParaRPr lang="zh-CN" altLang="en-US"/>
            </a:p>
          </p:txBody>
        </p:sp>
        <p:sp>
          <p:nvSpPr>
            <p:cNvPr id="32" name="TextBox 32"/>
            <p:cNvSpPr txBox="1"/>
            <p:nvPr/>
          </p:nvSpPr>
          <p:spPr>
            <a:xfrm>
              <a:off x="8748751" y="1584325"/>
              <a:ext cx="142799" cy="176212"/>
            </a:xfrm>
            <a:prstGeom prst="rect">
              <a:avLst/>
            </a:prstGeom>
            <a:noFill/>
            <a:ln>
              <a:noFill/>
            </a:ln>
          </p:spPr>
          <p:txBody>
            <a:bodyPr wrap="none" lIns="0" tIns="0" rIns="0" bIns="0" anchor="t" anchorCtr="0">
              <a:spAutoFit/>
            </a:bodyPr>
            <a:lstStyle/>
            <a:p>
              <a:pPr algn="ctr"/>
              <a:r>
                <a:rPr lang="en" sz="900" dirty="0">
                  <a:solidFill>
                    <a:srgbClr val="0F766E"/>
                  </a:solidFill>
                  <a:latin typeface="Consolas"/>
                  <a:ea typeface="Consolas"/>
                  <a:cs typeface="Consolas"/>
                </a:rPr>
                <a:t>04</a:t>
              </a:r>
            </a:p>
          </p:txBody>
        </p:sp>
        <p:sp>
          <p:nvSpPr>
            <p:cNvPr id="33" name="TextBox 33"/>
            <p:cNvSpPr txBox="1"/>
            <p:nvPr/>
          </p:nvSpPr>
          <p:spPr>
            <a:xfrm>
              <a:off x="9061704" y="1543050"/>
              <a:ext cx="1114906"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Stacked rating</a:t>
              </a:r>
            </a:p>
          </p:txBody>
        </p:sp>
        <p:sp>
          <p:nvSpPr>
            <p:cNvPr id="34" name="Freeform 34"/>
            <p:cNvSpPr/>
            <p:nvPr/>
          </p:nvSpPr>
          <p:spPr>
            <a:xfrm>
              <a:off x="10569575" y="1536319"/>
              <a:ext cx="166926" cy="167199"/>
            </a:xfrm>
            <a:custGeom>
              <a:avLst/>
              <a:gdLst/>
              <a:ahLst/>
              <a:cxnLst/>
              <a:rect l="l" t="t" r="r" b="b"/>
              <a:pathLst>
                <a:path w="166926" h="167199">
                  <a:moveTo>
                    <a:pt x="119062" y="14192"/>
                  </a:moveTo>
                  <a:cubicBezTo>
                    <a:pt x="152141" y="33291"/>
                    <a:pt x="166926" y="73242"/>
                    <a:pt x="154249" y="109274"/>
                  </a:cubicBezTo>
                  <a:cubicBezTo>
                    <a:pt x="141573" y="145305"/>
                    <a:pt x="105031" y="167199"/>
                    <a:pt x="67280" y="161380"/>
                  </a:cubicBezTo>
                  <a:cubicBezTo>
                    <a:pt x="29529" y="155560"/>
                    <a:pt x="1277" y="123679"/>
                    <a:pt x="40" y="85502"/>
                  </a:cubicBezTo>
                  <a:lnTo>
                    <a:pt x="0" y="82930"/>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7"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chemeClr val="accent3"/>
            </a:solidFill>
            <a:ln>
              <a:noFill/>
            </a:ln>
          </p:spPr>
          <p:txBody>
            <a:bodyPr/>
            <a:lstStyle/>
            <a:p>
              <a:endParaRPr lang="zh-CN" altLang="en-US"/>
            </a:p>
          </p:txBody>
        </p:sp>
        <p:sp>
          <p:nvSpPr>
            <p:cNvPr id="35" name="TextBox 35"/>
            <p:cNvSpPr txBox="1"/>
            <p:nvPr/>
          </p:nvSpPr>
          <p:spPr>
            <a:xfrm>
              <a:off x="8681847" y="1892300"/>
              <a:ext cx="1436130" cy="401193"/>
            </a:xfrm>
            <a:prstGeom prst="rect">
              <a:avLst/>
            </a:prstGeom>
            <a:noFill/>
            <a:ln>
              <a:noFill/>
            </a:ln>
          </p:spPr>
          <p:txBody>
            <a:bodyPr wrap="none" lIns="0" tIns="0" rIns="0" bIns="0" anchor="t" anchorCtr="0">
              <a:spAutoFit/>
            </a:bodyPr>
            <a:lstStyle/>
            <a:p>
              <a:pPr algn="l">
                <a:lnSpc>
                  <a:spcPts val="1650"/>
                </a:lnSpc>
              </a:pPr>
              <a:r>
                <a:rPr lang="el-GR" sz="980" dirty="0">
                  <a:solidFill>
                    <a:schemeClr val="dk1"/>
                  </a:solidFill>
                  <a:latin typeface="+mn-lt"/>
                  <a:ea typeface="+mn-ea"/>
                  <a:cs typeface="+mn-cs"/>
                </a:rPr>
                <a:t>74.3% accuracy; κ 0.704</a:t>
              </a:r>
              <a:br>
                <a:rPr lang="el-GR" sz="980" dirty="0">
                  <a:solidFill>
                    <a:schemeClr val="dk1"/>
                  </a:solidFill>
                  <a:latin typeface="+mn-lt"/>
                  <a:ea typeface="+mn-ea"/>
                  <a:cs typeface="+mn-cs"/>
                </a:rPr>
              </a:br>
              <a:r>
                <a:rPr lang="en" sz="980" dirty="0">
                  <a:solidFill>
                    <a:schemeClr val="dk1"/>
                  </a:solidFill>
                  <a:latin typeface="+mn-lt"/>
                  <a:ea typeface="+mn-ea"/>
                  <a:cs typeface="+mn-cs"/>
                </a:rPr>
                <a:t>Congested P/R 0.88 / 0.84</a:t>
              </a:r>
            </a:p>
          </p:txBody>
        </p:sp>
      </p:grpSp>
      <p:grpSp>
        <p:nvGrpSpPr>
          <p:cNvPr id="45" name="p09-method"/>
          <p:cNvGrpSpPr/>
          <p:nvPr/>
        </p:nvGrpSpPr>
        <p:grpSpPr>
          <a:xfrm>
            <a:off x="609600" y="2762250"/>
            <a:ext cx="5715000" cy="3143250"/>
            <a:chOff x="609600" y="2762250"/>
            <a:chExt cx="5715000" cy="3143250"/>
          </a:xfrm>
        </p:grpSpPr>
        <p:sp>
          <p:nvSpPr>
            <p:cNvPr id="37" name="Rectangle 37"/>
            <p:cNvSpPr/>
            <p:nvPr/>
          </p:nvSpPr>
          <p:spPr>
            <a:xfrm>
              <a:off x="609600" y="2762250"/>
              <a:ext cx="57150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38" name="TextBox 38"/>
            <p:cNvSpPr txBox="1"/>
            <p:nvPr/>
          </p:nvSpPr>
          <p:spPr>
            <a:xfrm>
              <a:off x="833438" y="3060700"/>
              <a:ext cx="1660931"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HOW THE FILTER WORKS</a:t>
              </a:r>
            </a:p>
          </p:txBody>
        </p:sp>
        <p:sp>
          <p:nvSpPr>
            <p:cNvPr id="39" name="TextBox 39"/>
            <p:cNvSpPr txBox="1"/>
            <p:nvPr/>
          </p:nvSpPr>
          <p:spPr>
            <a:xfrm>
              <a:off x="832866" y="3308350"/>
              <a:ext cx="3170210" cy="662559"/>
            </a:xfrm>
            <a:prstGeom prst="rect">
              <a:avLst/>
            </a:prstGeom>
            <a:noFill/>
            <a:ln>
              <a:noFill/>
            </a:ln>
          </p:spPr>
          <p:txBody>
            <a:bodyPr wrap="none" lIns="0" tIns="0" rIns="0" bIns="0" anchor="t" anchorCtr="0">
              <a:spAutoFit/>
            </a:bodyPr>
            <a:lstStyle/>
            <a:p>
              <a:pPr algn="l">
                <a:lnSpc>
                  <a:spcPts val="1800"/>
                </a:lnSpc>
              </a:pPr>
              <a:r>
                <a:rPr lang="en" sz="1050" dirty="0">
                  <a:solidFill>
                    <a:schemeClr val="dk1"/>
                  </a:solidFill>
                  <a:latin typeface="+mn-lt"/>
                  <a:ea typeface="+mn-ea"/>
                  <a:cs typeface="+mn-cs"/>
                </a:rPr>
                <a:t>A detection is kept when the bottom-centre of its box</a:t>
              </a:r>
              <a:br>
                <a:rPr lang="en" sz="1050" dirty="0">
                  <a:solidFill>
                    <a:schemeClr val="dk1"/>
                  </a:solidFill>
                  <a:latin typeface="+mn-lt"/>
                  <a:ea typeface="+mn-ea"/>
                  <a:cs typeface="+mn-cs"/>
                </a:rPr>
              </a:br>
              <a:r>
                <a:rPr lang="en" sz="1050" dirty="0">
                  <a:solidFill>
                    <a:schemeClr val="dk1"/>
                  </a:solidFill>
                  <a:latin typeface="+mn-lt"/>
                  <a:ea typeface="+mn-ea"/>
                  <a:cs typeface="+mn-cs"/>
                </a:rPr>
                <a:t>falls inside a road polygon; exclusion zones remove</a:t>
              </a:r>
              <a:br>
                <a:rPr lang="en" sz="1050" dirty="0">
                  <a:solidFill>
                    <a:schemeClr val="dk1"/>
                  </a:solidFill>
                  <a:latin typeface="+mn-lt"/>
                  <a:ea typeface="+mn-ea"/>
                  <a:cs typeface="+mn-cs"/>
                </a:rPr>
              </a:br>
              <a:r>
                <a:rPr lang="en" sz="1050" dirty="0">
                  <a:solidFill>
                    <a:schemeClr val="dk1"/>
                  </a:solidFill>
                  <a:latin typeface="+mn-lt"/>
                  <a:ea typeface="+mn-ea"/>
                  <a:cs typeface="+mn-cs"/>
                </a:rPr>
                <a:t>known false-positive areas.</a:t>
              </a:r>
            </a:p>
          </p:txBody>
        </p:sp>
        <p:sp>
          <p:nvSpPr>
            <p:cNvPr id="40" name="Line 40"/>
            <p:cNvSpPr/>
            <p:nvPr/>
          </p:nvSpPr>
          <p:spPr>
            <a:xfrm>
              <a:off x="838200" y="4191000"/>
              <a:ext cx="5257800" cy="9525"/>
            </a:xfrm>
            <a:custGeom>
              <a:avLst/>
              <a:gdLst/>
              <a:ahLst/>
              <a:cxnLst/>
              <a:rect l="l" t="t" r="r" b="b"/>
              <a:pathLst>
                <a:path w="5257800" h="9525">
                  <a:moveTo>
                    <a:pt x="0" y="0"/>
                  </a:moveTo>
                  <a:lnTo>
                    <a:pt x="5257800" y="0"/>
                  </a:lnTo>
                </a:path>
              </a:pathLst>
            </a:custGeom>
            <a:noFill/>
            <a:ln w="9525">
              <a:solidFill>
                <a:schemeClr val="accent6"/>
              </a:solidFill>
            </a:ln>
          </p:spPr>
          <p:txBody>
            <a:bodyPr/>
            <a:lstStyle/>
            <a:p>
              <a:endParaRPr lang="zh-CN" altLang="en-US"/>
            </a:p>
          </p:txBody>
        </p:sp>
        <p:sp>
          <p:nvSpPr>
            <p:cNvPr id="41" name="TextBox 41"/>
            <p:cNvSpPr txBox="1"/>
            <p:nvPr/>
          </p:nvSpPr>
          <p:spPr>
            <a:xfrm>
              <a:off x="833438" y="4432300"/>
              <a:ext cx="1993773"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HOW CONGESTION IS GRADED</a:t>
              </a:r>
            </a:p>
          </p:txBody>
        </p:sp>
        <p:sp>
          <p:nvSpPr>
            <p:cNvPr id="42" name="TextBox 42"/>
            <p:cNvSpPr txBox="1"/>
            <p:nvPr/>
          </p:nvSpPr>
          <p:spPr>
            <a:xfrm>
              <a:off x="832866" y="4679950"/>
              <a:ext cx="3188732" cy="662559"/>
            </a:xfrm>
            <a:prstGeom prst="rect">
              <a:avLst/>
            </a:prstGeom>
            <a:noFill/>
            <a:ln>
              <a:noFill/>
            </a:ln>
          </p:spPr>
          <p:txBody>
            <a:bodyPr wrap="none" lIns="0" tIns="0" rIns="0" bIns="0" anchor="t" anchorCtr="0">
              <a:spAutoFit/>
            </a:bodyPr>
            <a:lstStyle/>
            <a:p>
              <a:pPr algn="l">
                <a:lnSpc>
                  <a:spcPts val="1800"/>
                </a:lnSpc>
              </a:pPr>
              <a:r>
                <a:rPr lang="en" sz="1050" dirty="0">
                  <a:solidFill>
                    <a:schemeClr val="dk1"/>
                  </a:solidFill>
                  <a:latin typeface="+mn-lt"/>
                  <a:ea typeface="+mn-ea"/>
                  <a:cs typeface="+mn-cs"/>
                </a:rPr>
                <a:t>Three voters score the same detection zones: detector</a:t>
              </a:r>
              <a:br>
                <a:rPr lang="en" sz="1050" dirty="0">
                  <a:solidFill>
                    <a:schemeClr val="dk1"/>
                  </a:solidFill>
                  <a:latin typeface="+mn-lt"/>
                  <a:ea typeface="+mn-ea"/>
                  <a:cs typeface="+mn-cs"/>
                </a:rPr>
              </a:br>
              <a:r>
                <a:rPr lang="en" sz="1050" dirty="0">
                  <a:solidFill>
                    <a:schemeClr val="dk1"/>
                  </a:solidFill>
                  <a:latin typeface="+mn-lt"/>
                  <a:ea typeface="+mn-ea"/>
                  <a:cs typeface="+mn-cs"/>
                </a:rPr>
                <a:t>count/occupancy, background edges and OpenCLIP.</a:t>
              </a:r>
              <a:br>
                <a:rPr lang="en" sz="1050" dirty="0">
                  <a:solidFill>
                    <a:schemeClr val="dk1"/>
                  </a:solidFill>
                  <a:latin typeface="+mn-lt"/>
                  <a:ea typeface="+mn-ea"/>
                  <a:cs typeface="+mn-cs"/>
                </a:rPr>
              </a:br>
              <a:r>
                <a:rPr lang="en" sz="1050" dirty="0">
                  <a:solidFill>
                    <a:schemeClr val="dk1"/>
                  </a:solidFill>
                  <a:latin typeface="+mn-lt"/>
                  <a:ea typeface="+mn-ea"/>
                  <a:cs typeface="+mn-cs"/>
                </a:rPr>
                <a:t>A stacked classifier combines them into a level.</a:t>
              </a:r>
            </a:p>
          </p:txBody>
        </p:sp>
        <p:sp>
          <p:nvSpPr>
            <p:cNvPr id="43" name="TextBox 43"/>
            <p:cNvSpPr txBox="1"/>
            <p:nvPr/>
          </p:nvSpPr>
          <p:spPr>
            <a:xfrm>
              <a:off x="833247" y="5416550"/>
              <a:ext cx="418928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Labels: free / moderate / congested; 400-frame human-labelled test set.</a:t>
              </a:r>
            </a:p>
          </p:txBody>
        </p:sp>
        <p:sp>
          <p:nvSpPr>
            <p:cNvPr id="44" name="TextBox 44"/>
            <p:cNvSpPr txBox="1"/>
            <p:nvPr/>
          </p:nvSpPr>
          <p:spPr>
            <a:xfrm>
              <a:off x="833247" y="5645150"/>
              <a:ext cx="3161445"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Accuracy is 60–94% by camera; night 77% vs day 73%.</a:t>
              </a:r>
            </a:p>
          </p:txBody>
        </p:sp>
      </p:grpSp>
      <p:grpSp>
        <p:nvGrpSpPr>
          <p:cNvPr id="52" name="p09-overlay"/>
          <p:cNvGrpSpPr/>
          <p:nvPr/>
        </p:nvGrpSpPr>
        <p:grpSpPr>
          <a:xfrm>
            <a:off x="6553200" y="2762250"/>
            <a:ext cx="5029200" cy="3143250"/>
            <a:chOff x="6553200" y="2762250"/>
            <a:chExt cx="5029200" cy="3143250"/>
          </a:xfrm>
        </p:grpSpPr>
        <p:sp>
          <p:nvSpPr>
            <p:cNvPr id="46" name="Rectangle 46"/>
            <p:cNvSpPr/>
            <p:nvPr/>
          </p:nvSpPr>
          <p:spPr>
            <a:xfrm>
              <a:off x="6553200" y="2762250"/>
              <a:ext cx="5029200" cy="3143250"/>
            </a:xfrm>
            <a:prstGeom prst="roundRect">
              <a:avLst>
                <a:gd name="adj" fmla="val 3636"/>
              </a:avLst>
            </a:prstGeom>
            <a:solidFill>
              <a:srgbClr val="FFFFFF"/>
            </a:solidFill>
            <a:ln w="9525">
              <a:solidFill>
                <a:schemeClr val="accent6"/>
              </a:solidFill>
            </a:ln>
          </p:spPr>
          <p:txBody>
            <a:bodyPr/>
            <a:lstStyle/>
            <a:p>
              <a:endParaRPr lang="zh-CN" altLang="en-US"/>
            </a:p>
          </p:txBody>
        </p:sp>
        <p:pic>
          <p:nvPicPr>
            <p:cNvPr id="47" name="Image 47"/>
            <p:cNvPicPr>
              <a:picLocks noChangeAspect="1"/>
            </p:cNvPicPr>
            <p:nvPr/>
          </p:nvPicPr>
          <p:blipFill>
            <a:blip r:embed="rId3"/>
            <a:stretch>
              <a:fillRect/>
            </a:stretch>
          </p:blipFill>
          <p:spPr>
            <a:xfrm>
              <a:off x="6667500" y="2971800"/>
              <a:ext cx="4800600" cy="2514600"/>
            </a:xfrm>
            <a:prstGeom prst="rect">
              <a:avLst/>
            </a:prstGeom>
          </p:spPr>
        </p:pic>
        <p:sp>
          <p:nvSpPr>
            <p:cNvPr id="48" name="Rectangle 48"/>
            <p:cNvSpPr/>
            <p:nvPr/>
          </p:nvSpPr>
          <p:spPr>
            <a:xfrm>
              <a:off x="6667500" y="5676900"/>
              <a:ext cx="133350" cy="133350"/>
            </a:xfrm>
            <a:prstGeom prst="roundRect">
              <a:avLst>
                <a:gd name="adj" fmla="val 21429"/>
              </a:avLst>
            </a:prstGeom>
            <a:solidFill>
              <a:schemeClr val="accent2"/>
            </a:solidFill>
            <a:ln>
              <a:noFill/>
            </a:ln>
          </p:spPr>
          <p:txBody>
            <a:bodyPr/>
            <a:lstStyle/>
            <a:p>
              <a:endParaRPr lang="zh-CN" altLang="en-US"/>
            </a:p>
          </p:txBody>
        </p:sp>
        <p:sp>
          <p:nvSpPr>
            <p:cNvPr id="49" name="TextBox 49"/>
            <p:cNvSpPr txBox="1"/>
            <p:nvPr/>
          </p:nvSpPr>
          <p:spPr>
            <a:xfrm>
              <a:off x="6872097" y="5654675"/>
              <a:ext cx="727568"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Road region</a:t>
              </a:r>
            </a:p>
          </p:txBody>
        </p:sp>
        <p:sp>
          <p:nvSpPr>
            <p:cNvPr id="50" name="Rectangle 50"/>
            <p:cNvSpPr/>
            <p:nvPr/>
          </p:nvSpPr>
          <p:spPr>
            <a:xfrm>
              <a:off x="8191500" y="5676900"/>
              <a:ext cx="133350" cy="133350"/>
            </a:xfrm>
            <a:prstGeom prst="roundRect">
              <a:avLst>
                <a:gd name="adj" fmla="val 21429"/>
              </a:avLst>
            </a:prstGeom>
            <a:solidFill>
              <a:schemeClr val="accent3"/>
            </a:solidFill>
            <a:ln>
              <a:noFill/>
            </a:ln>
          </p:spPr>
          <p:txBody>
            <a:bodyPr/>
            <a:lstStyle/>
            <a:p>
              <a:endParaRPr lang="zh-CN" altLang="en-US"/>
            </a:p>
          </p:txBody>
        </p:sp>
        <p:sp>
          <p:nvSpPr>
            <p:cNvPr id="51" name="TextBox 51"/>
            <p:cNvSpPr txBox="1"/>
            <p:nvPr/>
          </p:nvSpPr>
          <p:spPr>
            <a:xfrm>
              <a:off x="8396097" y="5654675"/>
              <a:ext cx="895258"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Detection zone</a:t>
              </a:r>
            </a:p>
          </p:txBody>
        </p:sp>
      </p:grpSp>
      <p:grpSp>
        <p:nvGrpSpPr>
          <p:cNvPr id="55" name="p09-footer"/>
          <p:cNvGrpSpPr/>
          <p:nvPr/>
        </p:nvGrpSpPr>
        <p:grpSpPr>
          <a:xfrm>
            <a:off x="609600" y="6515100"/>
            <a:ext cx="10977753" cy="265111"/>
            <a:chOff x="609600" y="6515100"/>
            <a:chExt cx="10977753" cy="265111"/>
          </a:xfrm>
        </p:grpSpPr>
        <p:sp>
          <p:nvSpPr>
            <p:cNvPr id="53" name="Line 53"/>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54" name="TextBox 54"/>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6" name="p10-title"/>
          <p:cNvGrpSpPr/>
          <p:nvPr/>
        </p:nvGrpSpPr>
        <p:grpSpPr>
          <a:xfrm>
            <a:off x="590550" y="647700"/>
            <a:ext cx="4566034" cy="4031107"/>
            <a:chOff x="590550" y="647700"/>
            <a:chExt cx="4566034" cy="4031107"/>
          </a:xfrm>
        </p:grpSpPr>
        <p:sp>
          <p:nvSpPr>
            <p:cNvPr id="2" name="TextBox 2"/>
            <p:cNvSpPr txBox="1"/>
            <p:nvPr/>
          </p:nvSpPr>
          <p:spPr>
            <a:xfrm>
              <a:off x="604647" y="647700"/>
              <a:ext cx="1105154" cy="191643"/>
            </a:xfrm>
            <a:prstGeom prst="rect">
              <a:avLst/>
            </a:prstGeom>
            <a:noFill/>
            <a:ln>
              <a:noFill/>
            </a:ln>
          </p:spPr>
          <p:txBody>
            <a:bodyPr wrap="none" lIns="0" tIns="0" rIns="0" bIns="0" anchor="t" anchorCtr="0">
              <a:spAutoFit/>
            </a:bodyPr>
            <a:lstStyle/>
            <a:p>
              <a:pPr algn="l"/>
              <a:r>
                <a:rPr lang="en" sz="980" b="1" spc="112" dirty="0">
                  <a:solidFill>
                    <a:srgbClr val="5EEAD4"/>
                  </a:solidFill>
                  <a:latin typeface="Consolas"/>
                  <a:ea typeface="Consolas"/>
                  <a:cs typeface="Consolas"/>
                </a:rPr>
                <a:t>PART 03 / 05</a:t>
              </a:r>
            </a:p>
          </p:txBody>
        </p:sp>
        <p:sp>
          <p:nvSpPr>
            <p:cNvPr id="3" name="TextBox 3"/>
            <p:cNvSpPr txBox="1"/>
            <p:nvPr/>
          </p:nvSpPr>
          <p:spPr>
            <a:xfrm>
              <a:off x="590550" y="1778000"/>
              <a:ext cx="1153141" cy="1390650"/>
            </a:xfrm>
            <a:prstGeom prst="rect">
              <a:avLst/>
            </a:prstGeom>
            <a:noFill/>
            <a:ln>
              <a:noFill/>
            </a:ln>
          </p:spPr>
          <p:txBody>
            <a:bodyPr wrap="none" lIns="0" tIns="0" rIns="0" bIns="0" anchor="t" anchorCtr="0">
              <a:spAutoFit/>
            </a:bodyPr>
            <a:lstStyle/>
            <a:p>
              <a:pPr algn="l"/>
              <a:r>
                <a:rPr lang="en" sz="7200" b="1" dirty="0">
                  <a:solidFill>
                    <a:srgbClr val="38BDF8"/>
                  </a:solidFill>
                  <a:latin typeface="+mn-lt"/>
                  <a:ea typeface="+mn-ea"/>
                  <a:cs typeface="+mn-cs"/>
                </a:rPr>
                <a:t>03</a:t>
              </a:r>
            </a:p>
          </p:txBody>
        </p:sp>
        <p:sp>
          <p:nvSpPr>
            <p:cNvPr id="4" name="TextBox 4"/>
            <p:cNvSpPr txBox="1"/>
            <p:nvPr/>
          </p:nvSpPr>
          <p:spPr>
            <a:xfrm>
              <a:off x="594360" y="3060700"/>
              <a:ext cx="2233019" cy="586740"/>
            </a:xfrm>
            <a:prstGeom prst="rect">
              <a:avLst/>
            </a:prstGeom>
            <a:noFill/>
            <a:ln>
              <a:noFill/>
            </a:ln>
          </p:spPr>
          <p:txBody>
            <a:bodyPr wrap="none" lIns="0" tIns="0" rIns="0" bIns="0" anchor="t" anchorCtr="0">
              <a:spAutoFit/>
            </a:bodyPr>
            <a:lstStyle/>
            <a:p>
              <a:pPr algn="l"/>
              <a:r>
                <a:rPr lang="en" sz="3000" b="1" dirty="0">
                  <a:solidFill>
                    <a:srgbClr val="FFFFFF"/>
                  </a:solidFill>
                  <a:latin typeface="+mn-lt"/>
                  <a:ea typeface="+mn-ea"/>
                  <a:cs typeface="+mn-cs"/>
                </a:rPr>
                <a:t>Forecasting</a:t>
              </a:r>
            </a:p>
          </p:txBody>
        </p:sp>
        <p:sp>
          <p:nvSpPr>
            <p:cNvPr id="5" name="TextBox 5"/>
            <p:cNvSpPr txBox="1"/>
            <p:nvPr/>
          </p:nvSpPr>
          <p:spPr>
            <a:xfrm>
              <a:off x="601218" y="4032250"/>
              <a:ext cx="6583680" cy="649224"/>
            </a:xfrm>
            <a:prstGeom prst="rect">
              <a:avLst/>
            </a:prstGeom>
            <a:noFill/>
            <a:ln>
              <a:noFill/>
            </a:ln>
          </p:spPr>
          <p:txBody>
            <a:bodyPr wrap="square" lIns="0" tIns="0" rIns="0" bIns="0" anchor="t" anchorCtr="0">
              <a:spAutoFit/>
            </a:bodyPr>
            <a:lstStyle/>
            <a:p>
              <a:pPr algn="l">
                <a:lnSpc>
                  <a:spcPts val="2550"/>
                </a:lnSpc>
              </a:pPr>
              <a:r>
                <a:rPr sz="1650" b="0">
                  <a:solidFill>
                    <a:srgbClr val="CBD5E1"/>
                  </a:solidFill>
                  <a:latin typeface="Segoe UI"/>
                </a:rPr>
                <a:t>One protocol compares eight models;
MultiHeadSTGCN is tested by default, ablation and equal input.</a:t>
              </a:r>
            </a:p>
          </p:txBody>
        </p:sp>
      </p:grpSp>
      <p:sp>
        <p:nvSpPr>
          <p:cNvPr id="7" name="TextBox 7"/>
          <p:cNvSpPr txBox="1"/>
          <p:nvPr/>
        </p:nvSpPr>
        <p:spPr>
          <a:xfrm>
            <a:off x="7600950" y="2266950"/>
            <a:ext cx="3754904" cy="4591050"/>
          </a:xfrm>
          <a:prstGeom prst="rect">
            <a:avLst/>
          </a:prstGeom>
          <a:noFill/>
          <a:ln>
            <a:noFill/>
          </a:ln>
        </p:spPr>
        <p:txBody>
          <a:bodyPr wrap="none" lIns="0" tIns="0" rIns="0" bIns="0" anchor="t" anchorCtr="0">
            <a:spAutoFit/>
          </a:bodyPr>
          <a:lstStyle/>
          <a:p>
            <a:pPr algn="l"/>
            <a:r>
              <a:rPr lang="en" sz="24000" b="1" dirty="0">
                <a:solidFill>
                  <a:srgbClr val="24324A"/>
                </a:solidFill>
                <a:latin typeface="+mn-lt"/>
                <a:ea typeface="+mn-ea"/>
                <a:cs typeface="+mn-cs"/>
              </a:rPr>
              <a:t>03</a:t>
            </a:r>
          </a:p>
        </p:txBody>
      </p:sp>
      <p:sp>
        <p:nvSpPr>
          <p:cNvPr id="8" name="TextBox 8"/>
          <p:cNvSpPr txBox="1"/>
          <p:nvPr/>
        </p:nvSpPr>
        <p:spPr>
          <a:xfrm>
            <a:off x="11432327" y="6629400"/>
            <a:ext cx="155026" cy="191643"/>
          </a:xfrm>
          <a:prstGeom prst="rect">
            <a:avLst/>
          </a:prstGeom>
          <a:noFill/>
          <a:ln>
            <a:noFill/>
          </a:ln>
        </p:spPr>
        <p:txBody>
          <a:bodyPr wrap="none" lIns="0" tIns="0" rIns="0" bIns="0" anchor="t" anchorCtr="0">
            <a:spAutoFit/>
          </a:bodyPr>
          <a:lstStyle/>
          <a:p>
            <a:pPr algn="r"/>
            <a:r>
              <a:rPr lang="en" sz="980" dirty="0">
                <a:solidFill>
                  <a:srgbClr val="CBD5E1"/>
                </a:solidFill>
                <a:latin typeface="Consolas"/>
                <a:ea typeface="Consolas"/>
                <a:cs typeface="Consolas"/>
              </a:rPr>
              <a:t>10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1-title"/>
          <p:cNvGrpSpPr/>
          <p:nvPr/>
        </p:nvGrpSpPr>
        <p:grpSpPr>
          <a:xfrm>
            <a:off x="594360" y="419100"/>
            <a:ext cx="10596575" cy="789940"/>
            <a:chOff x="594360" y="419100"/>
            <a:chExt cx="10596575" cy="789940"/>
          </a:xfrm>
        </p:grpSpPr>
        <p:sp>
          <p:nvSpPr>
            <p:cNvPr id="2" name="TextBox 2"/>
            <p:cNvSpPr txBox="1"/>
            <p:nvPr/>
          </p:nvSpPr>
          <p:spPr>
            <a:xfrm>
              <a:off x="604647" y="419100"/>
              <a:ext cx="2123735"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3 · FORECASTING</a:t>
              </a:r>
            </a:p>
          </p:txBody>
        </p:sp>
        <p:sp>
          <p:nvSpPr>
            <p:cNvPr id="3" name="TextBox 3"/>
            <p:cNvSpPr txBox="1"/>
            <p:nvPr/>
          </p:nvSpPr>
          <p:spPr>
            <a:xfrm>
              <a:off x="594360" y="622300"/>
              <a:ext cx="10596575"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Eight models share one protocol and two input regimes</a:t>
              </a:r>
            </a:p>
          </p:txBody>
        </p:sp>
      </p:grpSp>
      <p:grpSp>
        <p:nvGrpSpPr>
          <p:cNvPr id="16" name="p11-data"/>
          <p:cNvGrpSpPr/>
          <p:nvPr/>
        </p:nvGrpSpPr>
        <p:grpSpPr>
          <a:xfrm>
            <a:off x="609600" y="1333500"/>
            <a:ext cx="4000500" cy="2293493"/>
            <a:chOff x="609600" y="1333500"/>
            <a:chExt cx="4000500" cy="2293493"/>
          </a:xfrm>
        </p:grpSpPr>
        <p:sp>
          <p:nvSpPr>
            <p:cNvPr id="5" name="Rectangle 5"/>
            <p:cNvSpPr/>
            <p:nvPr/>
          </p:nvSpPr>
          <p:spPr>
            <a:xfrm>
              <a:off x="609600" y="1333500"/>
              <a:ext cx="4000500" cy="2286000"/>
            </a:xfrm>
            <a:prstGeom prst="roundRect">
              <a:avLst>
                <a:gd name="adj" fmla="val 5000"/>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562100"/>
              <a:ext cx="419100" cy="419100"/>
            </a:xfrm>
            <a:prstGeom prst="roundRect">
              <a:avLst>
                <a:gd name="adj" fmla="val 22727"/>
              </a:avLst>
            </a:prstGeom>
            <a:solidFill>
              <a:srgbClr val="CCFBF1"/>
            </a:solidFill>
            <a:ln>
              <a:noFill/>
            </a:ln>
          </p:spPr>
          <p:txBody>
            <a:bodyPr/>
            <a:lstStyle/>
            <a:p>
              <a:endParaRPr lang="zh-CN" altLang="en-US"/>
            </a:p>
          </p:txBody>
        </p:sp>
        <p:grpSp>
          <p:nvGrpSpPr>
            <p:cNvPr id="10" name="Group 10"/>
            <p:cNvGrpSpPr/>
            <p:nvPr/>
          </p:nvGrpSpPr>
          <p:grpSpPr>
            <a:xfrm>
              <a:off x="962024" y="1676400"/>
              <a:ext cx="171451" cy="190500"/>
              <a:chOff x="962024" y="1676400"/>
              <a:chExt cx="171451" cy="190500"/>
            </a:xfrm>
          </p:grpSpPr>
          <p:sp>
            <p:nvSpPr>
              <p:cNvPr id="7" name="Freeform 7"/>
              <p:cNvSpPr/>
              <p:nvPr/>
            </p:nvSpPr>
            <p:spPr>
              <a:xfrm>
                <a:off x="962025" y="180718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4710"/>
                      <a:pt x="134350" y="59103"/>
                      <a:pt x="88649" y="59693"/>
                    </a:cubicBezTo>
                    <a:lnTo>
                      <a:pt x="85725" y="59712"/>
                    </a:lnTo>
                    <a:cubicBezTo>
                      <a:pt x="38691" y="59712"/>
                      <a:pt x="0" y="45206"/>
                      <a:pt x="0" y="21612"/>
                    </a:cubicBezTo>
                    <a:close/>
                  </a:path>
                </a:pathLst>
              </a:custGeom>
              <a:solidFill>
                <a:schemeClr val="accent3"/>
              </a:solidFill>
              <a:ln>
                <a:noFill/>
              </a:ln>
            </p:spPr>
            <p:txBody>
              <a:bodyPr/>
              <a:lstStyle/>
              <a:p>
                <a:endParaRPr lang="zh-CN" altLang="en-US"/>
              </a:p>
            </p:txBody>
          </p:sp>
          <p:sp>
            <p:nvSpPr>
              <p:cNvPr id="8" name="Freeform 8"/>
              <p:cNvSpPr/>
              <p:nvPr/>
            </p:nvSpPr>
            <p:spPr>
              <a:xfrm>
                <a:off x="962025" y="175003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5206"/>
                      <a:pt x="132759" y="59712"/>
                      <a:pt x="85725" y="59712"/>
                    </a:cubicBezTo>
                    <a:cubicBezTo>
                      <a:pt x="40024" y="59712"/>
                      <a:pt x="2191" y="46015"/>
                      <a:pt x="200" y="23565"/>
                    </a:cubicBezTo>
                    <a:lnTo>
                      <a:pt x="48" y="22603"/>
                    </a:lnTo>
                    <a:lnTo>
                      <a:pt x="0" y="21612"/>
                    </a:lnTo>
                    <a:close/>
                  </a:path>
                </a:pathLst>
              </a:custGeom>
              <a:solidFill>
                <a:schemeClr val="accent3"/>
              </a:solidFill>
              <a:ln>
                <a:noFill/>
              </a:ln>
            </p:spPr>
            <p:txBody>
              <a:bodyPr/>
              <a:lstStyle/>
              <a:p>
                <a:endParaRPr lang="zh-CN" altLang="en-US"/>
              </a:p>
            </p:txBody>
          </p:sp>
          <p:sp>
            <p:nvSpPr>
              <p:cNvPr id="9" name="Freeform 9"/>
              <p:cNvSpPr/>
              <p:nvPr/>
            </p:nvSpPr>
            <p:spPr>
              <a:xfrm>
                <a:off x="962024" y="1676400"/>
                <a:ext cx="171451" cy="76200"/>
              </a:xfrm>
              <a:custGeom>
                <a:avLst/>
                <a:gdLst/>
                <a:ahLst/>
                <a:cxnLst/>
                <a:rect l="l" t="t" r="r" b="b"/>
                <a:pathLst>
                  <a:path w="171451" h="76200">
                    <a:moveTo>
                      <a:pt x="85726" y="0"/>
                    </a:moveTo>
                    <a:cubicBezTo>
                      <a:pt x="95641" y="0"/>
                      <a:pt x="105195" y="648"/>
                      <a:pt x="114082" y="1886"/>
                    </a:cubicBezTo>
                    <a:lnTo>
                      <a:pt x="118549" y="2562"/>
                    </a:lnTo>
                    <a:cubicBezTo>
                      <a:pt x="123883" y="3451"/>
                      <a:pt x="128918" y="4556"/>
                      <a:pt x="133656" y="5877"/>
                    </a:cubicBezTo>
                    <a:lnTo>
                      <a:pt x="137847" y="7125"/>
                    </a:lnTo>
                    <a:lnTo>
                      <a:pt x="138561" y="7353"/>
                    </a:lnTo>
                    <a:cubicBezTo>
                      <a:pt x="141153" y="8206"/>
                      <a:pt x="143711" y="9159"/>
                      <a:pt x="146229" y="10211"/>
                    </a:cubicBezTo>
                    <a:lnTo>
                      <a:pt x="148124" y="11030"/>
                    </a:lnTo>
                    <a:cubicBezTo>
                      <a:pt x="151521" y="12567"/>
                      <a:pt x="154591" y="14249"/>
                      <a:pt x="157335" y="16078"/>
                    </a:cubicBezTo>
                    <a:cubicBezTo>
                      <a:pt x="158382" y="16777"/>
                      <a:pt x="159376" y="17491"/>
                      <a:pt x="160316" y="18221"/>
                    </a:cubicBezTo>
                    <a:cubicBezTo>
                      <a:pt x="162697" y="20069"/>
                      <a:pt x="164837" y="22206"/>
                      <a:pt x="166688" y="24584"/>
                    </a:cubicBezTo>
                    <a:lnTo>
                      <a:pt x="167555" y="25803"/>
                    </a:lnTo>
                    <a:cubicBezTo>
                      <a:pt x="168000" y="26470"/>
                      <a:pt x="168409" y="27140"/>
                      <a:pt x="168784" y="27813"/>
                    </a:cubicBezTo>
                    <a:lnTo>
                      <a:pt x="169450" y="29137"/>
                    </a:lnTo>
                    <a:cubicBezTo>
                      <a:pt x="170486" y="31359"/>
                      <a:pt x="171121" y="33677"/>
                      <a:pt x="171355" y="36090"/>
                    </a:cubicBezTo>
                    <a:lnTo>
                      <a:pt x="171451" y="38100"/>
                    </a:lnTo>
                    <a:cubicBezTo>
                      <a:pt x="171451" y="61693"/>
                      <a:pt x="132760" y="76200"/>
                      <a:pt x="85726" y="76200"/>
                    </a:cubicBezTo>
                    <a:cubicBezTo>
                      <a:pt x="40025" y="76200"/>
                      <a:pt x="2191" y="62503"/>
                      <a:pt x="201" y="40053"/>
                    </a:cubicBezTo>
                    <a:cubicBezTo>
                      <a:pt x="67" y="39410"/>
                      <a:pt x="0" y="38756"/>
                      <a:pt x="1" y="38100"/>
                    </a:cubicBezTo>
                    <a:lnTo>
                      <a:pt x="48" y="37109"/>
                    </a:lnTo>
                    <a:lnTo>
                      <a:pt x="201" y="36157"/>
                    </a:lnTo>
                    <a:cubicBezTo>
                      <a:pt x="2153" y="14192"/>
                      <a:pt x="38396" y="600"/>
                      <a:pt x="82754" y="19"/>
                    </a:cubicBezTo>
                    <a:close/>
                  </a:path>
                </a:pathLst>
              </a:custGeom>
              <a:solidFill>
                <a:schemeClr val="accent3"/>
              </a:solidFill>
              <a:ln>
                <a:noFill/>
              </a:ln>
            </p:spPr>
            <p:txBody>
              <a:bodyPr/>
              <a:lstStyle/>
              <a:p>
                <a:endParaRPr lang="zh-CN" altLang="en-US"/>
              </a:p>
            </p:txBody>
          </p:sp>
        </p:grpSp>
        <p:sp>
          <p:nvSpPr>
            <p:cNvPr id="11" name="TextBox 11"/>
            <p:cNvSpPr txBox="1"/>
            <p:nvPr/>
          </p:nvSpPr>
          <p:spPr>
            <a:xfrm>
              <a:off x="1402080" y="1619250"/>
              <a:ext cx="863666"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PEMSD8</a:t>
              </a:r>
            </a:p>
          </p:txBody>
        </p:sp>
        <p:sp>
          <p:nvSpPr>
            <p:cNvPr id="12" name="TextBox 12"/>
            <p:cNvSpPr txBox="1"/>
            <p:nvPr/>
          </p:nvSpPr>
          <p:spPr>
            <a:xfrm>
              <a:off x="832866" y="2000250"/>
              <a:ext cx="2120865" cy="948309"/>
            </a:xfrm>
            <a:prstGeom prst="rect">
              <a:avLst/>
            </a:prstGeom>
            <a:noFill/>
            <a:ln>
              <a:noFill/>
            </a:ln>
          </p:spPr>
          <p:txBody>
            <a:bodyPr wrap="none" lIns="0" tIns="0" rIns="0" bIns="0" anchor="t" anchorCtr="0">
              <a:spAutoFit/>
            </a:bodyPr>
            <a:lstStyle/>
            <a:p>
              <a:pPr marL="90691" indent="-90691" algn="l">
                <a:lnSpc>
                  <a:spcPts val="1950"/>
                </a:lnSpc>
                <a:buClr>
                  <a:schemeClr val="dk1"/>
                </a:buClr>
                <a:buSzTx/>
                <a:buFontTx/>
                <a:buChar char="•"/>
              </a:pPr>
              <a:r>
                <a:rPr lang="en" sz="1050" dirty="0">
                  <a:solidFill>
                    <a:schemeClr val="dk1"/>
                  </a:solidFill>
                  <a:latin typeface="+mn-lt"/>
                  <a:ea typeface="+mn-ea"/>
                  <a:cs typeface="+mn-cs"/>
                </a:rPr>
                <a:t>170 sensors · 17,856 observations</a:t>
              </a:r>
            </a:p>
            <a:p>
              <a:pPr marL="90691" indent="-90691" algn="l">
                <a:lnSpc>
                  <a:spcPts val="1950"/>
                </a:lnSpc>
                <a:buClr>
                  <a:schemeClr val="dk1"/>
                </a:buClr>
                <a:buSzTx/>
                <a:buFontTx/>
                <a:buChar char="•"/>
              </a:pPr>
              <a:r>
                <a:rPr lang="en" sz="1050" dirty="0">
                  <a:solidFill>
                    <a:schemeClr val="dk1"/>
                  </a:solidFill>
                  <a:latin typeface="+mn-lt"/>
                  <a:ea typeface="+mn-ea"/>
                  <a:cs typeface="+mn-cs"/>
                </a:rPr>
                <a:t>Flow, occupancy and speed</a:t>
              </a:r>
            </a:p>
            <a:p>
              <a:pPr marL="90691" indent="-90691" algn="l">
                <a:lnSpc>
                  <a:spcPts val="1950"/>
                </a:lnSpc>
                <a:buClr>
                  <a:schemeClr val="dk1"/>
                </a:buClr>
                <a:buSzTx/>
                <a:buFontTx/>
                <a:buChar char="•"/>
              </a:pPr>
              <a:r>
                <a:rPr lang="en" sz="1050" dirty="0">
                  <a:solidFill>
                    <a:schemeClr val="dk1"/>
                  </a:solidFill>
                  <a:latin typeface="+mn-lt"/>
                  <a:ea typeface="+mn-ea"/>
                  <a:cs typeface="+mn-cs"/>
                </a:rPr>
                <a:t>7:1:2 split; scaler fit on train</a:t>
              </a:r>
            </a:p>
            <a:p>
              <a:pPr marL="90691" indent="-90691" algn="l">
                <a:lnSpc>
                  <a:spcPts val="1950"/>
                </a:lnSpc>
                <a:buClr>
                  <a:schemeClr val="dk1"/>
                </a:buClr>
                <a:buSzTx/>
                <a:buFontTx/>
                <a:buChar char="•"/>
              </a:pPr>
              <a:r>
                <a:rPr lang="en" sz="1050" dirty="0">
                  <a:solidFill>
                    <a:schemeClr val="dk1"/>
                  </a:solidFill>
                  <a:latin typeface="+mn-lt"/>
                  <a:ea typeface="+mn-ea"/>
                  <a:cs typeface="+mn-cs"/>
                </a:rPr>
                <a:t>12 steps in → 12 steps out (60 min)</a:t>
              </a:r>
            </a:p>
          </p:txBody>
        </p:sp>
        <p:sp>
          <p:nvSpPr>
            <p:cNvPr id="13" name="Line 13"/>
            <p:cNvSpPr/>
            <p:nvPr/>
          </p:nvSpPr>
          <p:spPr>
            <a:xfrm>
              <a:off x="838200" y="3124200"/>
              <a:ext cx="3543300" cy="9525"/>
            </a:xfrm>
            <a:custGeom>
              <a:avLst/>
              <a:gdLst/>
              <a:ahLst/>
              <a:cxnLst/>
              <a:rect l="l" t="t" r="r" b="b"/>
              <a:pathLst>
                <a:path w="3543300" h="9525">
                  <a:moveTo>
                    <a:pt x="0" y="0"/>
                  </a:moveTo>
                  <a:lnTo>
                    <a:pt x="3543300" y="0"/>
                  </a:lnTo>
                </a:path>
              </a:pathLst>
            </a:custGeom>
            <a:noFill/>
            <a:ln w="9525">
              <a:solidFill>
                <a:schemeClr val="accent6"/>
              </a:solidFill>
            </a:ln>
          </p:spPr>
          <p:txBody>
            <a:bodyPr/>
            <a:lstStyle/>
            <a:p>
              <a:endParaRPr lang="zh-CN" altLang="en-US"/>
            </a:p>
          </p:txBody>
        </p:sp>
        <p:sp>
          <p:nvSpPr>
            <p:cNvPr id="14" name="TextBox 14"/>
            <p:cNvSpPr txBox="1"/>
            <p:nvPr/>
          </p:nvSpPr>
          <p:spPr>
            <a:xfrm>
              <a:off x="833438" y="3251200"/>
              <a:ext cx="579196"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METRICS</a:t>
              </a:r>
            </a:p>
          </p:txBody>
        </p:sp>
        <p:sp>
          <p:nvSpPr>
            <p:cNvPr id="15" name="TextBox 15"/>
            <p:cNvSpPr txBox="1"/>
            <p:nvPr/>
          </p:nvSpPr>
          <p:spPr>
            <a:xfrm>
              <a:off x="833247" y="3435350"/>
              <a:ext cx="2819587"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Masked MAE / RMSE / MAPE · 15 / 30 / 60 min</a:t>
              </a:r>
            </a:p>
          </p:txBody>
        </p:sp>
      </p:grpSp>
      <p:grpSp>
        <p:nvGrpSpPr>
          <p:cNvPr id="44" name="p11-models"/>
          <p:cNvGrpSpPr/>
          <p:nvPr/>
        </p:nvGrpSpPr>
        <p:grpSpPr>
          <a:xfrm>
            <a:off x="4838700" y="1333500"/>
            <a:ext cx="6743700" cy="2095500"/>
            <a:chOff x="4838700" y="1333500"/>
            <a:chExt cx="6743700" cy="2095500"/>
          </a:xfrm>
        </p:grpSpPr>
        <p:sp>
          <p:nvSpPr>
            <p:cNvPr id="17" name="Rectangle 17"/>
            <p:cNvSpPr/>
            <p:nvPr/>
          </p:nvSpPr>
          <p:spPr>
            <a:xfrm>
              <a:off x="4838700" y="1333500"/>
              <a:ext cx="67437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18" name="TextBox 18"/>
            <p:cNvSpPr txBox="1"/>
            <p:nvPr/>
          </p:nvSpPr>
          <p:spPr>
            <a:xfrm>
              <a:off x="5062538" y="1555750"/>
              <a:ext cx="2909087"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EIGHT MODELS · SEVEN LIBCITY + OURS</a:t>
              </a:r>
            </a:p>
          </p:txBody>
        </p:sp>
        <p:sp>
          <p:nvSpPr>
            <p:cNvPr id="19" name="Rectangle 19"/>
            <p:cNvSpPr/>
            <p:nvPr/>
          </p:nvSpPr>
          <p:spPr>
            <a:xfrm>
              <a:off x="5067300" y="18288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20" name="TextBox 20"/>
            <p:cNvSpPr txBox="1"/>
            <p:nvPr/>
          </p:nvSpPr>
          <p:spPr>
            <a:xfrm>
              <a:off x="5214366" y="1930400"/>
              <a:ext cx="551905"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GWNET</a:t>
              </a:r>
            </a:p>
          </p:txBody>
        </p:sp>
        <p:sp>
          <p:nvSpPr>
            <p:cNvPr id="21" name="TextBox 21"/>
            <p:cNvSpPr txBox="1"/>
            <p:nvPr/>
          </p:nvSpPr>
          <p:spPr>
            <a:xfrm>
              <a:off x="5214938" y="2133600"/>
              <a:ext cx="75738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learned graph</a:t>
              </a:r>
            </a:p>
          </p:txBody>
        </p:sp>
        <p:sp>
          <p:nvSpPr>
            <p:cNvPr id="22" name="Rectangle 22"/>
            <p:cNvSpPr/>
            <p:nvPr/>
          </p:nvSpPr>
          <p:spPr>
            <a:xfrm>
              <a:off x="6610350" y="18288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23" name="TextBox 23"/>
            <p:cNvSpPr txBox="1"/>
            <p:nvPr/>
          </p:nvSpPr>
          <p:spPr>
            <a:xfrm>
              <a:off x="6757416" y="1930400"/>
              <a:ext cx="583254"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MTGNN</a:t>
              </a:r>
            </a:p>
          </p:txBody>
        </p:sp>
        <p:sp>
          <p:nvSpPr>
            <p:cNvPr id="24" name="TextBox 24"/>
            <p:cNvSpPr txBox="1"/>
            <p:nvPr/>
          </p:nvSpPr>
          <p:spPr>
            <a:xfrm>
              <a:off x="6757988" y="2133600"/>
              <a:ext cx="75738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learned graph</a:t>
              </a:r>
            </a:p>
          </p:txBody>
        </p:sp>
        <p:sp>
          <p:nvSpPr>
            <p:cNvPr id="25" name="Rectangle 25"/>
            <p:cNvSpPr/>
            <p:nvPr/>
          </p:nvSpPr>
          <p:spPr>
            <a:xfrm>
              <a:off x="8153400" y="18288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26" name="TextBox 26"/>
            <p:cNvSpPr txBox="1"/>
            <p:nvPr/>
          </p:nvSpPr>
          <p:spPr>
            <a:xfrm>
              <a:off x="8300466" y="1930400"/>
              <a:ext cx="530532"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AGCRN</a:t>
              </a:r>
            </a:p>
          </p:txBody>
        </p:sp>
        <p:sp>
          <p:nvSpPr>
            <p:cNvPr id="27" name="TextBox 27"/>
            <p:cNvSpPr txBox="1"/>
            <p:nvPr/>
          </p:nvSpPr>
          <p:spPr>
            <a:xfrm>
              <a:off x="8301038" y="2133600"/>
              <a:ext cx="982654"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node embeddings</a:t>
              </a:r>
            </a:p>
          </p:txBody>
        </p:sp>
        <p:sp>
          <p:nvSpPr>
            <p:cNvPr id="28" name="Rectangle 28"/>
            <p:cNvSpPr/>
            <p:nvPr/>
          </p:nvSpPr>
          <p:spPr>
            <a:xfrm>
              <a:off x="9696450" y="1828800"/>
              <a:ext cx="16573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29" name="TextBox 29"/>
            <p:cNvSpPr txBox="1"/>
            <p:nvPr/>
          </p:nvSpPr>
          <p:spPr>
            <a:xfrm>
              <a:off x="9843516" y="1930400"/>
              <a:ext cx="499243"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STGCN</a:t>
              </a:r>
            </a:p>
          </p:txBody>
        </p:sp>
        <p:sp>
          <p:nvSpPr>
            <p:cNvPr id="30" name="TextBox 30"/>
            <p:cNvSpPr txBox="1"/>
            <p:nvPr/>
          </p:nvSpPr>
          <p:spPr>
            <a:xfrm>
              <a:off x="9844088" y="2133600"/>
              <a:ext cx="815286"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road adjacency</a:t>
              </a:r>
            </a:p>
          </p:txBody>
        </p:sp>
        <p:sp>
          <p:nvSpPr>
            <p:cNvPr id="31" name="Rectangle 31"/>
            <p:cNvSpPr/>
            <p:nvPr/>
          </p:nvSpPr>
          <p:spPr>
            <a:xfrm>
              <a:off x="5067300" y="24765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32" name="TextBox 32"/>
            <p:cNvSpPr txBox="1"/>
            <p:nvPr/>
          </p:nvSpPr>
          <p:spPr>
            <a:xfrm>
              <a:off x="5214366" y="2578100"/>
              <a:ext cx="322336"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GRU</a:t>
              </a:r>
            </a:p>
          </p:txBody>
        </p:sp>
        <p:sp>
          <p:nvSpPr>
            <p:cNvPr id="33" name="TextBox 33"/>
            <p:cNvSpPr txBox="1"/>
            <p:nvPr/>
          </p:nvSpPr>
          <p:spPr>
            <a:xfrm>
              <a:off x="5214938" y="2781300"/>
              <a:ext cx="51546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sequence</a:t>
              </a:r>
            </a:p>
          </p:txBody>
        </p:sp>
        <p:sp>
          <p:nvSpPr>
            <p:cNvPr id="34" name="Rectangle 34"/>
            <p:cNvSpPr/>
            <p:nvPr/>
          </p:nvSpPr>
          <p:spPr>
            <a:xfrm>
              <a:off x="6610350" y="24765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35" name="TextBox 35"/>
            <p:cNvSpPr txBox="1"/>
            <p:nvPr/>
          </p:nvSpPr>
          <p:spPr>
            <a:xfrm>
              <a:off x="6757416" y="2578100"/>
              <a:ext cx="401164"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LSTM</a:t>
              </a:r>
            </a:p>
          </p:txBody>
        </p:sp>
        <p:sp>
          <p:nvSpPr>
            <p:cNvPr id="36" name="TextBox 36"/>
            <p:cNvSpPr txBox="1"/>
            <p:nvPr/>
          </p:nvSpPr>
          <p:spPr>
            <a:xfrm>
              <a:off x="6757988" y="2781300"/>
              <a:ext cx="51546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sequence</a:t>
              </a:r>
            </a:p>
          </p:txBody>
        </p:sp>
        <p:sp>
          <p:nvSpPr>
            <p:cNvPr id="37" name="Rectangle 37"/>
            <p:cNvSpPr/>
            <p:nvPr/>
          </p:nvSpPr>
          <p:spPr>
            <a:xfrm>
              <a:off x="8153400" y="2476500"/>
              <a:ext cx="1428750" cy="533400"/>
            </a:xfrm>
            <a:prstGeom prst="roundRect">
              <a:avLst>
                <a:gd name="adj" fmla="val 14286"/>
              </a:avLst>
            </a:prstGeom>
            <a:solidFill>
              <a:schemeClr val="lt1"/>
            </a:solidFill>
            <a:ln w="9525">
              <a:solidFill>
                <a:schemeClr val="accent6"/>
              </a:solidFill>
            </a:ln>
          </p:spPr>
          <p:txBody>
            <a:bodyPr/>
            <a:lstStyle/>
            <a:p>
              <a:endParaRPr lang="zh-CN" altLang="en-US"/>
            </a:p>
          </p:txBody>
        </p:sp>
        <p:sp>
          <p:nvSpPr>
            <p:cNvPr id="38" name="TextBox 38"/>
            <p:cNvSpPr txBox="1"/>
            <p:nvPr/>
          </p:nvSpPr>
          <p:spPr>
            <a:xfrm>
              <a:off x="8300466" y="2578100"/>
              <a:ext cx="324307"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FNN</a:t>
              </a:r>
            </a:p>
          </p:txBody>
        </p:sp>
        <p:sp>
          <p:nvSpPr>
            <p:cNvPr id="39" name="TextBox 39"/>
            <p:cNvSpPr txBox="1"/>
            <p:nvPr/>
          </p:nvSpPr>
          <p:spPr>
            <a:xfrm>
              <a:off x="8301038" y="2781300"/>
              <a:ext cx="51546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sequence</a:t>
              </a:r>
            </a:p>
          </p:txBody>
        </p:sp>
        <p:sp>
          <p:nvSpPr>
            <p:cNvPr id="40" name="Rectangle 40"/>
            <p:cNvSpPr/>
            <p:nvPr/>
          </p:nvSpPr>
          <p:spPr>
            <a:xfrm>
              <a:off x="9696450" y="2476500"/>
              <a:ext cx="1657350" cy="533400"/>
            </a:xfrm>
            <a:prstGeom prst="roundRect">
              <a:avLst>
                <a:gd name="adj" fmla="val 14286"/>
              </a:avLst>
            </a:prstGeom>
            <a:solidFill>
              <a:srgbClr val="DBEAFE"/>
            </a:solidFill>
            <a:ln w="9525">
              <a:solidFill>
                <a:srgbClr val="BFDBFE"/>
              </a:solidFill>
            </a:ln>
          </p:spPr>
          <p:txBody>
            <a:bodyPr/>
            <a:lstStyle/>
            <a:p>
              <a:endParaRPr lang="zh-CN" altLang="en-US"/>
            </a:p>
          </p:txBody>
        </p:sp>
        <p:sp>
          <p:nvSpPr>
            <p:cNvPr id="41" name="TextBox 41"/>
            <p:cNvSpPr txBox="1"/>
            <p:nvPr/>
          </p:nvSpPr>
          <p:spPr>
            <a:xfrm>
              <a:off x="9843516" y="2578100"/>
              <a:ext cx="1210574" cy="205359"/>
            </a:xfrm>
            <a:prstGeom prst="rect">
              <a:avLst/>
            </a:prstGeom>
            <a:noFill/>
            <a:ln>
              <a:noFill/>
            </a:ln>
          </p:spPr>
          <p:txBody>
            <a:bodyPr wrap="none" lIns="0" tIns="0" rIns="0" bIns="0" anchor="t" anchorCtr="0">
              <a:spAutoFit/>
            </a:bodyPr>
            <a:lstStyle/>
            <a:p>
              <a:pPr algn="l"/>
              <a:r>
                <a:rPr lang="en" sz="1050" b="1" dirty="0">
                  <a:solidFill>
                    <a:srgbClr val="1E40AF"/>
                  </a:solidFill>
                  <a:latin typeface="+mn-lt"/>
                  <a:ea typeface="+mn-ea"/>
                  <a:cs typeface="+mn-cs"/>
                </a:rPr>
                <a:t>MultiHeadSTGCN</a:t>
              </a:r>
            </a:p>
          </p:txBody>
        </p:sp>
        <p:sp>
          <p:nvSpPr>
            <p:cNvPr id="42" name="TextBox 42"/>
            <p:cNvSpPr txBox="1"/>
            <p:nvPr/>
          </p:nvSpPr>
          <p:spPr>
            <a:xfrm>
              <a:off x="9844088" y="2781300"/>
              <a:ext cx="1418544" cy="176212"/>
            </a:xfrm>
            <a:prstGeom prst="rect">
              <a:avLst/>
            </a:prstGeom>
            <a:noFill/>
            <a:ln>
              <a:noFill/>
            </a:ln>
          </p:spPr>
          <p:txBody>
            <a:bodyPr wrap="none" lIns="0" tIns="0" rIns="0" bIns="0" anchor="t" anchorCtr="0">
              <a:spAutoFit/>
            </a:bodyPr>
            <a:lstStyle/>
            <a:p>
              <a:pPr algn="l"/>
              <a:r>
                <a:rPr lang="en" sz="900" dirty="0">
                  <a:solidFill>
                    <a:srgbClr val="1E40AF"/>
                  </a:solidFill>
                  <a:latin typeface="+mn-lt"/>
                  <a:ea typeface="+mn-ea"/>
                  <a:cs typeface="+mn-cs"/>
                </a:rPr>
                <a:t>road adjacency + calendar</a:t>
              </a:r>
            </a:p>
          </p:txBody>
        </p:sp>
        <p:sp>
          <p:nvSpPr>
            <p:cNvPr id="43" name="TextBox 43"/>
            <p:cNvSpPr txBox="1"/>
            <p:nvPr/>
          </p:nvSpPr>
          <p:spPr>
            <a:xfrm>
              <a:off x="5062347" y="3130550"/>
              <a:ext cx="5495408"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Graph models reuse or learn spatial structure; sequence baselines treat sensors independently.</a:t>
              </a:r>
            </a:p>
          </p:txBody>
        </p:sp>
      </p:grpSp>
      <p:grpSp>
        <p:nvGrpSpPr>
          <p:cNvPr id="53" name="p11-regimes"/>
          <p:cNvGrpSpPr/>
          <p:nvPr/>
        </p:nvGrpSpPr>
        <p:grpSpPr>
          <a:xfrm>
            <a:off x="609600" y="3810000"/>
            <a:ext cx="10972800" cy="2095500"/>
            <a:chOff x="609600" y="3810000"/>
            <a:chExt cx="10972800" cy="2095500"/>
          </a:xfrm>
        </p:grpSpPr>
        <p:sp>
          <p:nvSpPr>
            <p:cNvPr id="45" name="Rectangle 45"/>
            <p:cNvSpPr/>
            <p:nvPr/>
          </p:nvSpPr>
          <p:spPr>
            <a:xfrm>
              <a:off x="609600" y="3810000"/>
              <a:ext cx="109728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46" name="TextBox 46"/>
            <p:cNvSpPr txBox="1"/>
            <p:nvPr/>
          </p:nvSpPr>
          <p:spPr>
            <a:xfrm>
              <a:off x="833438" y="4013200"/>
              <a:ext cx="912038"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TWO REGIMES</a:t>
              </a:r>
            </a:p>
          </p:txBody>
        </p:sp>
        <p:sp>
          <p:nvSpPr>
            <p:cNvPr id="47" name="Line 47"/>
            <p:cNvSpPr/>
            <p:nvPr/>
          </p:nvSpPr>
          <p:spPr>
            <a:xfrm>
              <a:off x="5943600" y="4305300"/>
              <a:ext cx="9525" cy="1295400"/>
            </a:xfrm>
            <a:custGeom>
              <a:avLst/>
              <a:gdLst/>
              <a:ahLst/>
              <a:cxnLst/>
              <a:rect l="l" t="t" r="r" b="b"/>
              <a:pathLst>
                <a:path w="9525" h="1295400">
                  <a:moveTo>
                    <a:pt x="0" y="0"/>
                  </a:moveTo>
                  <a:lnTo>
                    <a:pt x="0" y="1295400"/>
                  </a:lnTo>
                </a:path>
              </a:pathLst>
            </a:custGeom>
            <a:noFill/>
            <a:ln w="9525">
              <a:solidFill>
                <a:schemeClr val="accent6"/>
              </a:solidFill>
            </a:ln>
          </p:spPr>
          <p:txBody>
            <a:bodyPr/>
            <a:lstStyle/>
            <a:p>
              <a:endParaRPr lang="zh-CN" altLang="en-US"/>
            </a:p>
          </p:txBody>
        </p:sp>
        <p:sp>
          <p:nvSpPr>
            <p:cNvPr id="48" name="TextBox 48"/>
            <p:cNvSpPr txBox="1"/>
            <p:nvPr/>
          </p:nvSpPr>
          <p:spPr>
            <a:xfrm>
              <a:off x="832104" y="4381500"/>
              <a:ext cx="1595843"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Native configuration</a:t>
              </a:r>
            </a:p>
          </p:txBody>
        </p:sp>
        <p:sp>
          <p:nvSpPr>
            <p:cNvPr id="49" name="TextBox 49"/>
            <p:cNvSpPr txBox="1"/>
            <p:nvPr/>
          </p:nvSpPr>
          <p:spPr>
            <a:xfrm>
              <a:off x="832866" y="4641850"/>
              <a:ext cx="2253402" cy="891159"/>
            </a:xfrm>
            <a:prstGeom prst="rect">
              <a:avLst/>
            </a:prstGeom>
            <a:noFill/>
            <a:ln>
              <a:noFill/>
            </a:ln>
          </p:spPr>
          <p:txBody>
            <a:bodyPr wrap="none" lIns="0" tIns="0" rIns="0" bIns="0" anchor="t" anchorCtr="0">
              <a:spAutoFit/>
            </a:bodyPr>
            <a:lstStyle/>
            <a:p>
              <a:pPr marL="90691" indent="-90691" algn="l">
                <a:lnSpc>
                  <a:spcPts val="1800"/>
                </a:lnSpc>
                <a:buClr>
                  <a:schemeClr val="dk1"/>
                </a:buClr>
                <a:buSzTx/>
                <a:buFontTx/>
                <a:buChar char="•"/>
              </a:pPr>
              <a:r>
                <a:rPr lang="en" sz="1050" dirty="0">
                  <a:solidFill>
                    <a:schemeClr val="dk1"/>
                  </a:solidFill>
                  <a:latin typeface="+mn-lt"/>
                  <a:ea typeface="+mn-ea"/>
                  <a:cs typeface="+mn-cs"/>
                </a:rPr>
                <a:t>1 / 2 / 9 input channels as published</a:t>
              </a:r>
            </a:p>
            <a:p>
              <a:pPr marL="90691" indent="-90691" algn="l">
                <a:lnSpc>
                  <a:spcPts val="1800"/>
                </a:lnSpc>
                <a:buClr>
                  <a:schemeClr val="dk1"/>
                </a:buClr>
                <a:buSzTx/>
                <a:buFontTx/>
                <a:buChar char="•"/>
              </a:pPr>
              <a:r>
                <a:rPr lang="en" sz="1050" dirty="0">
                  <a:solidFill>
                    <a:schemeClr val="dk1"/>
                  </a:solidFill>
                  <a:latin typeface="+mn-lt"/>
                  <a:ea typeface="+mn-ea"/>
                  <a:cs typeface="+mn-cs"/>
                </a:rPr>
                <a:t>Each model's own training recipe</a:t>
              </a:r>
            </a:p>
            <a:p>
              <a:pPr marL="90691" indent="-90691" algn="l">
                <a:lnSpc>
                  <a:spcPts val="1800"/>
                </a:lnSpc>
                <a:buClr>
                  <a:schemeClr val="dk1"/>
                </a:buClr>
                <a:buSzTx/>
                <a:buFontTx/>
                <a:buChar char="•"/>
              </a:pPr>
              <a:r>
                <a:rPr lang="en" sz="1050" dirty="0">
                  <a:solidFill>
                    <a:schemeClr val="dk1"/>
                  </a:solidFill>
                  <a:latin typeface="+mn-lt"/>
                  <a:ea typeface="+mn-ea"/>
                  <a:cs typeface="+mn-cs"/>
                </a:rPr>
                <a:t>Complete-method comparison</a:t>
              </a:r>
            </a:p>
            <a:p>
              <a:pPr marL="90691" indent="-90691" algn="l">
                <a:lnSpc>
                  <a:spcPts val="1800"/>
                </a:lnSpc>
                <a:buClr>
                  <a:schemeClr val="dk1"/>
                </a:buClr>
                <a:buSzTx/>
                <a:buFontTx/>
                <a:buChar char="•"/>
              </a:pPr>
              <a:r>
                <a:rPr lang="en" sz="1050" dirty="0">
                  <a:solidFill>
                    <a:schemeClr val="dk1"/>
                  </a:solidFill>
                  <a:latin typeface="+mn-lt"/>
                  <a:ea typeface="+mn-ea"/>
                  <a:cs typeface="+mn-cs"/>
                </a:rPr>
                <a:t>Graph models vs sequence baselines</a:t>
              </a:r>
            </a:p>
          </p:txBody>
        </p:sp>
        <p:sp>
          <p:nvSpPr>
            <p:cNvPr id="50" name="TextBox 50"/>
            <p:cNvSpPr txBox="1"/>
            <p:nvPr/>
          </p:nvSpPr>
          <p:spPr>
            <a:xfrm>
              <a:off x="6166104" y="4381500"/>
              <a:ext cx="1021622"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Unified input</a:t>
              </a:r>
            </a:p>
          </p:txBody>
        </p:sp>
        <p:sp>
          <p:nvSpPr>
            <p:cNvPr id="51" name="TextBox 51"/>
            <p:cNvSpPr txBox="1"/>
            <p:nvPr/>
          </p:nvSpPr>
          <p:spPr>
            <a:xfrm>
              <a:off x="6166866" y="4641850"/>
              <a:ext cx="2512834" cy="891159"/>
            </a:xfrm>
            <a:prstGeom prst="rect">
              <a:avLst/>
            </a:prstGeom>
            <a:noFill/>
            <a:ln>
              <a:noFill/>
            </a:ln>
          </p:spPr>
          <p:txBody>
            <a:bodyPr wrap="none" lIns="0" tIns="0" rIns="0" bIns="0" anchor="t" anchorCtr="0">
              <a:spAutoFit/>
            </a:bodyPr>
            <a:lstStyle/>
            <a:p>
              <a:pPr marL="90691" indent="-90691" algn="l">
                <a:lnSpc>
                  <a:spcPts val="1800"/>
                </a:lnSpc>
                <a:buClr>
                  <a:schemeClr val="dk1"/>
                </a:buClr>
                <a:buSzTx/>
                <a:buFontTx/>
                <a:buChar char="•"/>
              </a:pPr>
              <a:r>
                <a:rPr lang="en" sz="1050" dirty="0">
                  <a:solidFill>
                    <a:schemeClr val="dk1"/>
                  </a:solidFill>
                  <a:latin typeface="+mn-lt"/>
                  <a:ea typeface="+mn-ea"/>
                  <a:cs typeface="+mn-cs"/>
                </a:rPr>
                <a:t>Flow + time-of-day + seven day-of-week</a:t>
              </a:r>
            </a:p>
            <a:p>
              <a:pPr marL="90691" indent="-90691" algn="l">
                <a:lnSpc>
                  <a:spcPts val="1800"/>
                </a:lnSpc>
                <a:buClr>
                  <a:schemeClr val="dk1"/>
                </a:buClr>
                <a:buSzTx/>
                <a:buFontTx/>
                <a:buChar char="•"/>
              </a:pPr>
              <a:r>
                <a:rPr lang="en" sz="1050" dirty="0">
                  <a:solidFill>
                    <a:schemeClr val="dk1"/>
                  </a:solidFill>
                  <a:latin typeface="+mn-lt"/>
                  <a:ea typeface="+mn-ea"/>
                  <a:cs typeface="+mn-cs"/>
                </a:rPr>
                <a:t>Same input information for every model</a:t>
              </a:r>
            </a:p>
            <a:p>
              <a:pPr marL="90691" indent="-90691" algn="l">
                <a:lnSpc>
                  <a:spcPts val="1800"/>
                </a:lnSpc>
                <a:buClr>
                  <a:schemeClr val="dk1"/>
                </a:buClr>
                <a:buSzTx/>
                <a:buFontTx/>
                <a:buChar char="•"/>
              </a:pPr>
              <a:r>
                <a:rPr lang="en" sz="1050" dirty="0">
                  <a:solidFill>
                    <a:schemeClr val="dk1"/>
                  </a:solidFill>
                  <a:latin typeface="+mn-lt"/>
                  <a:ea typeface="+mn-ea"/>
                  <a:cs typeface="+mn-cs"/>
                </a:rPr>
                <a:t>Top four re-run on seeds 0–4</a:t>
              </a:r>
            </a:p>
            <a:p>
              <a:pPr marL="90691" indent="-90691" algn="l">
                <a:lnSpc>
                  <a:spcPts val="1800"/>
                </a:lnSpc>
                <a:buClr>
                  <a:schemeClr val="dk1"/>
                </a:buClr>
                <a:buSzTx/>
                <a:buFontTx/>
                <a:buChar char="•"/>
              </a:pPr>
              <a:r>
                <a:rPr lang="en" sz="1050" dirty="0">
                  <a:solidFill>
                    <a:schemeClr val="dk1"/>
                  </a:solidFill>
                  <a:latin typeface="+mn-lt"/>
                  <a:ea typeface="+mn-ea"/>
                  <a:cs typeface="+mn-cs"/>
                </a:rPr>
                <a:t>Paired differences with 95% intervals</a:t>
              </a:r>
            </a:p>
          </p:txBody>
        </p:sp>
      </p:grpSp>
      <p:grpSp>
        <p:nvGrpSpPr>
          <p:cNvPr id="56" name="p11-footer"/>
          <p:cNvGrpSpPr/>
          <p:nvPr/>
        </p:nvGrpSpPr>
        <p:grpSpPr>
          <a:xfrm>
            <a:off x="609600" y="6515100"/>
            <a:ext cx="10977753" cy="265111"/>
            <a:chOff x="609600" y="6515100"/>
            <a:chExt cx="10977753" cy="265111"/>
          </a:xfrm>
        </p:grpSpPr>
        <p:sp>
          <p:nvSpPr>
            <p:cNvPr id="54" name="Line 54"/>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55" name="TextBox 55"/>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sample-title"/>
          <p:cNvGrpSpPr/>
          <p:nvPr/>
        </p:nvGrpSpPr>
        <p:grpSpPr>
          <a:xfrm>
            <a:off x="594360" y="419100"/>
            <a:ext cx="10327471" cy="789940"/>
            <a:chOff x="594360" y="419100"/>
            <a:chExt cx="10327471" cy="789940"/>
          </a:xfrm>
        </p:grpSpPr>
        <p:sp>
          <p:nvSpPr>
            <p:cNvPr id="2" name="TextBox 2"/>
            <p:cNvSpPr txBox="1"/>
            <p:nvPr/>
          </p:nvSpPr>
          <p:spPr>
            <a:xfrm>
              <a:off x="604647" y="419100"/>
              <a:ext cx="2123735"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3 · FORECASTING</a:t>
              </a:r>
            </a:p>
          </p:txBody>
        </p:sp>
        <p:sp>
          <p:nvSpPr>
            <p:cNvPr id="3" name="TextBox 3"/>
            <p:cNvSpPr txBox="1"/>
            <p:nvPr/>
          </p:nvSpPr>
          <p:spPr>
            <a:xfrm>
              <a:off x="594360" y="622300"/>
              <a:ext cx="10327471"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MultiHeadSTGCN predicts all twelve steps in one pass</a:t>
              </a:r>
            </a:p>
          </p:txBody>
        </p:sp>
      </p:grpSp>
      <p:grpSp>
        <p:nvGrpSpPr>
          <p:cNvPr id="58" name="sample-diagram"/>
          <p:cNvGrpSpPr/>
          <p:nvPr/>
        </p:nvGrpSpPr>
        <p:grpSpPr>
          <a:xfrm>
            <a:off x="609600" y="1333500"/>
            <a:ext cx="6667500" cy="3143250"/>
            <a:chOff x="609600" y="1333500"/>
            <a:chExt cx="6667500" cy="3143250"/>
          </a:xfrm>
        </p:grpSpPr>
        <p:sp>
          <p:nvSpPr>
            <p:cNvPr id="5" name="Rectangle 5"/>
            <p:cNvSpPr/>
            <p:nvPr/>
          </p:nvSpPr>
          <p:spPr>
            <a:xfrm>
              <a:off x="609600" y="1333500"/>
              <a:ext cx="66675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714500"/>
              <a:ext cx="1428750" cy="666750"/>
            </a:xfrm>
            <a:prstGeom prst="roundRect">
              <a:avLst>
                <a:gd name="adj" fmla="val 11429"/>
              </a:avLst>
            </a:prstGeom>
            <a:solidFill>
              <a:schemeClr val="lt1"/>
            </a:solidFill>
            <a:ln w="9525">
              <a:solidFill>
                <a:schemeClr val="accent6"/>
              </a:solidFill>
            </a:ln>
          </p:spPr>
          <p:txBody>
            <a:bodyPr/>
            <a:lstStyle/>
            <a:p>
              <a:endParaRPr lang="zh-CN" altLang="en-US"/>
            </a:p>
          </p:txBody>
        </p:sp>
        <p:sp>
          <p:nvSpPr>
            <p:cNvPr id="7" name="TextBox 7"/>
            <p:cNvSpPr txBox="1"/>
            <p:nvPr/>
          </p:nvSpPr>
          <p:spPr>
            <a:xfrm>
              <a:off x="928421" y="1841500"/>
              <a:ext cx="330276" cy="161925"/>
            </a:xfrm>
            <a:prstGeom prst="rect">
              <a:avLst/>
            </a:prstGeom>
            <a:noFill/>
            <a:ln>
              <a:noFill/>
            </a:ln>
          </p:spPr>
          <p:txBody>
            <a:bodyPr wrap="none" lIns="0" tIns="0" rIns="0" bIns="0" anchor="t" anchorCtr="0">
              <a:spAutoFit/>
            </a:bodyPr>
            <a:lstStyle/>
            <a:p>
              <a:pPr algn="l"/>
              <a:r>
                <a:rPr lang="en" sz="820" dirty="0">
                  <a:solidFill>
                    <a:schemeClr val="accent5"/>
                  </a:solidFill>
                  <a:latin typeface="Consolas"/>
                  <a:ea typeface="Consolas"/>
                  <a:cs typeface="Consolas"/>
                </a:rPr>
                <a:t>INPUT</a:t>
              </a:r>
            </a:p>
          </p:txBody>
        </p:sp>
        <p:sp>
          <p:nvSpPr>
            <p:cNvPr id="8" name="TextBox 8"/>
            <p:cNvSpPr txBox="1"/>
            <p:nvPr/>
          </p:nvSpPr>
          <p:spPr>
            <a:xfrm>
              <a:off x="905913" y="2051050"/>
              <a:ext cx="1361037" cy="205359"/>
            </a:xfrm>
            <a:prstGeom prst="rect">
              <a:avLst/>
            </a:prstGeom>
            <a:noFill/>
            <a:ln>
              <a:noFill/>
            </a:ln>
          </p:spPr>
          <p:txBody>
            <a:bodyPr wrap="none" lIns="0" tIns="0" rIns="0" bIns="0" anchor="t" anchorCtr="0">
              <a:spAutoFit/>
            </a:bodyPr>
            <a:lstStyle/>
            <a:p>
              <a:pPr algn="l"/>
              <a:r>
                <a:rPr lang="en" sz="1050" dirty="0">
                  <a:solidFill>
                    <a:schemeClr val="accent1"/>
                  </a:solidFill>
                  <a:latin typeface="+mn-lt"/>
                  <a:ea typeface="+mn-ea"/>
                  <a:cs typeface="+mn-cs"/>
                </a:rPr>
                <a:t>12 steps × 9 channels</a:t>
              </a:r>
            </a:p>
          </p:txBody>
        </p:sp>
        <p:sp>
          <p:nvSpPr>
            <p:cNvPr id="9" name="Rectangle 9"/>
            <p:cNvSpPr/>
            <p:nvPr/>
          </p:nvSpPr>
          <p:spPr>
            <a:xfrm>
              <a:off x="2571750" y="1714500"/>
              <a:ext cx="1428750" cy="666750"/>
            </a:xfrm>
            <a:prstGeom prst="roundRect">
              <a:avLst>
                <a:gd name="adj" fmla="val 11429"/>
              </a:avLst>
            </a:prstGeom>
            <a:solidFill>
              <a:schemeClr val="lt1"/>
            </a:solidFill>
            <a:ln w="9525">
              <a:solidFill>
                <a:schemeClr val="accent6"/>
              </a:solidFill>
            </a:ln>
          </p:spPr>
          <p:txBody>
            <a:bodyPr/>
            <a:lstStyle/>
            <a:p>
              <a:endParaRPr lang="zh-CN" altLang="en-US"/>
            </a:p>
          </p:txBody>
        </p:sp>
        <p:sp>
          <p:nvSpPr>
            <p:cNvPr id="10" name="TextBox 10"/>
            <p:cNvSpPr txBox="1"/>
            <p:nvPr/>
          </p:nvSpPr>
          <p:spPr>
            <a:xfrm>
              <a:off x="2719388" y="1841500"/>
              <a:ext cx="522727" cy="161925"/>
            </a:xfrm>
            <a:prstGeom prst="rect">
              <a:avLst/>
            </a:prstGeom>
            <a:noFill/>
            <a:ln>
              <a:noFill/>
            </a:ln>
          </p:spPr>
          <p:txBody>
            <a:bodyPr wrap="none" lIns="0" tIns="0" rIns="0" bIns="0" anchor="t" anchorCtr="0">
              <a:spAutoFit/>
            </a:bodyPr>
            <a:lstStyle/>
            <a:p>
              <a:pPr algn="l"/>
              <a:r>
                <a:rPr lang="en" sz="820" dirty="0">
                  <a:solidFill>
                    <a:schemeClr val="accent5"/>
                  </a:solidFill>
                  <a:latin typeface="Consolas"/>
                  <a:ea typeface="Consolas"/>
                  <a:cs typeface="Consolas"/>
                </a:rPr>
                <a:t>TEMPORAL</a:t>
              </a:r>
            </a:p>
          </p:txBody>
        </p:sp>
        <p:sp>
          <p:nvSpPr>
            <p:cNvPr id="11" name="TextBox 11"/>
            <p:cNvSpPr txBox="1"/>
            <p:nvPr/>
          </p:nvSpPr>
          <p:spPr>
            <a:xfrm>
              <a:off x="2718816" y="2044700"/>
              <a:ext cx="1160318" cy="205359"/>
            </a:xfrm>
            <a:prstGeom prst="rect">
              <a:avLst/>
            </a:prstGeom>
            <a:noFill/>
            <a:ln>
              <a:noFill/>
            </a:ln>
          </p:spPr>
          <p:txBody>
            <a:bodyPr wrap="none" lIns="0" tIns="0" rIns="0" bIns="0" anchor="t" anchorCtr="0">
              <a:spAutoFit/>
            </a:bodyPr>
            <a:lstStyle/>
            <a:p>
              <a:pPr algn="l"/>
              <a:r>
                <a:rPr lang="en" sz="1050" dirty="0">
                  <a:solidFill>
                    <a:schemeClr val="accent1"/>
                  </a:solidFill>
                  <a:latin typeface="+mn-lt"/>
                  <a:ea typeface="+mn-ea"/>
                  <a:cs typeface="+mn-cs"/>
                </a:rPr>
                <a:t>2 × temporal conv</a:t>
              </a:r>
            </a:p>
          </p:txBody>
        </p:sp>
        <p:sp>
          <p:nvSpPr>
            <p:cNvPr id="12" name="Rectangle 12"/>
            <p:cNvSpPr/>
            <p:nvPr/>
          </p:nvSpPr>
          <p:spPr>
            <a:xfrm>
              <a:off x="4305300" y="1714500"/>
              <a:ext cx="1428750" cy="666750"/>
            </a:xfrm>
            <a:prstGeom prst="roundRect">
              <a:avLst>
                <a:gd name="adj" fmla="val 11429"/>
              </a:avLst>
            </a:prstGeom>
            <a:solidFill>
              <a:schemeClr val="lt1"/>
            </a:solidFill>
            <a:ln w="9525">
              <a:solidFill>
                <a:schemeClr val="accent6"/>
              </a:solidFill>
            </a:ln>
          </p:spPr>
          <p:txBody>
            <a:bodyPr/>
            <a:lstStyle/>
            <a:p>
              <a:endParaRPr lang="zh-CN" altLang="en-US"/>
            </a:p>
          </p:txBody>
        </p:sp>
        <p:sp>
          <p:nvSpPr>
            <p:cNvPr id="13" name="TextBox 13"/>
            <p:cNvSpPr txBox="1"/>
            <p:nvPr/>
          </p:nvSpPr>
          <p:spPr>
            <a:xfrm>
              <a:off x="4452938" y="1841500"/>
              <a:ext cx="458577" cy="161925"/>
            </a:xfrm>
            <a:prstGeom prst="rect">
              <a:avLst/>
            </a:prstGeom>
            <a:noFill/>
            <a:ln>
              <a:noFill/>
            </a:ln>
          </p:spPr>
          <p:txBody>
            <a:bodyPr wrap="none" lIns="0" tIns="0" rIns="0" bIns="0" anchor="t" anchorCtr="0">
              <a:spAutoFit/>
            </a:bodyPr>
            <a:lstStyle/>
            <a:p>
              <a:pPr algn="l"/>
              <a:r>
                <a:rPr lang="en" sz="820" dirty="0">
                  <a:solidFill>
                    <a:schemeClr val="accent5"/>
                  </a:solidFill>
                  <a:latin typeface="Consolas"/>
                  <a:ea typeface="Consolas"/>
                  <a:cs typeface="Consolas"/>
                </a:rPr>
                <a:t>SPATIAL</a:t>
              </a:r>
            </a:p>
          </p:txBody>
        </p:sp>
        <p:sp>
          <p:nvSpPr>
            <p:cNvPr id="14" name="TextBox 14"/>
            <p:cNvSpPr txBox="1"/>
            <p:nvPr/>
          </p:nvSpPr>
          <p:spPr>
            <a:xfrm>
              <a:off x="4452366" y="2044700"/>
              <a:ext cx="1172400" cy="205359"/>
            </a:xfrm>
            <a:prstGeom prst="rect">
              <a:avLst/>
            </a:prstGeom>
            <a:noFill/>
            <a:ln>
              <a:noFill/>
            </a:ln>
          </p:spPr>
          <p:txBody>
            <a:bodyPr wrap="none" lIns="0" tIns="0" rIns="0" bIns="0" anchor="t" anchorCtr="0">
              <a:spAutoFit/>
            </a:bodyPr>
            <a:lstStyle/>
            <a:p>
              <a:pPr algn="l"/>
              <a:r>
                <a:rPr lang="en" sz="1050" dirty="0">
                  <a:solidFill>
                    <a:schemeClr val="accent1"/>
                  </a:solidFill>
                  <a:latin typeface="+mn-lt"/>
                  <a:ea typeface="+mn-ea"/>
                  <a:cs typeface="+mn-cs"/>
                </a:rPr>
                <a:t>Graph convolution</a:t>
              </a:r>
            </a:p>
          </p:txBody>
        </p:sp>
        <p:sp>
          <p:nvSpPr>
            <p:cNvPr id="15" name="Rectangle 15"/>
            <p:cNvSpPr/>
            <p:nvPr/>
          </p:nvSpPr>
          <p:spPr>
            <a:xfrm>
              <a:off x="6038850" y="1714500"/>
              <a:ext cx="1047750" cy="666750"/>
            </a:xfrm>
            <a:prstGeom prst="roundRect">
              <a:avLst>
                <a:gd name="adj" fmla="val 11429"/>
              </a:avLst>
            </a:prstGeom>
            <a:solidFill>
              <a:srgbClr val="DBEAFE"/>
            </a:solidFill>
            <a:ln w="9525">
              <a:solidFill>
                <a:srgbClr val="BFDBFE"/>
              </a:solidFill>
            </a:ln>
          </p:spPr>
          <p:txBody>
            <a:bodyPr/>
            <a:lstStyle/>
            <a:p>
              <a:endParaRPr lang="zh-CN" altLang="en-US"/>
            </a:p>
          </p:txBody>
        </p:sp>
        <p:sp>
          <p:nvSpPr>
            <p:cNvPr id="16" name="TextBox 16"/>
            <p:cNvSpPr txBox="1"/>
            <p:nvPr/>
          </p:nvSpPr>
          <p:spPr>
            <a:xfrm>
              <a:off x="6186488" y="1841500"/>
              <a:ext cx="330276" cy="161925"/>
            </a:xfrm>
            <a:prstGeom prst="rect">
              <a:avLst/>
            </a:prstGeom>
            <a:noFill/>
            <a:ln>
              <a:noFill/>
            </a:ln>
          </p:spPr>
          <p:txBody>
            <a:bodyPr wrap="none" lIns="0" tIns="0" rIns="0" bIns="0" anchor="t" anchorCtr="0">
              <a:spAutoFit/>
            </a:bodyPr>
            <a:lstStyle/>
            <a:p>
              <a:pPr algn="l"/>
              <a:r>
                <a:rPr lang="en" sz="820" dirty="0">
                  <a:solidFill>
                    <a:srgbClr val="1E40AF"/>
                  </a:solidFill>
                  <a:latin typeface="Consolas"/>
                  <a:ea typeface="Consolas"/>
                  <a:cs typeface="Consolas"/>
                </a:rPr>
                <a:t>HEADS</a:t>
              </a:r>
            </a:p>
          </p:txBody>
        </p:sp>
        <p:sp>
          <p:nvSpPr>
            <p:cNvPr id="17" name="TextBox 17"/>
            <p:cNvSpPr txBox="1"/>
            <p:nvPr/>
          </p:nvSpPr>
          <p:spPr>
            <a:xfrm>
              <a:off x="6185916" y="2044700"/>
              <a:ext cx="729395" cy="205359"/>
            </a:xfrm>
            <a:prstGeom prst="rect">
              <a:avLst/>
            </a:prstGeom>
            <a:noFill/>
            <a:ln>
              <a:noFill/>
            </a:ln>
          </p:spPr>
          <p:txBody>
            <a:bodyPr wrap="none" lIns="0" tIns="0" rIns="0" bIns="0" anchor="t" anchorCtr="0">
              <a:spAutoFit/>
            </a:bodyPr>
            <a:lstStyle/>
            <a:p>
              <a:pPr algn="l"/>
              <a:r>
                <a:rPr lang="en" sz="1050" dirty="0">
                  <a:solidFill>
                    <a:srgbClr val="1E40AF"/>
                  </a:solidFill>
                  <a:latin typeface="+mn-lt"/>
                  <a:ea typeface="+mn-ea"/>
                  <a:cs typeface="+mn-cs"/>
                </a:rPr>
                <a:t>12 per-step</a:t>
              </a:r>
            </a:p>
          </p:txBody>
        </p:sp>
        <p:sp>
          <p:nvSpPr>
            <p:cNvPr id="18" name="Line 18"/>
            <p:cNvSpPr/>
            <p:nvPr/>
          </p:nvSpPr>
          <p:spPr>
            <a:xfrm>
              <a:off x="2266950" y="2047875"/>
              <a:ext cx="266700" cy="1"/>
            </a:xfrm>
            <a:prstGeom prst="line">
              <a:avLst/>
            </a:prstGeom>
            <a:noFill/>
            <a:ln w="19050">
              <a:solidFill>
                <a:schemeClr val="accent2"/>
              </a:solidFill>
              <a:tailEnd type="triangle" w="lg" len="lg"/>
            </a:ln>
          </p:spPr>
          <p:txBody>
            <a:bodyPr/>
            <a:lstStyle/>
            <a:p>
              <a:endParaRPr lang="zh-CN" altLang="en-US"/>
            </a:p>
          </p:txBody>
        </p:sp>
        <p:sp>
          <p:nvSpPr>
            <p:cNvPr id="19" name="Line 19"/>
            <p:cNvSpPr/>
            <p:nvPr/>
          </p:nvSpPr>
          <p:spPr>
            <a:xfrm>
              <a:off x="4000500" y="2047875"/>
              <a:ext cx="266700" cy="1"/>
            </a:xfrm>
            <a:prstGeom prst="line">
              <a:avLst/>
            </a:prstGeom>
            <a:noFill/>
            <a:ln w="19050">
              <a:solidFill>
                <a:schemeClr val="accent2"/>
              </a:solidFill>
              <a:tailEnd type="triangle" w="lg" len="lg"/>
            </a:ln>
          </p:spPr>
          <p:txBody>
            <a:bodyPr/>
            <a:lstStyle/>
            <a:p>
              <a:endParaRPr lang="zh-CN" altLang="en-US"/>
            </a:p>
          </p:txBody>
        </p:sp>
        <p:sp>
          <p:nvSpPr>
            <p:cNvPr id="20" name="Line 20"/>
            <p:cNvSpPr/>
            <p:nvPr/>
          </p:nvSpPr>
          <p:spPr>
            <a:xfrm>
              <a:off x="5734050" y="2047875"/>
              <a:ext cx="266700" cy="1"/>
            </a:xfrm>
            <a:prstGeom prst="line">
              <a:avLst/>
            </a:prstGeom>
            <a:noFill/>
            <a:ln w="19050">
              <a:solidFill>
                <a:schemeClr val="accent2"/>
              </a:solidFill>
              <a:tailEnd type="triangle" w="lg" len="lg"/>
            </a:ln>
          </p:spPr>
          <p:txBody>
            <a:bodyPr/>
            <a:lstStyle/>
            <a:p>
              <a:endParaRPr lang="zh-CN" altLang="en-US"/>
            </a:p>
          </p:txBody>
        </p:sp>
        <p:sp>
          <p:nvSpPr>
            <p:cNvPr id="21" name="Rectangle 21"/>
            <p:cNvSpPr/>
            <p:nvPr/>
          </p:nvSpPr>
          <p:spPr>
            <a:xfrm>
              <a:off x="838200" y="2571750"/>
              <a:ext cx="2857500" cy="476250"/>
            </a:xfrm>
            <a:prstGeom prst="roundRect">
              <a:avLst>
                <a:gd name="adj" fmla="val 16000"/>
              </a:avLst>
            </a:prstGeom>
            <a:solidFill>
              <a:srgbClr val="CCFBF1"/>
            </a:solidFill>
            <a:ln w="9525">
              <a:solidFill>
                <a:srgbClr val="99F6E4"/>
              </a:solidFill>
            </a:ln>
          </p:spPr>
          <p:txBody>
            <a:bodyPr/>
            <a:lstStyle/>
            <a:p>
              <a:endParaRPr lang="zh-CN" altLang="en-US"/>
            </a:p>
          </p:txBody>
        </p:sp>
        <p:sp>
          <p:nvSpPr>
            <p:cNvPr id="22" name="Freeform 22"/>
            <p:cNvSpPr/>
            <p:nvPr/>
          </p:nvSpPr>
          <p:spPr>
            <a:xfrm>
              <a:off x="971550" y="270083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95250" y="42367"/>
                  </a:moveTo>
                  <a:cubicBezTo>
                    <a:pt x="90421" y="42367"/>
                    <a:pt x="86357" y="45981"/>
                    <a:pt x="85792" y="50777"/>
                  </a:cubicBezTo>
                  <a:lnTo>
                    <a:pt x="85725" y="51892"/>
                  </a:lnTo>
                  <a:lnTo>
                    <a:pt x="85725" y="99517"/>
                  </a:lnTo>
                  <a:lnTo>
                    <a:pt x="85811" y="100764"/>
                  </a:lnTo>
                  <a:cubicBezTo>
                    <a:pt x="86028" y="102417"/>
                    <a:pt x="86675" y="103984"/>
                    <a:pt x="87687" y="105308"/>
                  </a:cubicBezTo>
                  <a:lnTo>
                    <a:pt x="88516" y="106260"/>
                  </a:lnTo>
                  <a:lnTo>
                    <a:pt x="117091" y="134835"/>
                  </a:lnTo>
                  <a:lnTo>
                    <a:pt x="117986" y="135616"/>
                  </a:lnTo>
                  <a:cubicBezTo>
                    <a:pt x="121422" y="138282"/>
                    <a:pt x="126228" y="138282"/>
                    <a:pt x="129664" y="135616"/>
                  </a:cubicBezTo>
                  <a:lnTo>
                    <a:pt x="130559" y="134826"/>
                  </a:lnTo>
                  <a:lnTo>
                    <a:pt x="131350" y="133930"/>
                  </a:lnTo>
                  <a:cubicBezTo>
                    <a:pt x="134016" y="130494"/>
                    <a:pt x="134016" y="125689"/>
                    <a:pt x="131350" y="122253"/>
                  </a:cubicBezTo>
                  <a:lnTo>
                    <a:pt x="130559" y="121357"/>
                  </a:lnTo>
                  <a:lnTo>
                    <a:pt x="104775" y="95564"/>
                  </a:lnTo>
                  <a:lnTo>
                    <a:pt x="104775" y="51892"/>
                  </a:lnTo>
                  <a:lnTo>
                    <a:pt x="104708" y="50777"/>
                  </a:lnTo>
                  <a:cubicBezTo>
                    <a:pt x="104143" y="45981"/>
                    <a:pt x="100079" y="42367"/>
                    <a:pt x="95250" y="42367"/>
                  </a:cubicBezTo>
                  <a:close/>
                </a:path>
              </a:pathLst>
            </a:custGeom>
            <a:solidFill>
              <a:schemeClr val="accent3"/>
            </a:solidFill>
            <a:ln>
              <a:noFill/>
            </a:ln>
          </p:spPr>
          <p:txBody>
            <a:bodyPr/>
            <a:lstStyle/>
            <a:p>
              <a:endParaRPr lang="zh-CN" altLang="en-US"/>
            </a:p>
          </p:txBody>
        </p:sp>
        <p:sp>
          <p:nvSpPr>
            <p:cNvPr id="23" name="TextBox 23"/>
            <p:cNvSpPr txBox="1"/>
            <p:nvPr/>
          </p:nvSpPr>
          <p:spPr>
            <a:xfrm>
              <a:off x="1252347" y="2654300"/>
              <a:ext cx="924337"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mn-lt"/>
                  <a:ea typeface="+mn-ea"/>
                  <a:cs typeface="+mn-cs"/>
                </a:rPr>
                <a:t>Calendar inputs</a:t>
              </a:r>
            </a:p>
          </p:txBody>
        </p:sp>
        <p:sp>
          <p:nvSpPr>
            <p:cNvPr id="24" name="TextBox 24"/>
            <p:cNvSpPr txBox="1"/>
            <p:nvPr/>
          </p:nvSpPr>
          <p:spPr>
            <a:xfrm>
              <a:off x="1252538" y="2838450"/>
              <a:ext cx="1804214" cy="176212"/>
            </a:xfrm>
            <a:prstGeom prst="rect">
              <a:avLst/>
            </a:prstGeom>
            <a:noFill/>
            <a:ln>
              <a:noFill/>
            </a:ln>
          </p:spPr>
          <p:txBody>
            <a:bodyPr wrap="none" lIns="0" tIns="0" rIns="0" bIns="0" anchor="t" anchorCtr="0">
              <a:spAutoFit/>
            </a:bodyPr>
            <a:lstStyle/>
            <a:p>
              <a:pPr algn="l"/>
              <a:r>
                <a:rPr lang="en" sz="900" dirty="0">
                  <a:solidFill>
                    <a:schemeClr val="dk1"/>
                  </a:solidFill>
                  <a:latin typeface="+mn-lt"/>
                  <a:ea typeface="+mn-ea"/>
                  <a:cs typeface="+mn-cs"/>
                </a:rPr>
                <a:t>time-of-day + seven day-of-week</a:t>
              </a:r>
            </a:p>
          </p:txBody>
        </p:sp>
        <p:sp>
          <p:nvSpPr>
            <p:cNvPr id="25" name="Rectangle 25"/>
            <p:cNvSpPr/>
            <p:nvPr/>
          </p:nvSpPr>
          <p:spPr>
            <a:xfrm>
              <a:off x="4305300" y="2571750"/>
              <a:ext cx="2781300" cy="476250"/>
            </a:xfrm>
            <a:prstGeom prst="roundRect">
              <a:avLst>
                <a:gd name="adj" fmla="val 16000"/>
              </a:avLst>
            </a:prstGeom>
            <a:solidFill>
              <a:srgbClr val="DBEAFE"/>
            </a:solidFill>
            <a:ln w="9525">
              <a:solidFill>
                <a:srgbClr val="BFDBFE"/>
              </a:solidFill>
            </a:ln>
          </p:spPr>
          <p:txBody>
            <a:bodyPr/>
            <a:lstStyle/>
            <a:p>
              <a:endParaRPr lang="zh-CN" altLang="en-US"/>
            </a:p>
          </p:txBody>
        </p:sp>
        <p:grpSp>
          <p:nvGrpSpPr>
            <p:cNvPr id="30" name="Group 30"/>
            <p:cNvGrpSpPr/>
            <p:nvPr/>
          </p:nvGrpSpPr>
          <p:grpSpPr>
            <a:xfrm>
              <a:off x="4438650" y="2705100"/>
              <a:ext cx="190500" cy="190500"/>
              <a:chOff x="4438650" y="2705100"/>
              <a:chExt cx="190500" cy="190500"/>
            </a:xfrm>
          </p:grpSpPr>
          <p:sp>
            <p:nvSpPr>
              <p:cNvPr id="26" name="Freeform 26"/>
              <p:cNvSpPr/>
              <p:nvPr/>
            </p:nvSpPr>
            <p:spPr>
              <a:xfrm>
                <a:off x="4438650" y="2819400"/>
                <a:ext cx="76200" cy="76200"/>
              </a:xfrm>
              <a:custGeom>
                <a:avLst/>
                <a:gdLst/>
                <a:ahLst/>
                <a:cxnLst/>
                <a:rect l="l" t="t" r="r" b="b"/>
                <a:pathLst>
                  <a:path w="76200" h="76200">
                    <a:moveTo>
                      <a:pt x="0" y="25403"/>
                    </a:moveTo>
                    <a:cubicBezTo>
                      <a:pt x="0" y="11373"/>
                      <a:pt x="11373" y="0"/>
                      <a:pt x="25403" y="0"/>
                    </a:cubicBezTo>
                    <a:lnTo>
                      <a:pt x="50797" y="0"/>
                    </a:lnTo>
                    <a:cubicBezTo>
                      <a:pt x="64827" y="0"/>
                      <a:pt x="76200" y="11373"/>
                      <a:pt x="76200" y="25403"/>
                    </a:cubicBezTo>
                    <a:lnTo>
                      <a:pt x="76200" y="50797"/>
                    </a:lnTo>
                    <a:cubicBezTo>
                      <a:pt x="76200" y="64827"/>
                      <a:pt x="64827" y="76200"/>
                      <a:pt x="50797" y="76200"/>
                    </a:cubicBezTo>
                    <a:lnTo>
                      <a:pt x="25403" y="76200"/>
                    </a:lnTo>
                    <a:cubicBezTo>
                      <a:pt x="18666" y="76200"/>
                      <a:pt x="12204" y="73524"/>
                      <a:pt x="7440" y="68760"/>
                    </a:cubicBezTo>
                    <a:cubicBezTo>
                      <a:pt x="2676" y="63996"/>
                      <a:pt x="0" y="57534"/>
                      <a:pt x="0" y="50797"/>
                    </a:cubicBezTo>
                    <a:close/>
                  </a:path>
                </a:pathLst>
              </a:custGeom>
              <a:solidFill>
                <a:schemeClr val="accent2"/>
              </a:solidFill>
              <a:ln>
                <a:noFill/>
              </a:ln>
            </p:spPr>
            <p:txBody>
              <a:bodyPr/>
              <a:lstStyle/>
              <a:p>
                <a:endParaRPr lang="zh-CN" altLang="en-US"/>
              </a:p>
            </p:txBody>
          </p:sp>
          <p:sp>
            <p:nvSpPr>
              <p:cNvPr id="27" name="Freeform 27"/>
              <p:cNvSpPr/>
              <p:nvPr/>
            </p:nvSpPr>
            <p:spPr>
              <a:xfrm>
                <a:off x="4552950" y="2819400"/>
                <a:ext cx="76200" cy="76200"/>
              </a:xfrm>
              <a:custGeom>
                <a:avLst/>
                <a:gdLst/>
                <a:ahLst/>
                <a:cxnLst/>
                <a:rect l="l" t="t" r="r" b="b"/>
                <a:pathLst>
                  <a:path w="76200" h="76200">
                    <a:moveTo>
                      <a:pt x="0" y="25403"/>
                    </a:moveTo>
                    <a:cubicBezTo>
                      <a:pt x="0" y="18666"/>
                      <a:pt x="2676" y="12204"/>
                      <a:pt x="7440" y="7440"/>
                    </a:cubicBezTo>
                    <a:cubicBezTo>
                      <a:pt x="12204" y="2676"/>
                      <a:pt x="18666" y="0"/>
                      <a:pt x="25403" y="0"/>
                    </a:cubicBezTo>
                    <a:lnTo>
                      <a:pt x="50797" y="0"/>
                    </a:lnTo>
                    <a:cubicBezTo>
                      <a:pt x="64827" y="0"/>
                      <a:pt x="76200" y="11373"/>
                      <a:pt x="76200" y="25403"/>
                    </a:cubicBezTo>
                    <a:lnTo>
                      <a:pt x="76200" y="50797"/>
                    </a:lnTo>
                    <a:cubicBezTo>
                      <a:pt x="76200" y="64827"/>
                      <a:pt x="64827" y="76200"/>
                      <a:pt x="50797" y="76200"/>
                    </a:cubicBezTo>
                    <a:lnTo>
                      <a:pt x="25403" y="76200"/>
                    </a:lnTo>
                    <a:cubicBezTo>
                      <a:pt x="18666" y="76200"/>
                      <a:pt x="12204" y="73524"/>
                      <a:pt x="7440" y="68760"/>
                    </a:cubicBezTo>
                    <a:cubicBezTo>
                      <a:pt x="2676" y="63996"/>
                      <a:pt x="0" y="57534"/>
                      <a:pt x="0" y="50797"/>
                    </a:cubicBezTo>
                    <a:close/>
                  </a:path>
                </a:pathLst>
              </a:custGeom>
              <a:solidFill>
                <a:schemeClr val="accent2"/>
              </a:solidFill>
              <a:ln>
                <a:noFill/>
              </a:ln>
            </p:spPr>
            <p:txBody>
              <a:bodyPr/>
              <a:lstStyle/>
              <a:p>
                <a:endParaRPr lang="zh-CN" altLang="en-US"/>
              </a:p>
            </p:txBody>
          </p:sp>
          <p:sp>
            <p:nvSpPr>
              <p:cNvPr id="28" name="Freeform 28"/>
              <p:cNvSpPr/>
              <p:nvPr/>
            </p:nvSpPr>
            <p:spPr>
              <a:xfrm>
                <a:off x="4495800" y="2705100"/>
                <a:ext cx="76200" cy="76200"/>
              </a:xfrm>
              <a:custGeom>
                <a:avLst/>
                <a:gdLst/>
                <a:ahLst/>
                <a:cxnLst/>
                <a:rect l="l" t="t" r="r" b="b"/>
                <a:pathLst>
                  <a:path w="76200" h="76200">
                    <a:moveTo>
                      <a:pt x="0" y="25403"/>
                    </a:moveTo>
                    <a:cubicBezTo>
                      <a:pt x="0" y="11373"/>
                      <a:pt x="11373" y="0"/>
                      <a:pt x="25403" y="0"/>
                    </a:cubicBezTo>
                    <a:lnTo>
                      <a:pt x="50797" y="0"/>
                    </a:lnTo>
                    <a:cubicBezTo>
                      <a:pt x="64827" y="0"/>
                      <a:pt x="76200" y="11373"/>
                      <a:pt x="76200" y="25403"/>
                    </a:cubicBezTo>
                    <a:lnTo>
                      <a:pt x="76200" y="50797"/>
                    </a:lnTo>
                    <a:cubicBezTo>
                      <a:pt x="76200" y="64827"/>
                      <a:pt x="64827" y="76200"/>
                      <a:pt x="50797" y="76200"/>
                    </a:cubicBezTo>
                    <a:lnTo>
                      <a:pt x="25403" y="76200"/>
                    </a:lnTo>
                    <a:cubicBezTo>
                      <a:pt x="11373" y="76200"/>
                      <a:pt x="0" y="64827"/>
                      <a:pt x="0" y="50797"/>
                    </a:cubicBezTo>
                    <a:close/>
                  </a:path>
                </a:pathLst>
              </a:custGeom>
              <a:solidFill>
                <a:schemeClr val="accent2"/>
              </a:solidFill>
              <a:ln>
                <a:noFill/>
              </a:ln>
            </p:spPr>
            <p:txBody>
              <a:bodyPr/>
              <a:lstStyle/>
              <a:p>
                <a:endParaRPr lang="zh-CN" altLang="en-US"/>
              </a:p>
            </p:txBody>
          </p:sp>
          <p:sp>
            <p:nvSpPr>
              <p:cNvPr id="29" name="Freeform 29"/>
              <p:cNvSpPr/>
              <p:nvPr/>
            </p:nvSpPr>
            <p:spPr>
              <a:xfrm>
                <a:off x="4467225" y="2762250"/>
                <a:ext cx="133350" cy="76200"/>
              </a:xfrm>
              <a:custGeom>
                <a:avLst/>
                <a:gdLst/>
                <a:ahLst/>
                <a:cxnLst/>
                <a:rect l="l" t="t" r="r" b="b"/>
                <a:pathLst>
                  <a:path w="133350" h="76200">
                    <a:moveTo>
                      <a:pt x="66675" y="0"/>
                    </a:moveTo>
                    <a:cubicBezTo>
                      <a:pt x="61414" y="0"/>
                      <a:pt x="57150" y="4264"/>
                      <a:pt x="57150" y="9525"/>
                    </a:cubicBezTo>
                    <a:lnTo>
                      <a:pt x="57150" y="28575"/>
                    </a:lnTo>
                    <a:lnTo>
                      <a:pt x="28575" y="28575"/>
                    </a:lnTo>
                    <a:cubicBezTo>
                      <a:pt x="12906" y="28575"/>
                      <a:pt x="0" y="41481"/>
                      <a:pt x="0" y="57150"/>
                    </a:cubicBezTo>
                    <a:lnTo>
                      <a:pt x="0" y="66675"/>
                    </a:lnTo>
                    <a:cubicBezTo>
                      <a:pt x="0" y="71936"/>
                      <a:pt x="4264" y="76200"/>
                      <a:pt x="9525" y="76200"/>
                    </a:cubicBezTo>
                    <a:cubicBezTo>
                      <a:pt x="14786" y="76200"/>
                      <a:pt x="19050" y="71936"/>
                      <a:pt x="19050" y="66675"/>
                    </a:cubicBezTo>
                    <a:lnTo>
                      <a:pt x="19050" y="57150"/>
                    </a:lnTo>
                    <a:cubicBezTo>
                      <a:pt x="19050" y="51778"/>
                      <a:pt x="23203" y="47625"/>
                      <a:pt x="28575" y="47625"/>
                    </a:cubicBezTo>
                    <a:lnTo>
                      <a:pt x="104775" y="47625"/>
                    </a:lnTo>
                    <a:cubicBezTo>
                      <a:pt x="110147" y="47625"/>
                      <a:pt x="114300" y="51778"/>
                      <a:pt x="114300" y="57150"/>
                    </a:cubicBezTo>
                    <a:lnTo>
                      <a:pt x="114300" y="66675"/>
                    </a:lnTo>
                    <a:cubicBezTo>
                      <a:pt x="114300" y="71936"/>
                      <a:pt x="118564" y="76200"/>
                      <a:pt x="123825" y="76200"/>
                    </a:cubicBezTo>
                    <a:cubicBezTo>
                      <a:pt x="129086" y="76200"/>
                      <a:pt x="133350" y="71936"/>
                      <a:pt x="133350" y="66675"/>
                    </a:cubicBezTo>
                    <a:lnTo>
                      <a:pt x="133350" y="57150"/>
                    </a:lnTo>
                    <a:cubicBezTo>
                      <a:pt x="133350" y="41481"/>
                      <a:pt x="120444" y="28575"/>
                      <a:pt x="104775" y="28575"/>
                    </a:cubicBezTo>
                    <a:lnTo>
                      <a:pt x="76200" y="28575"/>
                    </a:lnTo>
                    <a:lnTo>
                      <a:pt x="76200" y="9525"/>
                    </a:lnTo>
                    <a:cubicBezTo>
                      <a:pt x="76200" y="4264"/>
                      <a:pt x="71936" y="0"/>
                      <a:pt x="66675" y="0"/>
                    </a:cubicBezTo>
                    <a:close/>
                  </a:path>
                </a:pathLst>
              </a:custGeom>
              <a:solidFill>
                <a:schemeClr val="accent2"/>
              </a:solidFill>
              <a:ln>
                <a:noFill/>
              </a:ln>
            </p:spPr>
            <p:txBody>
              <a:bodyPr/>
              <a:lstStyle/>
              <a:p>
                <a:endParaRPr lang="zh-CN" altLang="en-US"/>
              </a:p>
            </p:txBody>
          </p:sp>
        </p:grpSp>
        <p:sp>
          <p:nvSpPr>
            <p:cNvPr id="31" name="TextBox 31"/>
            <p:cNvSpPr txBox="1"/>
            <p:nvPr/>
          </p:nvSpPr>
          <p:spPr>
            <a:xfrm>
              <a:off x="4719447" y="2654300"/>
              <a:ext cx="944790"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mn-lt"/>
                  <a:ea typeface="+mn-ea"/>
                  <a:cs typeface="+mn-cs"/>
                </a:rPr>
                <a:t>Spatial operator</a:t>
              </a:r>
            </a:p>
          </p:txBody>
        </p:sp>
        <p:sp>
          <p:nvSpPr>
            <p:cNvPr id="32" name="TextBox 32"/>
            <p:cNvSpPr txBox="1"/>
            <p:nvPr/>
          </p:nvSpPr>
          <p:spPr>
            <a:xfrm>
              <a:off x="4719638" y="2838450"/>
              <a:ext cx="1748509" cy="176212"/>
            </a:xfrm>
            <a:prstGeom prst="rect">
              <a:avLst/>
            </a:prstGeom>
            <a:noFill/>
            <a:ln>
              <a:noFill/>
            </a:ln>
          </p:spPr>
          <p:txBody>
            <a:bodyPr wrap="none" lIns="0" tIns="0" rIns="0" bIns="0" anchor="t" anchorCtr="0">
              <a:spAutoFit/>
            </a:bodyPr>
            <a:lstStyle/>
            <a:p>
              <a:pPr algn="l"/>
              <a:r>
                <a:rPr lang="en" sz="900" dirty="0">
                  <a:solidFill>
                    <a:schemeClr val="dk1"/>
                  </a:solidFill>
                  <a:latin typeface="+mn-lt"/>
                  <a:ea typeface="+mn-ea"/>
                  <a:cs typeface="+mn-cs"/>
                </a:rPr>
                <a:t>Chebyshev or directed dual path</a:t>
              </a:r>
            </a:p>
          </p:txBody>
        </p:sp>
        <p:sp>
          <p:nvSpPr>
            <p:cNvPr id="33" name="TextBox 33"/>
            <p:cNvSpPr txBox="1"/>
            <p:nvPr/>
          </p:nvSpPr>
          <p:spPr>
            <a:xfrm>
              <a:off x="833438" y="3232150"/>
              <a:ext cx="1998182" cy="161925"/>
            </a:xfrm>
            <a:prstGeom prst="rect">
              <a:avLst/>
            </a:prstGeom>
            <a:noFill/>
            <a:ln>
              <a:noFill/>
            </a:ln>
          </p:spPr>
          <p:txBody>
            <a:bodyPr wrap="none" lIns="0" tIns="0" rIns="0" bIns="0" anchor="t" anchorCtr="0">
              <a:spAutoFit/>
            </a:bodyPr>
            <a:lstStyle/>
            <a:p>
              <a:pPr algn="l"/>
              <a:r>
                <a:rPr lang="en" sz="820" dirty="0">
                  <a:solidFill>
                    <a:schemeClr val="accent5"/>
                  </a:solidFill>
                  <a:latin typeface="Consolas"/>
                  <a:ea typeface="Consolas"/>
                  <a:cs typeface="Consolas"/>
                </a:rPr>
                <a:t>OUTPUT · 12 STEPS × 170 SENSORS</a:t>
              </a:r>
            </a:p>
          </p:txBody>
        </p:sp>
        <p:sp>
          <p:nvSpPr>
            <p:cNvPr id="34" name="Rectangle 34"/>
            <p:cNvSpPr/>
            <p:nvPr/>
          </p:nvSpPr>
          <p:spPr>
            <a:xfrm>
              <a:off x="8382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35" name="TextBox 35"/>
            <p:cNvSpPr txBox="1"/>
            <p:nvPr/>
          </p:nvSpPr>
          <p:spPr>
            <a:xfrm>
              <a:off x="9715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1</a:t>
              </a:r>
            </a:p>
          </p:txBody>
        </p:sp>
        <p:sp>
          <p:nvSpPr>
            <p:cNvPr id="36" name="Rectangle 36"/>
            <p:cNvSpPr/>
            <p:nvPr/>
          </p:nvSpPr>
          <p:spPr>
            <a:xfrm>
              <a:off x="12573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37" name="TextBox 37"/>
            <p:cNvSpPr txBox="1"/>
            <p:nvPr/>
          </p:nvSpPr>
          <p:spPr>
            <a:xfrm>
              <a:off x="13906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2</a:t>
              </a:r>
            </a:p>
          </p:txBody>
        </p:sp>
        <p:sp>
          <p:nvSpPr>
            <p:cNvPr id="38" name="Rectangle 38"/>
            <p:cNvSpPr/>
            <p:nvPr/>
          </p:nvSpPr>
          <p:spPr>
            <a:xfrm>
              <a:off x="16764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39" name="TextBox 39"/>
            <p:cNvSpPr txBox="1"/>
            <p:nvPr/>
          </p:nvSpPr>
          <p:spPr>
            <a:xfrm>
              <a:off x="18097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3</a:t>
              </a:r>
            </a:p>
          </p:txBody>
        </p:sp>
        <p:sp>
          <p:nvSpPr>
            <p:cNvPr id="40" name="Rectangle 40"/>
            <p:cNvSpPr/>
            <p:nvPr/>
          </p:nvSpPr>
          <p:spPr>
            <a:xfrm>
              <a:off x="20955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41" name="TextBox 41"/>
            <p:cNvSpPr txBox="1"/>
            <p:nvPr/>
          </p:nvSpPr>
          <p:spPr>
            <a:xfrm>
              <a:off x="22288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4</a:t>
              </a:r>
            </a:p>
          </p:txBody>
        </p:sp>
        <p:sp>
          <p:nvSpPr>
            <p:cNvPr id="42" name="Rectangle 42"/>
            <p:cNvSpPr/>
            <p:nvPr/>
          </p:nvSpPr>
          <p:spPr>
            <a:xfrm>
              <a:off x="25146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43" name="TextBox 43"/>
            <p:cNvSpPr txBox="1"/>
            <p:nvPr/>
          </p:nvSpPr>
          <p:spPr>
            <a:xfrm>
              <a:off x="26479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5</a:t>
              </a:r>
            </a:p>
          </p:txBody>
        </p:sp>
        <p:sp>
          <p:nvSpPr>
            <p:cNvPr id="44" name="Rectangle 44"/>
            <p:cNvSpPr/>
            <p:nvPr/>
          </p:nvSpPr>
          <p:spPr>
            <a:xfrm>
              <a:off x="29337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45" name="TextBox 45"/>
            <p:cNvSpPr txBox="1"/>
            <p:nvPr/>
          </p:nvSpPr>
          <p:spPr>
            <a:xfrm>
              <a:off x="30670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6</a:t>
              </a:r>
            </a:p>
          </p:txBody>
        </p:sp>
        <p:sp>
          <p:nvSpPr>
            <p:cNvPr id="46" name="Rectangle 46"/>
            <p:cNvSpPr/>
            <p:nvPr/>
          </p:nvSpPr>
          <p:spPr>
            <a:xfrm>
              <a:off x="33528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47" name="TextBox 47"/>
            <p:cNvSpPr txBox="1"/>
            <p:nvPr/>
          </p:nvSpPr>
          <p:spPr>
            <a:xfrm>
              <a:off x="34861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7</a:t>
              </a:r>
            </a:p>
          </p:txBody>
        </p:sp>
        <p:sp>
          <p:nvSpPr>
            <p:cNvPr id="48" name="Rectangle 48"/>
            <p:cNvSpPr/>
            <p:nvPr/>
          </p:nvSpPr>
          <p:spPr>
            <a:xfrm>
              <a:off x="37719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49" name="TextBox 49"/>
            <p:cNvSpPr txBox="1"/>
            <p:nvPr/>
          </p:nvSpPr>
          <p:spPr>
            <a:xfrm>
              <a:off x="39052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8</a:t>
              </a:r>
            </a:p>
          </p:txBody>
        </p:sp>
        <p:sp>
          <p:nvSpPr>
            <p:cNvPr id="50" name="Rectangle 50"/>
            <p:cNvSpPr/>
            <p:nvPr/>
          </p:nvSpPr>
          <p:spPr>
            <a:xfrm>
              <a:off x="41910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51" name="TextBox 51"/>
            <p:cNvSpPr txBox="1"/>
            <p:nvPr/>
          </p:nvSpPr>
          <p:spPr>
            <a:xfrm>
              <a:off x="4324369" y="3565525"/>
              <a:ext cx="76162"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9</a:t>
              </a:r>
            </a:p>
          </p:txBody>
        </p:sp>
        <p:sp>
          <p:nvSpPr>
            <p:cNvPr id="52" name="Rectangle 52"/>
            <p:cNvSpPr/>
            <p:nvPr/>
          </p:nvSpPr>
          <p:spPr>
            <a:xfrm>
              <a:off x="46101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53" name="TextBox 53"/>
            <p:cNvSpPr txBox="1"/>
            <p:nvPr/>
          </p:nvSpPr>
          <p:spPr>
            <a:xfrm>
              <a:off x="4710151" y="35655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10</a:t>
              </a:r>
            </a:p>
          </p:txBody>
        </p:sp>
        <p:sp>
          <p:nvSpPr>
            <p:cNvPr id="54" name="Rectangle 54"/>
            <p:cNvSpPr/>
            <p:nvPr/>
          </p:nvSpPr>
          <p:spPr>
            <a:xfrm>
              <a:off x="50292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55" name="TextBox 55"/>
            <p:cNvSpPr txBox="1"/>
            <p:nvPr/>
          </p:nvSpPr>
          <p:spPr>
            <a:xfrm>
              <a:off x="5129251" y="35655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11</a:t>
              </a:r>
            </a:p>
          </p:txBody>
        </p:sp>
        <p:sp>
          <p:nvSpPr>
            <p:cNvPr id="56" name="Rectangle 56"/>
            <p:cNvSpPr/>
            <p:nvPr/>
          </p:nvSpPr>
          <p:spPr>
            <a:xfrm>
              <a:off x="5448300" y="3448050"/>
              <a:ext cx="342900" cy="342900"/>
            </a:xfrm>
            <a:prstGeom prst="roundRect">
              <a:avLst>
                <a:gd name="adj" fmla="val 16667"/>
              </a:avLst>
            </a:prstGeom>
            <a:solidFill>
              <a:srgbClr val="DBEAFE"/>
            </a:solidFill>
            <a:ln w="9525">
              <a:solidFill>
                <a:srgbClr val="BFDBFE"/>
              </a:solidFill>
            </a:ln>
          </p:spPr>
          <p:txBody>
            <a:bodyPr/>
            <a:lstStyle/>
            <a:p>
              <a:endParaRPr lang="zh-CN" altLang="en-US"/>
            </a:p>
          </p:txBody>
        </p:sp>
        <p:sp>
          <p:nvSpPr>
            <p:cNvPr id="57" name="TextBox 57"/>
            <p:cNvSpPr txBox="1"/>
            <p:nvPr/>
          </p:nvSpPr>
          <p:spPr>
            <a:xfrm>
              <a:off x="5548351" y="35655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12</a:t>
              </a:r>
            </a:p>
          </p:txBody>
        </p:sp>
      </p:grpSp>
      <p:grpSp>
        <p:nvGrpSpPr>
          <p:cNvPr id="74" name="sample-changes"/>
          <p:cNvGrpSpPr/>
          <p:nvPr/>
        </p:nvGrpSpPr>
        <p:grpSpPr>
          <a:xfrm>
            <a:off x="7467600" y="1333500"/>
            <a:ext cx="4114800" cy="2381250"/>
            <a:chOff x="7467600" y="1333500"/>
            <a:chExt cx="4114800" cy="2381250"/>
          </a:xfrm>
        </p:grpSpPr>
        <p:sp>
          <p:nvSpPr>
            <p:cNvPr id="59" name="Rectangle 59"/>
            <p:cNvSpPr/>
            <p:nvPr/>
          </p:nvSpPr>
          <p:spPr>
            <a:xfrm>
              <a:off x="7467600" y="1333500"/>
              <a:ext cx="4114800" cy="2381250"/>
            </a:xfrm>
            <a:prstGeom prst="roundRect">
              <a:avLst>
                <a:gd name="adj" fmla="val 4800"/>
              </a:avLst>
            </a:prstGeom>
            <a:solidFill>
              <a:srgbClr val="FFFFFF"/>
            </a:solidFill>
            <a:ln w="9525">
              <a:solidFill>
                <a:schemeClr val="accent6"/>
              </a:solidFill>
            </a:ln>
          </p:spPr>
          <p:txBody>
            <a:bodyPr/>
            <a:lstStyle/>
            <a:p>
              <a:endParaRPr lang="zh-CN" altLang="en-US"/>
            </a:p>
          </p:txBody>
        </p:sp>
        <p:sp>
          <p:nvSpPr>
            <p:cNvPr id="60" name="TextBox 60"/>
            <p:cNvSpPr txBox="1"/>
            <p:nvPr/>
          </p:nvSpPr>
          <p:spPr>
            <a:xfrm>
              <a:off x="7764780" y="1466850"/>
              <a:ext cx="1964173"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Four design changes</a:t>
              </a:r>
            </a:p>
          </p:txBody>
        </p:sp>
        <p:sp>
          <p:nvSpPr>
            <p:cNvPr id="61" name="Rectangle 61"/>
            <p:cNvSpPr/>
            <p:nvPr/>
          </p:nvSpPr>
          <p:spPr>
            <a:xfrm>
              <a:off x="7772400" y="1828800"/>
              <a:ext cx="228600" cy="228600"/>
            </a:xfrm>
            <a:prstGeom prst="roundRect">
              <a:avLst>
                <a:gd name="adj" fmla="val 25000"/>
              </a:avLst>
            </a:prstGeom>
            <a:solidFill>
              <a:srgbClr val="DBEAFE"/>
            </a:solidFill>
            <a:ln>
              <a:noFill/>
            </a:ln>
          </p:spPr>
          <p:txBody>
            <a:bodyPr/>
            <a:lstStyle/>
            <a:p>
              <a:endParaRPr lang="zh-CN" altLang="en-US"/>
            </a:p>
          </p:txBody>
        </p:sp>
        <p:sp>
          <p:nvSpPr>
            <p:cNvPr id="62" name="TextBox 62"/>
            <p:cNvSpPr txBox="1"/>
            <p:nvPr/>
          </p:nvSpPr>
          <p:spPr>
            <a:xfrm>
              <a:off x="7815301" y="18891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01</a:t>
              </a:r>
            </a:p>
          </p:txBody>
        </p:sp>
        <p:sp>
          <p:nvSpPr>
            <p:cNvPr id="63" name="TextBox 63"/>
            <p:cNvSpPr txBox="1"/>
            <p:nvPr/>
          </p:nvSpPr>
          <p:spPr>
            <a:xfrm>
              <a:off x="8109966" y="1863725"/>
              <a:ext cx="1523033"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Direct multi-step output</a:t>
              </a:r>
            </a:p>
          </p:txBody>
        </p:sp>
        <p:sp>
          <p:nvSpPr>
            <p:cNvPr id="64" name="Rectangle 64"/>
            <p:cNvSpPr/>
            <p:nvPr/>
          </p:nvSpPr>
          <p:spPr>
            <a:xfrm>
              <a:off x="7772400" y="2171700"/>
              <a:ext cx="228600" cy="228600"/>
            </a:xfrm>
            <a:prstGeom prst="roundRect">
              <a:avLst>
                <a:gd name="adj" fmla="val 25000"/>
              </a:avLst>
            </a:prstGeom>
            <a:solidFill>
              <a:srgbClr val="DBEAFE"/>
            </a:solidFill>
            <a:ln>
              <a:noFill/>
            </a:ln>
          </p:spPr>
          <p:txBody>
            <a:bodyPr/>
            <a:lstStyle/>
            <a:p>
              <a:endParaRPr lang="zh-CN" altLang="en-US"/>
            </a:p>
          </p:txBody>
        </p:sp>
        <p:sp>
          <p:nvSpPr>
            <p:cNvPr id="65" name="TextBox 65"/>
            <p:cNvSpPr txBox="1"/>
            <p:nvPr/>
          </p:nvSpPr>
          <p:spPr>
            <a:xfrm>
              <a:off x="7815301" y="22320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02</a:t>
              </a:r>
            </a:p>
          </p:txBody>
        </p:sp>
        <p:sp>
          <p:nvSpPr>
            <p:cNvPr id="66" name="TextBox 66"/>
            <p:cNvSpPr txBox="1"/>
            <p:nvPr/>
          </p:nvSpPr>
          <p:spPr>
            <a:xfrm>
              <a:off x="8109966" y="2206625"/>
              <a:ext cx="140691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Per-step output heads</a:t>
              </a:r>
            </a:p>
          </p:txBody>
        </p:sp>
        <p:sp>
          <p:nvSpPr>
            <p:cNvPr id="67" name="Rectangle 67"/>
            <p:cNvSpPr/>
            <p:nvPr/>
          </p:nvSpPr>
          <p:spPr>
            <a:xfrm>
              <a:off x="7772400" y="2514600"/>
              <a:ext cx="228600" cy="228600"/>
            </a:xfrm>
            <a:prstGeom prst="roundRect">
              <a:avLst>
                <a:gd name="adj" fmla="val 25000"/>
              </a:avLst>
            </a:prstGeom>
            <a:solidFill>
              <a:srgbClr val="DBEAFE"/>
            </a:solidFill>
            <a:ln>
              <a:noFill/>
            </a:ln>
          </p:spPr>
          <p:txBody>
            <a:bodyPr/>
            <a:lstStyle/>
            <a:p>
              <a:endParaRPr lang="zh-CN" altLang="en-US"/>
            </a:p>
          </p:txBody>
        </p:sp>
        <p:sp>
          <p:nvSpPr>
            <p:cNvPr id="68" name="TextBox 68"/>
            <p:cNvSpPr txBox="1"/>
            <p:nvPr/>
          </p:nvSpPr>
          <p:spPr>
            <a:xfrm>
              <a:off x="7815301" y="25749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03</a:t>
              </a:r>
            </a:p>
          </p:txBody>
        </p:sp>
        <p:sp>
          <p:nvSpPr>
            <p:cNvPr id="69" name="TextBox 69"/>
            <p:cNvSpPr txBox="1"/>
            <p:nvPr/>
          </p:nvSpPr>
          <p:spPr>
            <a:xfrm>
              <a:off x="8109966" y="2549525"/>
              <a:ext cx="990416"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Calendar inputs</a:t>
              </a:r>
            </a:p>
          </p:txBody>
        </p:sp>
        <p:sp>
          <p:nvSpPr>
            <p:cNvPr id="70" name="Rectangle 70"/>
            <p:cNvSpPr/>
            <p:nvPr/>
          </p:nvSpPr>
          <p:spPr>
            <a:xfrm>
              <a:off x="7772400" y="2857500"/>
              <a:ext cx="228600" cy="228600"/>
            </a:xfrm>
            <a:prstGeom prst="roundRect">
              <a:avLst>
                <a:gd name="adj" fmla="val 25000"/>
              </a:avLst>
            </a:prstGeom>
            <a:solidFill>
              <a:srgbClr val="DBEAFE"/>
            </a:solidFill>
            <a:ln>
              <a:noFill/>
            </a:ln>
          </p:spPr>
          <p:txBody>
            <a:bodyPr/>
            <a:lstStyle/>
            <a:p>
              <a:endParaRPr lang="zh-CN" altLang="en-US"/>
            </a:p>
          </p:txBody>
        </p:sp>
        <p:sp>
          <p:nvSpPr>
            <p:cNvPr id="71" name="TextBox 71"/>
            <p:cNvSpPr txBox="1"/>
            <p:nvPr/>
          </p:nvSpPr>
          <p:spPr>
            <a:xfrm>
              <a:off x="7815301" y="2917825"/>
              <a:ext cx="142799" cy="176212"/>
            </a:xfrm>
            <a:prstGeom prst="rect">
              <a:avLst/>
            </a:prstGeom>
            <a:noFill/>
            <a:ln>
              <a:noFill/>
            </a:ln>
          </p:spPr>
          <p:txBody>
            <a:bodyPr wrap="none" lIns="0" tIns="0" rIns="0" bIns="0" anchor="t" anchorCtr="0">
              <a:spAutoFit/>
            </a:bodyPr>
            <a:lstStyle/>
            <a:p>
              <a:pPr algn="ctr"/>
              <a:r>
                <a:rPr lang="en" sz="900" dirty="0">
                  <a:solidFill>
                    <a:srgbClr val="1E40AF"/>
                  </a:solidFill>
                  <a:latin typeface="Consolas"/>
                  <a:ea typeface="Consolas"/>
                  <a:cs typeface="Consolas"/>
                </a:rPr>
                <a:t>04</a:t>
              </a:r>
            </a:p>
          </p:txBody>
        </p:sp>
        <p:sp>
          <p:nvSpPr>
            <p:cNvPr id="72" name="TextBox 72"/>
            <p:cNvSpPr txBox="1"/>
            <p:nvPr/>
          </p:nvSpPr>
          <p:spPr>
            <a:xfrm>
              <a:off x="8109966" y="2892425"/>
              <a:ext cx="1669466"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Selectable spatial operator</a:t>
              </a:r>
            </a:p>
          </p:txBody>
        </p:sp>
        <p:sp>
          <p:nvSpPr>
            <p:cNvPr id="73" name="TextBox 73"/>
            <p:cNvSpPr txBox="1"/>
            <p:nvPr/>
          </p:nvSpPr>
          <p:spPr>
            <a:xfrm>
              <a:off x="7767447" y="3263900"/>
              <a:ext cx="3188419"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The four changes sit on the unchanged STGCN blocks.</a:t>
              </a:r>
            </a:p>
          </p:txBody>
        </p:sp>
      </p:grpSp>
      <p:grpSp>
        <p:nvGrpSpPr>
          <p:cNvPr id="81" name="sample-why"/>
          <p:cNvGrpSpPr/>
          <p:nvPr/>
        </p:nvGrpSpPr>
        <p:grpSpPr>
          <a:xfrm>
            <a:off x="7467600" y="3905250"/>
            <a:ext cx="4114800" cy="2190750"/>
            <a:chOff x="7467600" y="3905250"/>
            <a:chExt cx="4114800" cy="2190750"/>
          </a:xfrm>
        </p:grpSpPr>
        <p:sp>
          <p:nvSpPr>
            <p:cNvPr id="75" name="Rectangle 75"/>
            <p:cNvSpPr/>
            <p:nvPr/>
          </p:nvSpPr>
          <p:spPr>
            <a:xfrm>
              <a:off x="7467600" y="3905250"/>
              <a:ext cx="4114800" cy="2190750"/>
            </a:xfrm>
            <a:prstGeom prst="roundRect">
              <a:avLst>
                <a:gd name="adj" fmla="val 5217"/>
              </a:avLst>
            </a:prstGeom>
            <a:solidFill>
              <a:srgbClr val="FFFFFF"/>
            </a:solidFill>
            <a:ln w="9525">
              <a:solidFill>
                <a:schemeClr val="accent6"/>
              </a:solidFill>
            </a:ln>
          </p:spPr>
          <p:txBody>
            <a:bodyPr/>
            <a:lstStyle/>
            <a:p>
              <a:endParaRPr lang="zh-CN" altLang="en-US"/>
            </a:p>
          </p:txBody>
        </p:sp>
        <p:sp>
          <p:nvSpPr>
            <p:cNvPr id="76" name="TextBox 76"/>
            <p:cNvSpPr txBox="1"/>
            <p:nvPr/>
          </p:nvSpPr>
          <p:spPr>
            <a:xfrm>
              <a:off x="7764780" y="4038600"/>
              <a:ext cx="1574246"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Design rationale</a:t>
              </a:r>
            </a:p>
          </p:txBody>
        </p:sp>
        <p:sp>
          <p:nvSpPr>
            <p:cNvPr id="77" name="TextBox 77"/>
            <p:cNvSpPr txBox="1"/>
            <p:nvPr/>
          </p:nvSpPr>
          <p:spPr>
            <a:xfrm>
              <a:off x="7767066" y="4425950"/>
              <a:ext cx="2627963"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Avoids autoregressive error accumulation.</a:t>
              </a:r>
            </a:p>
          </p:txBody>
        </p:sp>
        <p:sp>
          <p:nvSpPr>
            <p:cNvPr id="78" name="TextBox 78"/>
            <p:cNvSpPr txBox="1"/>
            <p:nvPr/>
          </p:nvSpPr>
          <p:spPr>
            <a:xfrm>
              <a:off x="7767066" y="4673600"/>
              <a:ext cx="2230456"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Each horizon gets its own mapping.</a:t>
              </a:r>
            </a:p>
          </p:txBody>
        </p:sp>
        <p:sp>
          <p:nvSpPr>
            <p:cNvPr id="79" name="TextBox 79"/>
            <p:cNvSpPr txBox="1"/>
            <p:nvPr/>
          </p:nvSpPr>
          <p:spPr>
            <a:xfrm>
              <a:off x="7767066" y="4921250"/>
              <a:ext cx="220477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Daily and weekly cycles are explicit.</a:t>
              </a:r>
            </a:p>
          </p:txBody>
        </p:sp>
        <p:sp>
          <p:nvSpPr>
            <p:cNvPr id="80" name="TextBox 80"/>
            <p:cNvSpPr txBox="1"/>
            <p:nvPr/>
          </p:nvSpPr>
          <p:spPr>
            <a:xfrm>
              <a:off x="7767066" y="5168900"/>
              <a:ext cx="2367348"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Directed road structure can be tested.</a:t>
              </a:r>
            </a:p>
          </p:txBody>
        </p:sp>
      </p:grpSp>
      <p:grpSp>
        <p:nvGrpSpPr>
          <p:cNvPr id="86" name="sample-note"/>
          <p:cNvGrpSpPr/>
          <p:nvPr/>
        </p:nvGrpSpPr>
        <p:grpSpPr>
          <a:xfrm>
            <a:off x="609600" y="4667250"/>
            <a:ext cx="6667500" cy="1428750"/>
            <a:chOff x="609600" y="4667250"/>
            <a:chExt cx="6667500" cy="1428750"/>
          </a:xfrm>
        </p:grpSpPr>
        <p:sp>
          <p:nvSpPr>
            <p:cNvPr id="82" name="Rectangle 82"/>
            <p:cNvSpPr/>
            <p:nvPr/>
          </p:nvSpPr>
          <p:spPr>
            <a:xfrm>
              <a:off x="609600" y="4667250"/>
              <a:ext cx="6667500" cy="1428750"/>
            </a:xfrm>
            <a:prstGeom prst="roundRect">
              <a:avLst>
                <a:gd name="adj" fmla="val 8000"/>
              </a:avLst>
            </a:prstGeom>
            <a:solidFill>
              <a:srgbClr val="FFFFFF"/>
            </a:solidFill>
            <a:ln w="9525">
              <a:solidFill>
                <a:schemeClr val="accent6"/>
              </a:solidFill>
            </a:ln>
          </p:spPr>
          <p:txBody>
            <a:bodyPr/>
            <a:lstStyle/>
            <a:p>
              <a:endParaRPr lang="zh-CN" altLang="en-US"/>
            </a:p>
          </p:txBody>
        </p:sp>
        <p:sp>
          <p:nvSpPr>
            <p:cNvPr id="83" name="TextBox 83"/>
            <p:cNvSpPr txBox="1"/>
            <p:nvPr/>
          </p:nvSpPr>
          <p:spPr>
            <a:xfrm>
              <a:off x="831342" y="4845050"/>
              <a:ext cx="1826336"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Backbone kept intact</a:t>
              </a:r>
            </a:p>
          </p:txBody>
        </p:sp>
        <p:sp>
          <p:nvSpPr>
            <p:cNvPr id="84" name="TextBox 84"/>
            <p:cNvSpPr txBox="1"/>
            <p:nvPr/>
          </p:nvSpPr>
          <p:spPr>
            <a:xfrm>
              <a:off x="832485" y="5175250"/>
              <a:ext cx="3441648" cy="220028"/>
            </a:xfrm>
            <a:prstGeom prst="rect">
              <a:avLst/>
            </a:prstGeom>
            <a:noFill/>
            <a:ln>
              <a:noFill/>
            </a:ln>
          </p:spPr>
          <p:txBody>
            <a:bodyPr wrap="none" lIns="0" tIns="0" rIns="0" bIns="0" anchor="t" anchorCtr="0">
              <a:spAutoFit/>
            </a:bodyPr>
            <a:lstStyle/>
            <a:p>
              <a:pPr algn="l"/>
              <a:r>
                <a:rPr lang="en" sz="1120" dirty="0">
                  <a:solidFill>
                    <a:schemeClr val="dk1"/>
                  </a:solidFill>
                  <a:latin typeface="+mn-lt"/>
                  <a:ea typeface="+mn-ea"/>
                  <a:cs typeface="+mn-cs"/>
                </a:rPr>
                <a:t>STGCN temporal and spatial blocks are unchanged;</a:t>
              </a:r>
            </a:p>
          </p:txBody>
        </p:sp>
        <p:sp>
          <p:nvSpPr>
            <p:cNvPr id="85" name="TextBox 85"/>
            <p:cNvSpPr txBox="1"/>
            <p:nvPr/>
          </p:nvSpPr>
          <p:spPr>
            <a:xfrm>
              <a:off x="832485" y="5403850"/>
              <a:ext cx="4187519" cy="220028"/>
            </a:xfrm>
            <a:prstGeom prst="rect">
              <a:avLst/>
            </a:prstGeom>
            <a:noFill/>
            <a:ln>
              <a:noFill/>
            </a:ln>
          </p:spPr>
          <p:txBody>
            <a:bodyPr wrap="none" lIns="0" tIns="0" rIns="0" bIns="0" anchor="t" anchorCtr="0">
              <a:spAutoFit/>
            </a:bodyPr>
            <a:lstStyle/>
            <a:p>
              <a:pPr algn="l"/>
              <a:r>
                <a:rPr lang="en" sz="1120" dirty="0">
                  <a:solidFill>
                    <a:schemeClr val="dk1"/>
                  </a:solidFill>
                  <a:latin typeface="+mn-lt"/>
                  <a:ea typeface="+mn-ea"/>
                  <a:cs typeface="+mn-cs"/>
                </a:rPr>
                <a:t>the four changes are isolated by the ablation on the next page.</a:t>
              </a:r>
            </a:p>
          </p:txBody>
        </p:sp>
      </p:grpSp>
      <p:grpSp>
        <p:nvGrpSpPr>
          <p:cNvPr id="89" name="sample-footer"/>
          <p:cNvGrpSpPr/>
          <p:nvPr/>
        </p:nvGrpSpPr>
        <p:grpSpPr>
          <a:xfrm>
            <a:off x="609600" y="6515100"/>
            <a:ext cx="10977753" cy="265111"/>
            <a:chOff x="609600" y="6515100"/>
            <a:chExt cx="10977753" cy="265111"/>
          </a:xfrm>
        </p:grpSpPr>
        <p:sp>
          <p:nvSpPr>
            <p:cNvPr id="87" name="Line 87"/>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88" name="TextBox 88"/>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3-title"/>
          <p:cNvGrpSpPr/>
          <p:nvPr/>
        </p:nvGrpSpPr>
        <p:grpSpPr>
          <a:xfrm>
            <a:off x="594360" y="419100"/>
            <a:ext cx="9796482" cy="789940"/>
            <a:chOff x="594360" y="419100"/>
            <a:chExt cx="9796482" cy="789940"/>
          </a:xfrm>
        </p:grpSpPr>
        <p:sp>
          <p:nvSpPr>
            <p:cNvPr id="2" name="TextBox 2"/>
            <p:cNvSpPr txBox="1"/>
            <p:nvPr/>
          </p:nvSpPr>
          <p:spPr>
            <a:xfrm>
              <a:off x="604647" y="419100"/>
              <a:ext cx="2123735"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3 · FORECASTING</a:t>
              </a:r>
            </a:p>
          </p:txBody>
        </p:sp>
        <p:sp>
          <p:nvSpPr>
            <p:cNvPr id="3" name="TextBox 3"/>
            <p:cNvSpPr txBox="1"/>
            <p:nvPr/>
          </p:nvSpPr>
          <p:spPr>
            <a:xfrm>
              <a:off x="594360" y="622300"/>
              <a:ext cx="9796482"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GWNET has the lowest default MAE; ours is second</a:t>
              </a:r>
            </a:p>
          </p:txBody>
        </p:sp>
      </p:grpSp>
      <p:grpSp>
        <p:nvGrpSpPr>
          <p:cNvPr id="48" name="default-mae"/>
          <p:cNvGrpSpPr/>
          <p:nvPr/>
        </p:nvGrpSpPr>
        <p:grpSpPr>
          <a:xfrm>
            <a:off x="609600" y="1333500"/>
            <a:ext cx="10972800" cy="4574159"/>
            <a:chOff x="609600" y="1333500"/>
            <a:chExt cx="10972800" cy="4574159"/>
          </a:xfrm>
        </p:grpSpPr>
        <p:sp>
          <p:nvSpPr>
            <p:cNvPr id="5" name="Rectangle 5"/>
            <p:cNvSpPr/>
            <p:nvPr/>
          </p:nvSpPr>
          <p:spPr>
            <a:xfrm>
              <a:off x="609600" y="1333500"/>
              <a:ext cx="10972800" cy="4572000"/>
            </a:xfrm>
            <a:prstGeom prst="roundRect">
              <a:avLst>
                <a:gd name="adj" fmla="val 2500"/>
              </a:avLst>
            </a:prstGeom>
            <a:solidFill>
              <a:srgbClr val="FFFFFF"/>
            </a:solidFill>
            <a:ln w="9525">
              <a:solidFill>
                <a:schemeClr val="accent6"/>
              </a:solidFill>
            </a:ln>
          </p:spPr>
          <p:txBody>
            <a:bodyPr/>
            <a:lstStyle/>
            <a:p>
              <a:endParaRPr lang="zh-CN" altLang="en-US"/>
            </a:p>
          </p:txBody>
        </p:sp>
        <p:grpSp>
          <p:nvGrpSpPr>
            <p:cNvPr id="47" name="default-mae-chartArea"/>
            <p:cNvGrpSpPr/>
            <p:nvPr/>
          </p:nvGrpSpPr>
          <p:grpSpPr>
            <a:xfrm>
              <a:off x="1940245" y="1714500"/>
              <a:ext cx="9380792" cy="4193159"/>
              <a:chOff x="1940245" y="1714500"/>
              <a:chExt cx="9380792" cy="4193159"/>
            </a:xfrm>
          </p:grpSpPr>
          <p:sp>
            <p:nvSpPr>
              <p:cNvPr id="6" name="Line 6"/>
              <p:cNvSpPr/>
              <p:nvPr/>
            </p:nvSpPr>
            <p:spPr>
              <a:xfrm>
                <a:off x="3714750"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7" name="Line 7"/>
              <p:cNvSpPr/>
              <p:nvPr/>
            </p:nvSpPr>
            <p:spPr>
              <a:xfrm>
                <a:off x="4969192"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8" name="Line 8"/>
              <p:cNvSpPr/>
              <p:nvPr/>
            </p:nvSpPr>
            <p:spPr>
              <a:xfrm>
                <a:off x="6222682"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9" name="Line 9"/>
              <p:cNvSpPr/>
              <p:nvPr/>
            </p:nvSpPr>
            <p:spPr>
              <a:xfrm>
                <a:off x="7477125"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10" name="Line 10"/>
              <p:cNvSpPr/>
              <p:nvPr/>
            </p:nvSpPr>
            <p:spPr>
              <a:xfrm>
                <a:off x="8731568"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11" name="Line 11"/>
              <p:cNvSpPr/>
              <p:nvPr/>
            </p:nvSpPr>
            <p:spPr>
              <a:xfrm>
                <a:off x="9985058"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12" name="Line 12"/>
              <p:cNvSpPr/>
              <p:nvPr/>
            </p:nvSpPr>
            <p:spPr>
              <a:xfrm>
                <a:off x="11239500" y="1714500"/>
                <a:ext cx="9525" cy="3619500"/>
              </a:xfrm>
              <a:custGeom>
                <a:avLst/>
                <a:gdLst/>
                <a:ahLst/>
                <a:cxnLst/>
                <a:rect l="l" t="t" r="r" b="b"/>
                <a:pathLst>
                  <a:path w="9525" h="3619500">
                    <a:moveTo>
                      <a:pt x="0" y="0"/>
                    </a:moveTo>
                    <a:lnTo>
                      <a:pt x="0" y="3619500"/>
                    </a:lnTo>
                  </a:path>
                </a:pathLst>
              </a:custGeom>
              <a:noFill/>
              <a:ln w="9525">
                <a:solidFill>
                  <a:schemeClr val="accent6"/>
                </a:solidFill>
                <a:prstDash val="dash"/>
              </a:ln>
            </p:spPr>
            <p:txBody>
              <a:bodyPr/>
              <a:lstStyle/>
              <a:p>
                <a:endParaRPr lang="zh-CN" altLang="en-US"/>
              </a:p>
            </p:txBody>
          </p:sp>
          <p:sp>
            <p:nvSpPr>
              <p:cNvPr id="13" name="TextBox 13"/>
              <p:cNvSpPr txBox="1"/>
              <p:nvPr/>
            </p:nvSpPr>
            <p:spPr>
              <a:xfrm>
                <a:off x="3671315" y="5435600"/>
                <a:ext cx="86870"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0</a:t>
                </a:r>
              </a:p>
            </p:txBody>
          </p:sp>
          <p:sp>
            <p:nvSpPr>
              <p:cNvPr id="14" name="TextBox 14"/>
              <p:cNvSpPr txBox="1"/>
              <p:nvPr/>
            </p:nvSpPr>
            <p:spPr>
              <a:xfrm>
                <a:off x="4925757" y="5435600"/>
                <a:ext cx="86870"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4</a:t>
                </a:r>
              </a:p>
            </p:txBody>
          </p:sp>
          <p:sp>
            <p:nvSpPr>
              <p:cNvPr id="15" name="TextBox 15"/>
              <p:cNvSpPr txBox="1"/>
              <p:nvPr/>
            </p:nvSpPr>
            <p:spPr>
              <a:xfrm>
                <a:off x="6179247" y="5435600"/>
                <a:ext cx="86870"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8</a:t>
                </a:r>
              </a:p>
            </p:txBody>
          </p:sp>
          <p:sp>
            <p:nvSpPr>
              <p:cNvPr id="16" name="TextBox 16"/>
              <p:cNvSpPr txBox="1"/>
              <p:nvPr/>
            </p:nvSpPr>
            <p:spPr>
              <a:xfrm>
                <a:off x="7395589" y="5435600"/>
                <a:ext cx="163073"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12</a:t>
                </a:r>
              </a:p>
            </p:txBody>
          </p:sp>
          <p:sp>
            <p:nvSpPr>
              <p:cNvPr id="17" name="TextBox 17"/>
              <p:cNvSpPr txBox="1"/>
              <p:nvPr/>
            </p:nvSpPr>
            <p:spPr>
              <a:xfrm>
                <a:off x="8650031" y="5435600"/>
                <a:ext cx="163073"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16</a:t>
                </a:r>
              </a:p>
            </p:txBody>
          </p:sp>
          <p:sp>
            <p:nvSpPr>
              <p:cNvPr id="18" name="TextBox 18"/>
              <p:cNvSpPr txBox="1"/>
              <p:nvPr/>
            </p:nvSpPr>
            <p:spPr>
              <a:xfrm>
                <a:off x="9903521" y="5435600"/>
                <a:ext cx="163073"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20</a:t>
                </a:r>
              </a:p>
            </p:txBody>
          </p:sp>
          <p:sp>
            <p:nvSpPr>
              <p:cNvPr id="19" name="TextBox 19"/>
              <p:cNvSpPr txBox="1"/>
              <p:nvPr/>
            </p:nvSpPr>
            <p:spPr>
              <a:xfrm>
                <a:off x="11157964" y="5435600"/>
                <a:ext cx="163073"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24</a:t>
                </a:r>
              </a:p>
            </p:txBody>
          </p:sp>
          <p:sp>
            <p:nvSpPr>
              <p:cNvPr id="20" name="Line 20"/>
              <p:cNvSpPr/>
              <p:nvPr/>
            </p:nvSpPr>
            <p:spPr>
              <a:xfrm>
                <a:off x="3714750" y="1714500"/>
                <a:ext cx="9525" cy="3619500"/>
              </a:xfrm>
              <a:custGeom>
                <a:avLst/>
                <a:gdLst/>
                <a:ahLst/>
                <a:cxnLst/>
                <a:rect l="l" t="t" r="r" b="b"/>
                <a:pathLst>
                  <a:path w="9525" h="3619500">
                    <a:moveTo>
                      <a:pt x="0" y="0"/>
                    </a:moveTo>
                    <a:lnTo>
                      <a:pt x="0" y="3619500"/>
                    </a:lnTo>
                  </a:path>
                </a:pathLst>
              </a:custGeom>
              <a:noFill/>
              <a:ln w="19050">
                <a:solidFill>
                  <a:schemeClr val="accent1"/>
                </a:solidFill>
              </a:ln>
            </p:spPr>
            <p:txBody>
              <a:bodyPr/>
              <a:lstStyle/>
              <a:p>
                <a:endParaRPr lang="zh-CN" altLang="en-US"/>
              </a:p>
            </p:txBody>
          </p:sp>
          <p:sp>
            <p:nvSpPr>
              <p:cNvPr id="21" name="Line 21"/>
              <p:cNvSpPr/>
              <p:nvPr/>
            </p:nvSpPr>
            <p:spPr>
              <a:xfrm>
                <a:off x="3714750" y="5334000"/>
                <a:ext cx="7524750" cy="9525"/>
              </a:xfrm>
              <a:custGeom>
                <a:avLst/>
                <a:gdLst/>
                <a:ahLst/>
                <a:cxnLst/>
                <a:rect l="l" t="t" r="r" b="b"/>
                <a:pathLst>
                  <a:path w="7524750" h="9525">
                    <a:moveTo>
                      <a:pt x="0" y="0"/>
                    </a:moveTo>
                    <a:lnTo>
                      <a:pt x="7524750" y="0"/>
                    </a:lnTo>
                  </a:path>
                </a:pathLst>
              </a:custGeom>
              <a:noFill/>
              <a:ln w="19050">
                <a:solidFill>
                  <a:schemeClr val="accent1"/>
                </a:solidFill>
              </a:ln>
            </p:spPr>
            <p:txBody>
              <a:bodyPr/>
              <a:lstStyle/>
              <a:p>
                <a:endParaRPr lang="zh-CN" altLang="en-US"/>
              </a:p>
            </p:txBody>
          </p:sp>
          <p:sp>
            <p:nvSpPr>
              <p:cNvPr id="22" name="TextBox 22"/>
              <p:cNvSpPr txBox="1"/>
              <p:nvPr/>
            </p:nvSpPr>
            <p:spPr>
              <a:xfrm>
                <a:off x="3068583" y="1863725"/>
                <a:ext cx="518151"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GWNET</a:t>
                </a:r>
              </a:p>
            </p:txBody>
          </p:sp>
          <p:sp>
            <p:nvSpPr>
              <p:cNvPr id="23" name="Rectangle 23"/>
              <p:cNvSpPr/>
              <p:nvPr/>
            </p:nvSpPr>
            <p:spPr>
              <a:xfrm>
                <a:off x="3714750" y="1797844"/>
                <a:ext cx="4592955" cy="285750"/>
              </a:xfrm>
              <a:prstGeom prst="rect">
                <a:avLst/>
              </a:prstGeom>
              <a:solidFill>
                <a:schemeClr val="accent2"/>
              </a:solidFill>
              <a:ln>
                <a:noFill/>
              </a:ln>
            </p:spPr>
            <p:txBody>
              <a:bodyPr/>
              <a:lstStyle/>
              <a:p>
                <a:endParaRPr lang="zh-CN" altLang="en-US"/>
              </a:p>
            </p:txBody>
          </p:sp>
          <p:sp>
            <p:nvSpPr>
              <p:cNvPr id="24" name="TextBox 24"/>
              <p:cNvSpPr txBox="1"/>
              <p:nvPr/>
            </p:nvSpPr>
            <p:spPr>
              <a:xfrm>
                <a:off x="8376666" y="1863725"/>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14.648</a:t>
                </a:r>
              </a:p>
            </p:txBody>
          </p:sp>
          <p:sp>
            <p:nvSpPr>
              <p:cNvPr id="25" name="TextBox 25"/>
              <p:cNvSpPr txBox="1"/>
              <p:nvPr/>
            </p:nvSpPr>
            <p:spPr>
              <a:xfrm>
                <a:off x="1940245" y="2311400"/>
                <a:ext cx="1646489" cy="205359"/>
              </a:xfrm>
              <a:prstGeom prst="rect">
                <a:avLst/>
              </a:prstGeom>
              <a:noFill/>
              <a:ln>
                <a:noFill/>
              </a:ln>
            </p:spPr>
            <p:txBody>
              <a:bodyPr wrap="none" lIns="0" tIns="0" rIns="0" bIns="0" anchor="t" anchorCtr="0">
                <a:spAutoFit/>
              </a:bodyPr>
              <a:lstStyle/>
              <a:p>
                <a:pPr algn="r"/>
                <a:r>
                  <a:rPr lang="en" sz="1050" b="1" dirty="0">
                    <a:solidFill>
                      <a:schemeClr val="accent1"/>
                    </a:solidFill>
                    <a:latin typeface="+mn-lt"/>
                    <a:ea typeface="+mn-ea"/>
                    <a:cs typeface="+mn-cs"/>
                  </a:rPr>
                  <a:t>MultiHeadSTGCN (ours)</a:t>
                </a:r>
              </a:p>
            </p:txBody>
          </p:sp>
          <p:sp>
            <p:nvSpPr>
              <p:cNvPr id="26" name="Rectangle 26"/>
              <p:cNvSpPr/>
              <p:nvPr/>
            </p:nvSpPr>
            <p:spPr>
              <a:xfrm>
                <a:off x="3714750" y="2250281"/>
                <a:ext cx="4652962" cy="285750"/>
              </a:xfrm>
              <a:prstGeom prst="rect">
                <a:avLst/>
              </a:prstGeom>
              <a:solidFill>
                <a:schemeClr val="accent3"/>
              </a:solidFill>
              <a:ln>
                <a:noFill/>
              </a:ln>
            </p:spPr>
            <p:txBody>
              <a:bodyPr/>
              <a:lstStyle/>
              <a:p>
                <a:endParaRPr lang="zh-CN" altLang="en-US"/>
              </a:p>
            </p:txBody>
          </p:sp>
          <p:sp>
            <p:nvSpPr>
              <p:cNvPr id="27" name="TextBox 27"/>
              <p:cNvSpPr txBox="1"/>
              <p:nvPr/>
            </p:nvSpPr>
            <p:spPr>
              <a:xfrm>
                <a:off x="8433816" y="2311400"/>
                <a:ext cx="455500"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14.839</a:t>
                </a:r>
              </a:p>
            </p:txBody>
          </p:sp>
          <p:sp>
            <p:nvSpPr>
              <p:cNvPr id="28" name="TextBox 28"/>
              <p:cNvSpPr txBox="1"/>
              <p:nvPr/>
            </p:nvSpPr>
            <p:spPr>
              <a:xfrm>
                <a:off x="3037816" y="2768600"/>
                <a:ext cx="548918"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MTGNN</a:t>
                </a:r>
              </a:p>
            </p:txBody>
          </p:sp>
          <p:sp>
            <p:nvSpPr>
              <p:cNvPr id="29" name="Rectangle 29"/>
              <p:cNvSpPr/>
              <p:nvPr/>
            </p:nvSpPr>
            <p:spPr>
              <a:xfrm>
                <a:off x="3714750" y="2702719"/>
                <a:ext cx="4735830" cy="285750"/>
              </a:xfrm>
              <a:prstGeom prst="rect">
                <a:avLst/>
              </a:prstGeom>
              <a:solidFill>
                <a:schemeClr val="accent2"/>
              </a:solidFill>
              <a:ln>
                <a:noFill/>
              </a:ln>
            </p:spPr>
            <p:txBody>
              <a:bodyPr/>
              <a:lstStyle/>
              <a:p>
                <a:endParaRPr lang="zh-CN" altLang="en-US"/>
              </a:p>
            </p:txBody>
          </p:sp>
          <p:sp>
            <p:nvSpPr>
              <p:cNvPr id="30" name="TextBox 30"/>
              <p:cNvSpPr txBox="1"/>
              <p:nvPr/>
            </p:nvSpPr>
            <p:spPr>
              <a:xfrm>
                <a:off x="8519541" y="2768600"/>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15.106</a:t>
                </a:r>
              </a:p>
            </p:txBody>
          </p:sp>
          <p:sp>
            <p:nvSpPr>
              <p:cNvPr id="31" name="TextBox 31"/>
              <p:cNvSpPr txBox="1"/>
              <p:nvPr/>
            </p:nvSpPr>
            <p:spPr>
              <a:xfrm>
                <a:off x="3083772" y="3216275"/>
                <a:ext cx="502962"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AGCRN</a:t>
                </a:r>
              </a:p>
            </p:txBody>
          </p:sp>
          <p:sp>
            <p:nvSpPr>
              <p:cNvPr id="32" name="Rectangle 32"/>
              <p:cNvSpPr/>
              <p:nvPr/>
            </p:nvSpPr>
            <p:spPr>
              <a:xfrm>
                <a:off x="3714750" y="3155156"/>
                <a:ext cx="4894898" cy="285750"/>
              </a:xfrm>
              <a:prstGeom prst="rect">
                <a:avLst/>
              </a:prstGeom>
              <a:solidFill>
                <a:schemeClr val="accent2"/>
              </a:solidFill>
              <a:ln>
                <a:noFill/>
              </a:ln>
            </p:spPr>
            <p:txBody>
              <a:bodyPr/>
              <a:lstStyle/>
              <a:p>
                <a:endParaRPr lang="zh-CN" altLang="en-US"/>
              </a:p>
            </p:txBody>
          </p:sp>
          <p:sp>
            <p:nvSpPr>
              <p:cNvPr id="33" name="TextBox 33"/>
              <p:cNvSpPr txBox="1"/>
              <p:nvPr/>
            </p:nvSpPr>
            <p:spPr>
              <a:xfrm>
                <a:off x="8681466" y="3216275"/>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15.612</a:t>
                </a:r>
              </a:p>
            </p:txBody>
          </p:sp>
          <p:sp>
            <p:nvSpPr>
              <p:cNvPr id="34" name="TextBox 34"/>
              <p:cNvSpPr txBox="1"/>
              <p:nvPr/>
            </p:nvSpPr>
            <p:spPr>
              <a:xfrm>
                <a:off x="3111850" y="3673475"/>
                <a:ext cx="474884"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STGCN</a:t>
                </a:r>
              </a:p>
            </p:txBody>
          </p:sp>
          <p:sp>
            <p:nvSpPr>
              <p:cNvPr id="35" name="Rectangle 35"/>
              <p:cNvSpPr/>
              <p:nvPr/>
            </p:nvSpPr>
            <p:spPr>
              <a:xfrm>
                <a:off x="3714750" y="3607594"/>
                <a:ext cx="5466398" cy="285750"/>
              </a:xfrm>
              <a:prstGeom prst="rect">
                <a:avLst/>
              </a:prstGeom>
              <a:solidFill>
                <a:schemeClr val="accent2"/>
              </a:solidFill>
              <a:ln>
                <a:noFill/>
              </a:ln>
            </p:spPr>
            <p:txBody>
              <a:bodyPr/>
              <a:lstStyle/>
              <a:p>
                <a:endParaRPr lang="zh-CN" altLang="en-US"/>
              </a:p>
            </p:txBody>
          </p:sp>
          <p:sp>
            <p:nvSpPr>
              <p:cNvPr id="36" name="TextBox 36"/>
              <p:cNvSpPr txBox="1"/>
              <p:nvPr/>
            </p:nvSpPr>
            <p:spPr>
              <a:xfrm>
                <a:off x="9252966" y="3673475"/>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17.436</a:t>
                </a:r>
              </a:p>
            </p:txBody>
          </p:sp>
          <p:sp>
            <p:nvSpPr>
              <p:cNvPr id="37" name="TextBox 37"/>
              <p:cNvSpPr txBox="1"/>
              <p:nvPr/>
            </p:nvSpPr>
            <p:spPr>
              <a:xfrm>
                <a:off x="3281678" y="4121150"/>
                <a:ext cx="305056"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GRU</a:t>
                </a:r>
              </a:p>
            </p:txBody>
          </p:sp>
          <p:sp>
            <p:nvSpPr>
              <p:cNvPr id="38" name="Rectangle 38"/>
              <p:cNvSpPr/>
              <p:nvPr/>
            </p:nvSpPr>
            <p:spPr>
              <a:xfrm>
                <a:off x="3714750" y="4060031"/>
                <a:ext cx="6178868" cy="285750"/>
              </a:xfrm>
              <a:prstGeom prst="rect">
                <a:avLst/>
              </a:prstGeom>
              <a:solidFill>
                <a:schemeClr val="accent2"/>
              </a:solidFill>
              <a:ln>
                <a:noFill/>
              </a:ln>
            </p:spPr>
            <p:txBody>
              <a:bodyPr/>
              <a:lstStyle/>
              <a:p>
                <a:endParaRPr lang="zh-CN" altLang="en-US"/>
              </a:p>
            </p:txBody>
          </p:sp>
          <p:sp>
            <p:nvSpPr>
              <p:cNvPr id="39" name="TextBox 39"/>
              <p:cNvSpPr txBox="1"/>
              <p:nvPr/>
            </p:nvSpPr>
            <p:spPr>
              <a:xfrm>
                <a:off x="9967341" y="4121150"/>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19.706</a:t>
                </a:r>
              </a:p>
            </p:txBody>
          </p:sp>
          <p:sp>
            <p:nvSpPr>
              <p:cNvPr id="40" name="TextBox 40"/>
              <p:cNvSpPr txBox="1"/>
              <p:nvPr/>
            </p:nvSpPr>
            <p:spPr>
              <a:xfrm>
                <a:off x="3279707" y="4578350"/>
                <a:ext cx="307027"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FNN</a:t>
                </a:r>
              </a:p>
            </p:txBody>
          </p:sp>
          <p:sp>
            <p:nvSpPr>
              <p:cNvPr id="41" name="Rectangle 41"/>
              <p:cNvSpPr/>
              <p:nvPr/>
            </p:nvSpPr>
            <p:spPr>
              <a:xfrm>
                <a:off x="3714750" y="4512469"/>
                <a:ext cx="6660832" cy="285750"/>
              </a:xfrm>
              <a:prstGeom prst="rect">
                <a:avLst/>
              </a:prstGeom>
              <a:solidFill>
                <a:schemeClr val="accent2"/>
              </a:solidFill>
              <a:ln>
                <a:noFill/>
              </a:ln>
            </p:spPr>
            <p:txBody>
              <a:bodyPr/>
              <a:lstStyle/>
              <a:p>
                <a:endParaRPr lang="zh-CN" altLang="en-US"/>
              </a:p>
            </p:txBody>
          </p:sp>
          <p:sp>
            <p:nvSpPr>
              <p:cNvPr id="42" name="TextBox 42"/>
              <p:cNvSpPr txBox="1"/>
              <p:nvPr/>
            </p:nvSpPr>
            <p:spPr>
              <a:xfrm>
                <a:off x="10443591" y="4578350"/>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21.246</a:t>
                </a:r>
              </a:p>
            </p:txBody>
          </p:sp>
          <p:sp>
            <p:nvSpPr>
              <p:cNvPr id="43" name="TextBox 43"/>
              <p:cNvSpPr txBox="1"/>
              <p:nvPr/>
            </p:nvSpPr>
            <p:spPr>
              <a:xfrm>
                <a:off x="3214067" y="5026025"/>
                <a:ext cx="372667" cy="205359"/>
              </a:xfrm>
              <a:prstGeom prst="rect">
                <a:avLst/>
              </a:prstGeom>
              <a:noFill/>
              <a:ln>
                <a:noFill/>
              </a:ln>
            </p:spPr>
            <p:txBody>
              <a:bodyPr wrap="none" lIns="0" tIns="0" rIns="0" bIns="0" anchor="t" anchorCtr="0">
                <a:spAutoFit/>
              </a:bodyPr>
              <a:lstStyle/>
              <a:p>
                <a:pPr algn="r"/>
                <a:r>
                  <a:rPr lang="en" sz="1050" dirty="0">
                    <a:solidFill>
                      <a:schemeClr val="dk1"/>
                    </a:solidFill>
                    <a:latin typeface="+mn-lt"/>
                    <a:ea typeface="+mn-ea"/>
                    <a:cs typeface="+mn-cs"/>
                  </a:rPr>
                  <a:t>LSTM</a:t>
                </a:r>
              </a:p>
            </p:txBody>
          </p:sp>
          <p:sp>
            <p:nvSpPr>
              <p:cNvPr id="44" name="Rectangle 44"/>
              <p:cNvSpPr/>
              <p:nvPr/>
            </p:nvSpPr>
            <p:spPr>
              <a:xfrm>
                <a:off x="3714750" y="4964906"/>
                <a:ext cx="6828472" cy="285750"/>
              </a:xfrm>
              <a:prstGeom prst="rect">
                <a:avLst/>
              </a:prstGeom>
              <a:solidFill>
                <a:schemeClr val="accent2"/>
              </a:solidFill>
              <a:ln>
                <a:noFill/>
              </a:ln>
            </p:spPr>
            <p:txBody>
              <a:bodyPr/>
              <a:lstStyle/>
              <a:p>
                <a:endParaRPr lang="zh-CN" altLang="en-US"/>
              </a:p>
            </p:txBody>
          </p:sp>
          <p:sp>
            <p:nvSpPr>
              <p:cNvPr id="45" name="TextBox 45"/>
              <p:cNvSpPr txBox="1"/>
              <p:nvPr/>
            </p:nvSpPr>
            <p:spPr>
              <a:xfrm>
                <a:off x="10615041" y="5026025"/>
                <a:ext cx="455500" cy="205359"/>
              </a:xfrm>
              <a:prstGeom prst="rect">
                <a:avLst/>
              </a:prstGeom>
              <a:noFill/>
              <a:ln>
                <a:noFill/>
              </a:ln>
            </p:spPr>
            <p:txBody>
              <a:bodyPr wrap="none" lIns="0" tIns="0" rIns="0" bIns="0" anchor="t" anchorCtr="0">
                <a:spAutoFit/>
              </a:bodyPr>
              <a:lstStyle/>
              <a:p>
                <a:pPr algn="l"/>
                <a:r>
                  <a:rPr lang="en" sz="1050" b="1" dirty="0">
                    <a:solidFill>
                      <a:schemeClr val="dk1"/>
                    </a:solidFill>
                    <a:latin typeface="+mn-lt"/>
                    <a:ea typeface="+mn-ea"/>
                    <a:cs typeface="+mn-cs"/>
                  </a:rPr>
                  <a:t>21.779</a:t>
                </a:r>
              </a:p>
            </p:txBody>
          </p:sp>
          <p:sp>
            <p:nvSpPr>
              <p:cNvPr id="46" name="TextBox 46"/>
              <p:cNvSpPr txBox="1"/>
              <p:nvPr/>
            </p:nvSpPr>
            <p:spPr>
              <a:xfrm>
                <a:off x="6274071" y="5702300"/>
                <a:ext cx="2406109" cy="205359"/>
              </a:xfrm>
              <a:prstGeom prst="rect">
                <a:avLst/>
              </a:prstGeom>
              <a:noFill/>
              <a:ln>
                <a:noFill/>
              </a:ln>
            </p:spPr>
            <p:txBody>
              <a:bodyPr wrap="none" lIns="0" tIns="0" rIns="0" bIns="0" anchor="t" anchorCtr="0">
                <a:spAutoFit/>
              </a:bodyPr>
              <a:lstStyle/>
              <a:p>
                <a:pPr algn="ctr"/>
                <a:r>
                  <a:rPr lang="en" sz="1050" dirty="0">
                    <a:solidFill>
                      <a:schemeClr val="accent5"/>
                    </a:solidFill>
                    <a:latin typeface="+mn-lt"/>
                    <a:ea typeface="+mn-ea"/>
                    <a:cs typeface="+mn-cs"/>
                  </a:rPr>
                  <a:t>MAE · vehicles per five-minute interval</a:t>
                </a:r>
              </a:p>
            </p:txBody>
          </p:sp>
        </p:grpSp>
      </p:grpSp>
      <p:grpSp>
        <p:nvGrpSpPr>
          <p:cNvPr id="51" name="p13-reading"/>
          <p:cNvGrpSpPr/>
          <p:nvPr/>
        </p:nvGrpSpPr>
        <p:grpSpPr>
          <a:xfrm>
            <a:off x="609600" y="6000750"/>
            <a:ext cx="10972800" cy="381000"/>
            <a:chOff x="609600" y="6000750"/>
            <a:chExt cx="10972800" cy="381000"/>
          </a:xfrm>
        </p:grpSpPr>
        <p:sp>
          <p:nvSpPr>
            <p:cNvPr id="49" name="Rectangle 49"/>
            <p:cNvSpPr/>
            <p:nvPr/>
          </p:nvSpPr>
          <p:spPr>
            <a:xfrm>
              <a:off x="609600" y="6000750"/>
              <a:ext cx="10972800" cy="381000"/>
            </a:xfrm>
            <a:prstGeom prst="roundRect">
              <a:avLst>
                <a:gd name="adj" fmla="val 20000"/>
              </a:avLst>
            </a:prstGeom>
            <a:solidFill>
              <a:srgbClr val="DBEAFE"/>
            </a:solidFill>
            <a:ln>
              <a:noFill/>
            </a:ln>
          </p:spPr>
          <p:txBody>
            <a:bodyPr/>
            <a:lstStyle/>
            <a:p>
              <a:endParaRPr lang="zh-CN" altLang="en-US"/>
            </a:p>
          </p:txBody>
        </p:sp>
        <p:sp>
          <p:nvSpPr>
            <p:cNvPr id="50" name="TextBox 50"/>
            <p:cNvSpPr txBox="1"/>
            <p:nvPr/>
          </p:nvSpPr>
          <p:spPr>
            <a:xfrm>
              <a:off x="832866" y="6121400"/>
              <a:ext cx="7481271" cy="205359"/>
            </a:xfrm>
            <a:prstGeom prst="rect">
              <a:avLst/>
            </a:prstGeom>
            <a:noFill/>
            <a:ln>
              <a:noFill/>
            </a:ln>
          </p:spPr>
          <p:txBody>
            <a:bodyPr wrap="none" lIns="0" tIns="0" rIns="0" bIns="0" anchor="t" anchorCtr="0">
              <a:spAutoFit/>
            </a:bodyPr>
            <a:lstStyle/>
            <a:p>
              <a:pPr algn="l"/>
              <a:r>
                <a:rPr lang="en" sz="1050" dirty="0">
                  <a:solidFill>
                    <a:srgbClr val="1E3A8A"/>
                  </a:solidFill>
                  <a:latin typeface="+mn-lt"/>
                  <a:ea typeface="+mn-ea"/>
                  <a:cs typeface="+mn-cs"/>
                </a:rPr>
                <a:t>Protocol-internal comparison: default recipes differ; GWNET first, MultiHeadSTGCN second, sequence baselines behind.</a:t>
              </a:r>
            </a:p>
          </p:txBody>
        </p:sp>
      </p:grpSp>
      <p:grpSp>
        <p:nvGrpSpPr>
          <p:cNvPr id="54" name="p13-footer"/>
          <p:cNvGrpSpPr/>
          <p:nvPr/>
        </p:nvGrpSpPr>
        <p:grpSpPr>
          <a:xfrm>
            <a:off x="609600" y="6515100"/>
            <a:ext cx="10977753" cy="265111"/>
            <a:chOff x="609600" y="6515100"/>
            <a:chExt cx="10977753" cy="265111"/>
          </a:xfrm>
        </p:grpSpPr>
        <p:sp>
          <p:nvSpPr>
            <p:cNvPr id="52" name="Line 5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53" name="TextBox 53"/>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4-title"/>
          <p:cNvGrpSpPr/>
          <p:nvPr/>
        </p:nvGrpSpPr>
        <p:grpSpPr>
          <a:xfrm>
            <a:off x="594360" y="419100"/>
            <a:ext cx="9931874" cy="789940"/>
            <a:chOff x="594360" y="419100"/>
            <a:chExt cx="9931874" cy="789940"/>
          </a:xfrm>
        </p:grpSpPr>
        <p:sp>
          <p:nvSpPr>
            <p:cNvPr id="2" name="TextBox 2"/>
            <p:cNvSpPr txBox="1"/>
            <p:nvPr/>
          </p:nvSpPr>
          <p:spPr>
            <a:xfrm>
              <a:off x="604647" y="419100"/>
              <a:ext cx="2123735"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3 · FORECASTING</a:t>
              </a:r>
            </a:p>
          </p:txBody>
        </p:sp>
        <p:sp>
          <p:nvSpPr>
            <p:cNvPr id="3" name="TextBox 3"/>
            <p:cNvSpPr txBox="1"/>
            <p:nvPr/>
          </p:nvSpPr>
          <p:spPr>
            <a:xfrm>
              <a:off x="594360" y="622300"/>
              <a:ext cx="9931874"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The custom model's gain is a complete-recipe effect</a:t>
              </a:r>
            </a:p>
          </p:txBody>
        </p:sp>
      </p:grpSp>
      <p:grpSp>
        <p:nvGrpSpPr>
          <p:cNvPr id="7" name="p14-chart"/>
          <p:cNvGrpSpPr/>
          <p:nvPr/>
        </p:nvGrpSpPr>
        <p:grpSpPr>
          <a:xfrm>
            <a:off x="609600" y="1333500"/>
            <a:ext cx="6667500" cy="3143250"/>
            <a:chOff x="609600" y="1333500"/>
            <a:chExt cx="6667500" cy="3143250"/>
          </a:xfrm>
        </p:grpSpPr>
        <p:sp>
          <p:nvSpPr>
            <p:cNvPr id="5" name="Rectangle 5"/>
            <p:cNvSpPr/>
            <p:nvPr/>
          </p:nvSpPr>
          <p:spPr>
            <a:xfrm>
              <a:off x="609600" y="1333500"/>
              <a:ext cx="6667500" cy="3143250"/>
            </a:xfrm>
            <a:prstGeom prst="roundRect">
              <a:avLst>
                <a:gd name="adj" fmla="val 3636"/>
              </a:avLst>
            </a:prstGeom>
            <a:solidFill>
              <a:srgbClr val="FFFFFF"/>
            </a:solidFill>
            <a:ln w="9525">
              <a:solidFill>
                <a:schemeClr val="accent6"/>
              </a:solidFill>
            </a:ln>
          </p:spPr>
          <p:txBody>
            <a:bodyPr/>
            <a:lstStyle/>
            <a:p>
              <a:endParaRPr lang="zh-CN" altLang="en-US"/>
            </a:p>
          </p:txBody>
        </p:sp>
        <p:pic>
          <p:nvPicPr>
            <p:cNvPr id="6" name="Image 6"/>
            <p:cNvPicPr>
              <a:picLocks noChangeAspect="1"/>
            </p:cNvPicPr>
            <p:nvPr/>
          </p:nvPicPr>
          <p:blipFill>
            <a:blip r:embed="rId3"/>
            <a:stretch>
              <a:fillRect/>
            </a:stretch>
          </p:blipFill>
          <p:spPr>
            <a:xfrm>
              <a:off x="723900" y="1706634"/>
              <a:ext cx="6438900" cy="2396981"/>
            </a:xfrm>
            <a:prstGeom prst="rect">
              <a:avLst/>
            </a:prstGeom>
          </p:spPr>
        </p:pic>
      </p:grpSp>
      <p:grpSp>
        <p:nvGrpSpPr>
          <p:cNvPr id="21" name="p14-contexts"/>
          <p:cNvGrpSpPr/>
          <p:nvPr/>
        </p:nvGrpSpPr>
        <p:grpSpPr>
          <a:xfrm>
            <a:off x="7467600" y="1333500"/>
            <a:ext cx="4114800" cy="3143250"/>
            <a:chOff x="7467600" y="1333500"/>
            <a:chExt cx="4114800" cy="3143250"/>
          </a:xfrm>
        </p:grpSpPr>
        <p:sp>
          <p:nvSpPr>
            <p:cNvPr id="8" name="Rectangle 8"/>
            <p:cNvSpPr/>
            <p:nvPr/>
          </p:nvSpPr>
          <p:spPr>
            <a:xfrm>
              <a:off x="7467600" y="1333500"/>
              <a:ext cx="41148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9" name="TextBox 9"/>
            <p:cNvSpPr txBox="1"/>
            <p:nvPr/>
          </p:nvSpPr>
          <p:spPr>
            <a:xfrm>
              <a:off x="7767638" y="1555750"/>
              <a:ext cx="1577721"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COMPARISON SETTINGS</a:t>
              </a:r>
            </a:p>
          </p:txBody>
        </p:sp>
        <p:sp>
          <p:nvSpPr>
            <p:cNvPr id="10" name="TextBox 10"/>
            <p:cNvSpPr txBox="1"/>
            <p:nvPr/>
          </p:nvSpPr>
          <p:spPr>
            <a:xfrm>
              <a:off x="7766685" y="1860550"/>
              <a:ext cx="1079929"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Default recipes</a:t>
              </a:r>
            </a:p>
          </p:txBody>
        </p:sp>
        <p:sp>
          <p:nvSpPr>
            <p:cNvPr id="11" name="TextBox 11"/>
            <p:cNvSpPr txBox="1"/>
            <p:nvPr/>
          </p:nvSpPr>
          <p:spPr>
            <a:xfrm>
              <a:off x="7767066" y="2101850"/>
              <a:ext cx="141346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17.44 → 14.84 (−14.9%)</a:t>
              </a:r>
            </a:p>
          </p:txBody>
        </p:sp>
        <p:sp>
          <p:nvSpPr>
            <p:cNvPr id="12" name="Line 12"/>
            <p:cNvSpPr/>
            <p:nvPr/>
          </p:nvSpPr>
          <p:spPr>
            <a:xfrm>
              <a:off x="7772400" y="2400300"/>
              <a:ext cx="3505200" cy="9525"/>
            </a:xfrm>
            <a:custGeom>
              <a:avLst/>
              <a:gdLst/>
              <a:ahLst/>
              <a:cxnLst/>
              <a:rect l="l" t="t" r="r" b="b"/>
              <a:pathLst>
                <a:path w="3505200" h="9525">
                  <a:moveTo>
                    <a:pt x="0" y="0"/>
                  </a:moveTo>
                  <a:lnTo>
                    <a:pt x="3505200" y="0"/>
                  </a:lnTo>
                </a:path>
              </a:pathLst>
            </a:custGeom>
            <a:noFill/>
            <a:ln w="9525">
              <a:solidFill>
                <a:schemeClr val="accent6"/>
              </a:solidFill>
            </a:ln>
          </p:spPr>
          <p:txBody>
            <a:bodyPr/>
            <a:lstStyle/>
            <a:p>
              <a:endParaRPr lang="zh-CN" altLang="en-US"/>
            </a:p>
          </p:txBody>
        </p:sp>
        <p:sp>
          <p:nvSpPr>
            <p:cNvPr id="13" name="TextBox 13"/>
            <p:cNvSpPr txBox="1"/>
            <p:nvPr/>
          </p:nvSpPr>
          <p:spPr>
            <a:xfrm>
              <a:off x="7766685" y="2546350"/>
              <a:ext cx="1495269"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Unified nine-channel</a:t>
              </a:r>
            </a:p>
          </p:txBody>
        </p:sp>
        <p:sp>
          <p:nvSpPr>
            <p:cNvPr id="14" name="TextBox 14"/>
            <p:cNvSpPr txBox="1"/>
            <p:nvPr/>
          </p:nvSpPr>
          <p:spPr>
            <a:xfrm>
              <a:off x="7767066" y="2787650"/>
              <a:ext cx="1337261"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16.11 → 14.84 (−7.9%)</a:t>
              </a:r>
            </a:p>
          </p:txBody>
        </p:sp>
        <p:sp>
          <p:nvSpPr>
            <p:cNvPr id="15" name="Line 15"/>
            <p:cNvSpPr/>
            <p:nvPr/>
          </p:nvSpPr>
          <p:spPr>
            <a:xfrm>
              <a:off x="7772400" y="3086100"/>
              <a:ext cx="3505200" cy="9525"/>
            </a:xfrm>
            <a:custGeom>
              <a:avLst/>
              <a:gdLst/>
              <a:ahLst/>
              <a:cxnLst/>
              <a:rect l="l" t="t" r="r" b="b"/>
              <a:pathLst>
                <a:path w="3505200" h="9525">
                  <a:moveTo>
                    <a:pt x="0" y="0"/>
                  </a:moveTo>
                  <a:lnTo>
                    <a:pt x="3505200" y="0"/>
                  </a:lnTo>
                </a:path>
              </a:pathLst>
            </a:custGeom>
            <a:noFill/>
            <a:ln w="9525">
              <a:solidFill>
                <a:schemeClr val="accent6"/>
              </a:solidFill>
            </a:ln>
          </p:spPr>
          <p:txBody>
            <a:bodyPr/>
            <a:lstStyle/>
            <a:p>
              <a:endParaRPr lang="zh-CN" altLang="en-US"/>
            </a:p>
          </p:txBody>
        </p:sp>
        <p:sp>
          <p:nvSpPr>
            <p:cNvPr id="16" name="TextBox 16"/>
            <p:cNvSpPr txBox="1"/>
            <p:nvPr/>
          </p:nvSpPr>
          <p:spPr>
            <a:xfrm>
              <a:off x="7766685" y="3232150"/>
              <a:ext cx="1133655"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Staged ablation</a:t>
              </a:r>
            </a:p>
          </p:txBody>
        </p:sp>
        <p:sp>
          <p:nvSpPr>
            <p:cNvPr id="17" name="TextBox 17"/>
            <p:cNvSpPr txBox="1"/>
            <p:nvPr/>
          </p:nvSpPr>
          <p:spPr>
            <a:xfrm>
              <a:off x="7767066" y="3473450"/>
              <a:ext cx="2319350"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17.61 reference; different STGCN run</a:t>
              </a:r>
            </a:p>
          </p:txBody>
        </p:sp>
        <p:sp>
          <p:nvSpPr>
            <p:cNvPr id="18" name="Line 18"/>
            <p:cNvSpPr/>
            <p:nvPr/>
          </p:nvSpPr>
          <p:spPr>
            <a:xfrm>
              <a:off x="7772400" y="3771900"/>
              <a:ext cx="3505200" cy="9525"/>
            </a:xfrm>
            <a:custGeom>
              <a:avLst/>
              <a:gdLst/>
              <a:ahLst/>
              <a:cxnLst/>
              <a:rect l="l" t="t" r="r" b="b"/>
              <a:pathLst>
                <a:path w="3505200" h="9525">
                  <a:moveTo>
                    <a:pt x="0" y="0"/>
                  </a:moveTo>
                  <a:lnTo>
                    <a:pt x="3505200" y="0"/>
                  </a:lnTo>
                </a:path>
              </a:pathLst>
            </a:custGeom>
            <a:noFill/>
            <a:ln w="9525">
              <a:solidFill>
                <a:schemeClr val="accent6"/>
              </a:solidFill>
            </a:ln>
          </p:spPr>
          <p:txBody>
            <a:bodyPr/>
            <a:lstStyle/>
            <a:p>
              <a:endParaRPr lang="zh-CN" altLang="en-US"/>
            </a:p>
          </p:txBody>
        </p:sp>
        <p:sp>
          <p:nvSpPr>
            <p:cNvPr id="19" name="TextBox 19"/>
            <p:cNvSpPr txBox="1"/>
            <p:nvPr/>
          </p:nvSpPr>
          <p:spPr>
            <a:xfrm>
              <a:off x="7767447" y="3930650"/>
              <a:ext cx="2202220"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Each setting uses a different protocol.</a:t>
              </a:r>
            </a:p>
          </p:txBody>
        </p:sp>
        <p:sp>
          <p:nvSpPr>
            <p:cNvPr id="20" name="TextBox 20"/>
            <p:cNvSpPr txBox="1"/>
            <p:nvPr/>
          </p:nvSpPr>
          <p:spPr>
            <a:xfrm>
              <a:off x="7767447" y="4140200"/>
              <a:ext cx="2160049"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Chebyshev step is within rerun noise.</a:t>
              </a:r>
            </a:p>
          </p:txBody>
        </p:sp>
      </p:grpSp>
      <p:grpSp>
        <p:nvGrpSpPr>
          <p:cNvPr id="28" name="p14-reading"/>
          <p:cNvGrpSpPr/>
          <p:nvPr/>
        </p:nvGrpSpPr>
        <p:grpSpPr>
          <a:xfrm>
            <a:off x="609600" y="4667250"/>
            <a:ext cx="10972800" cy="1428750"/>
            <a:chOff x="609600" y="4667250"/>
            <a:chExt cx="10972800" cy="1428750"/>
          </a:xfrm>
        </p:grpSpPr>
        <p:sp>
          <p:nvSpPr>
            <p:cNvPr id="22" name="Rectangle 22"/>
            <p:cNvSpPr/>
            <p:nvPr/>
          </p:nvSpPr>
          <p:spPr>
            <a:xfrm>
              <a:off x="609600" y="4667250"/>
              <a:ext cx="10972800" cy="1428750"/>
            </a:xfrm>
            <a:prstGeom prst="roundRect">
              <a:avLst>
                <a:gd name="adj" fmla="val 8000"/>
              </a:avLst>
            </a:prstGeom>
            <a:solidFill>
              <a:srgbClr val="FFFFFF"/>
            </a:solidFill>
            <a:ln w="9525">
              <a:solidFill>
                <a:schemeClr val="accent6"/>
              </a:solidFill>
            </a:ln>
          </p:spPr>
          <p:txBody>
            <a:bodyPr/>
            <a:lstStyle/>
            <a:p>
              <a:endParaRPr lang="zh-CN" altLang="en-US"/>
            </a:p>
          </p:txBody>
        </p:sp>
        <p:sp>
          <p:nvSpPr>
            <p:cNvPr id="23" name="TextBox 23"/>
            <p:cNvSpPr txBox="1"/>
            <p:nvPr/>
          </p:nvSpPr>
          <p:spPr>
            <a:xfrm>
              <a:off x="831342" y="4883150"/>
              <a:ext cx="1076484"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Main effects</a:t>
              </a:r>
            </a:p>
          </p:txBody>
        </p:sp>
        <p:sp>
          <p:nvSpPr>
            <p:cNvPr id="24" name="TextBox 24"/>
            <p:cNvSpPr txBox="1"/>
            <p:nvPr/>
          </p:nvSpPr>
          <p:spPr>
            <a:xfrm>
              <a:off x="832866" y="5175250"/>
              <a:ext cx="2860077" cy="662559"/>
            </a:xfrm>
            <a:prstGeom prst="rect">
              <a:avLst/>
            </a:prstGeom>
            <a:noFill/>
            <a:ln>
              <a:noFill/>
            </a:ln>
          </p:spPr>
          <p:txBody>
            <a:bodyPr wrap="none" lIns="0" tIns="0" rIns="0" bIns="0" anchor="t" anchorCtr="0">
              <a:spAutoFit/>
            </a:bodyPr>
            <a:lstStyle/>
            <a:p>
              <a:pPr algn="l">
                <a:lnSpc>
                  <a:spcPts val="1800"/>
                </a:lnSpc>
              </a:pPr>
              <a:r>
                <a:rPr lang="en" sz="1050" dirty="0">
                  <a:solidFill>
                    <a:schemeClr val="dk1"/>
                  </a:solidFill>
                  <a:latin typeface="+mn-lt"/>
                  <a:ea typeface="+mn-ea"/>
                  <a:cs typeface="+mn-cs"/>
                </a:rPr>
                <a:t>Direct multi-step output and calendar inputs</a:t>
              </a:r>
              <a:br>
                <a:rPr lang="en" sz="1050" dirty="0">
                  <a:solidFill>
                    <a:schemeClr val="dk1"/>
                  </a:solidFill>
                  <a:latin typeface="+mn-lt"/>
                  <a:ea typeface="+mn-ea"/>
                  <a:cs typeface="+mn-cs"/>
                </a:rPr>
              </a:br>
              <a:r>
                <a:rPr lang="en" sz="1050" dirty="0">
                  <a:solidFill>
                    <a:schemeClr val="dk1"/>
                  </a:solidFill>
                  <a:latin typeface="+mn-lt"/>
                  <a:ea typeface="+mn-ea"/>
                  <a:cs typeface="+mn-cs"/>
                </a:rPr>
                <a:t>contribute most of the gain; the spatial-operator</a:t>
              </a:r>
              <a:br>
                <a:rPr lang="en" sz="1050" dirty="0">
                  <a:solidFill>
                    <a:schemeClr val="dk1"/>
                  </a:solidFill>
                  <a:latin typeface="+mn-lt"/>
                  <a:ea typeface="+mn-ea"/>
                  <a:cs typeface="+mn-cs"/>
                </a:rPr>
              </a:br>
              <a:r>
                <a:rPr lang="en" sz="1050" dirty="0">
                  <a:solidFill>
                    <a:schemeClr val="dk1"/>
                  </a:solidFill>
                  <a:latin typeface="+mn-lt"/>
                  <a:ea typeface="+mn-ea"/>
                  <a:cs typeface="+mn-cs"/>
                </a:rPr>
                <a:t>step is small and within rerun noise.</a:t>
              </a:r>
            </a:p>
          </p:txBody>
        </p:sp>
        <p:sp>
          <p:nvSpPr>
            <p:cNvPr id="25" name="Line 25"/>
            <p:cNvSpPr/>
            <p:nvPr/>
          </p:nvSpPr>
          <p:spPr>
            <a:xfrm>
              <a:off x="5943600" y="4876800"/>
              <a:ext cx="9525" cy="1047750"/>
            </a:xfrm>
            <a:custGeom>
              <a:avLst/>
              <a:gdLst/>
              <a:ahLst/>
              <a:cxnLst/>
              <a:rect l="l" t="t" r="r" b="b"/>
              <a:pathLst>
                <a:path w="9525" h="1047750">
                  <a:moveTo>
                    <a:pt x="0" y="0"/>
                  </a:moveTo>
                  <a:lnTo>
                    <a:pt x="0" y="1047750"/>
                  </a:lnTo>
                </a:path>
              </a:pathLst>
            </a:custGeom>
            <a:noFill/>
            <a:ln w="9525">
              <a:solidFill>
                <a:schemeClr val="accent6"/>
              </a:solidFill>
            </a:ln>
          </p:spPr>
          <p:txBody>
            <a:bodyPr/>
            <a:lstStyle/>
            <a:p>
              <a:endParaRPr lang="zh-CN" altLang="en-US"/>
            </a:p>
          </p:txBody>
        </p:sp>
        <p:sp>
          <p:nvSpPr>
            <p:cNvPr id="26" name="TextBox 26"/>
            <p:cNvSpPr txBox="1"/>
            <p:nvPr/>
          </p:nvSpPr>
          <p:spPr>
            <a:xfrm>
              <a:off x="6165342" y="4883150"/>
              <a:ext cx="1595303"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Scope of the claim</a:t>
              </a:r>
            </a:p>
          </p:txBody>
        </p:sp>
        <p:sp>
          <p:nvSpPr>
            <p:cNvPr id="27" name="TextBox 27"/>
            <p:cNvSpPr txBox="1"/>
            <p:nvPr/>
          </p:nvSpPr>
          <p:spPr>
            <a:xfrm>
              <a:off x="6166866" y="5175250"/>
              <a:ext cx="2674348" cy="662559"/>
            </a:xfrm>
            <a:prstGeom prst="rect">
              <a:avLst/>
            </a:prstGeom>
            <a:noFill/>
            <a:ln>
              <a:noFill/>
            </a:ln>
          </p:spPr>
          <p:txBody>
            <a:bodyPr wrap="none" lIns="0" tIns="0" rIns="0" bIns="0" anchor="t" anchorCtr="0">
              <a:spAutoFit/>
            </a:bodyPr>
            <a:lstStyle/>
            <a:p>
              <a:pPr algn="l">
                <a:lnSpc>
                  <a:spcPts val="1800"/>
                </a:lnSpc>
              </a:pPr>
              <a:r>
                <a:rPr lang="en" sz="1050" dirty="0">
                  <a:solidFill>
                    <a:schemeClr val="dk1"/>
                  </a:solidFill>
                  <a:latin typeface="+mn-lt"/>
                  <a:ea typeface="+mn-ea"/>
                  <a:cs typeface="+mn-cs"/>
                </a:rPr>
                <a:t>The 14.9% difference includes recipe changes</a:t>
              </a:r>
              <a:br>
                <a:rPr lang="en" sz="1050" dirty="0">
                  <a:solidFill>
                    <a:schemeClr val="dk1"/>
                  </a:solidFill>
                  <a:latin typeface="+mn-lt"/>
                  <a:ea typeface="+mn-ea"/>
                  <a:cs typeface="+mn-cs"/>
                </a:rPr>
              </a:br>
              <a:r>
                <a:rPr lang="en" sz="1050" dirty="0">
                  <a:solidFill>
                    <a:schemeClr val="dk1"/>
                  </a:solidFill>
                  <a:latin typeface="+mn-lt"/>
                  <a:ea typeface="+mn-ea"/>
                  <a:cs typeface="+mn-cs"/>
                </a:rPr>
                <a:t>as well as architecture. Multi-target training</a:t>
              </a:r>
              <a:br>
                <a:rPr lang="en" sz="1050" dirty="0">
                  <a:solidFill>
                    <a:schemeClr val="dk1"/>
                  </a:solidFill>
                  <a:latin typeface="+mn-lt"/>
                  <a:ea typeface="+mn-ea"/>
                  <a:cs typeface="+mn-cs"/>
                </a:rPr>
              </a:br>
              <a:r>
                <a:rPr lang="en" sz="1050" dirty="0">
                  <a:solidFill>
                    <a:schemeClr val="dk1"/>
                  </a:solidFill>
                  <a:latin typeface="+mn-lt"/>
                  <a:ea typeface="+mn-ea"/>
                  <a:cs typeface="+mn-cs"/>
                </a:rPr>
                <a:t>left flow unchanged; one head is used.</a:t>
              </a:r>
            </a:p>
          </p:txBody>
        </p:sp>
      </p:grpSp>
      <p:grpSp>
        <p:nvGrpSpPr>
          <p:cNvPr id="31" name="p14-footer"/>
          <p:cNvGrpSpPr/>
          <p:nvPr/>
        </p:nvGrpSpPr>
        <p:grpSpPr>
          <a:xfrm>
            <a:off x="609600" y="6515100"/>
            <a:ext cx="10977753" cy="265111"/>
            <a:chOff x="609600" y="6515100"/>
            <a:chExt cx="10977753" cy="265111"/>
          </a:xfrm>
        </p:grpSpPr>
        <p:sp>
          <p:nvSpPr>
            <p:cNvPr id="29" name="Line 29"/>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0" name="TextBox 30"/>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5-title"/>
          <p:cNvGrpSpPr/>
          <p:nvPr/>
        </p:nvGrpSpPr>
        <p:grpSpPr>
          <a:xfrm>
            <a:off x="594360" y="419100"/>
            <a:ext cx="9489643" cy="789940"/>
            <a:chOff x="594360" y="419100"/>
            <a:chExt cx="9489643" cy="789940"/>
          </a:xfrm>
        </p:grpSpPr>
        <p:sp>
          <p:nvSpPr>
            <p:cNvPr id="2" name="TextBox 2"/>
            <p:cNvSpPr txBox="1"/>
            <p:nvPr/>
          </p:nvSpPr>
          <p:spPr>
            <a:xfrm>
              <a:off x="604647" y="419100"/>
              <a:ext cx="2123735"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3 · FORECASTING</a:t>
              </a:r>
            </a:p>
          </p:txBody>
        </p:sp>
        <p:sp>
          <p:nvSpPr>
            <p:cNvPr id="3" name="TextBox 3"/>
            <p:cNvSpPr txBox="1"/>
            <p:nvPr/>
          </p:nvSpPr>
          <p:spPr>
            <a:xfrm>
              <a:off x="594360" y="622300"/>
              <a:ext cx="9489643"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Our model is comparable to MTGNN and AGCRN</a:t>
              </a:r>
            </a:p>
          </p:txBody>
        </p:sp>
      </p:grpSp>
      <p:grpSp>
        <p:nvGrpSpPr>
          <p:cNvPr id="7" name="p15-chart"/>
          <p:cNvGrpSpPr/>
          <p:nvPr/>
        </p:nvGrpSpPr>
        <p:grpSpPr>
          <a:xfrm>
            <a:off x="609600" y="1333500"/>
            <a:ext cx="6667500" cy="3143250"/>
            <a:chOff x="609600" y="1333500"/>
            <a:chExt cx="6667500" cy="3143250"/>
          </a:xfrm>
        </p:grpSpPr>
        <p:sp>
          <p:nvSpPr>
            <p:cNvPr id="5" name="Rectangle 5"/>
            <p:cNvSpPr/>
            <p:nvPr/>
          </p:nvSpPr>
          <p:spPr>
            <a:xfrm>
              <a:off x="609600" y="1333500"/>
              <a:ext cx="6667500" cy="3143250"/>
            </a:xfrm>
            <a:prstGeom prst="roundRect">
              <a:avLst>
                <a:gd name="adj" fmla="val 3636"/>
              </a:avLst>
            </a:prstGeom>
            <a:solidFill>
              <a:srgbClr val="FFFFFF"/>
            </a:solidFill>
            <a:ln w="9525">
              <a:solidFill>
                <a:schemeClr val="accent6"/>
              </a:solidFill>
            </a:ln>
          </p:spPr>
          <p:txBody>
            <a:bodyPr/>
            <a:lstStyle/>
            <a:p>
              <a:endParaRPr lang="zh-CN" altLang="en-US"/>
            </a:p>
          </p:txBody>
        </p:sp>
        <p:pic>
          <p:nvPicPr>
            <p:cNvPr id="6" name="Image 6"/>
            <p:cNvPicPr>
              <a:picLocks noChangeAspect="1"/>
            </p:cNvPicPr>
            <p:nvPr/>
          </p:nvPicPr>
          <p:blipFill>
            <a:blip r:embed="rId3"/>
            <a:stretch>
              <a:fillRect/>
            </a:stretch>
          </p:blipFill>
          <p:spPr>
            <a:xfrm>
              <a:off x="723900" y="1809757"/>
              <a:ext cx="6438900" cy="2190735"/>
            </a:xfrm>
            <a:prstGeom prst="rect">
              <a:avLst/>
            </a:prstGeom>
          </p:spPr>
        </p:pic>
      </p:grpSp>
      <p:grpSp>
        <p:nvGrpSpPr>
          <p:cNvPr id="22" name="p15-diff"/>
          <p:cNvGrpSpPr/>
          <p:nvPr/>
        </p:nvGrpSpPr>
        <p:grpSpPr>
          <a:xfrm>
            <a:off x="7467600" y="1333500"/>
            <a:ext cx="4114800" cy="3148012"/>
            <a:chOff x="7467600" y="1333500"/>
            <a:chExt cx="4114800" cy="3148012"/>
          </a:xfrm>
        </p:grpSpPr>
        <p:sp>
          <p:nvSpPr>
            <p:cNvPr id="8" name="Rectangle 8"/>
            <p:cNvSpPr/>
            <p:nvPr/>
          </p:nvSpPr>
          <p:spPr>
            <a:xfrm>
              <a:off x="7467600" y="1333500"/>
              <a:ext cx="41148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9" name="TextBox 9"/>
            <p:cNvSpPr txBox="1"/>
            <p:nvPr/>
          </p:nvSpPr>
          <p:spPr>
            <a:xfrm>
              <a:off x="7767638" y="1555750"/>
              <a:ext cx="2659456"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PAIRED DIFFERENCE (MODEL − OURS)</a:t>
              </a:r>
            </a:p>
          </p:txBody>
        </p:sp>
        <p:sp>
          <p:nvSpPr>
            <p:cNvPr id="10" name="TextBox 10"/>
            <p:cNvSpPr txBox="1"/>
            <p:nvPr/>
          </p:nvSpPr>
          <p:spPr>
            <a:xfrm>
              <a:off x="7763256" y="1790700"/>
              <a:ext cx="852170" cy="352044"/>
            </a:xfrm>
            <a:prstGeom prst="rect">
              <a:avLst/>
            </a:prstGeom>
            <a:noFill/>
            <a:ln>
              <a:noFill/>
            </a:ln>
          </p:spPr>
          <p:txBody>
            <a:bodyPr wrap="none" lIns="0" tIns="0" rIns="0" bIns="0" anchor="t" anchorCtr="0">
              <a:spAutoFit/>
            </a:bodyPr>
            <a:lstStyle/>
            <a:p>
              <a:pPr algn="l"/>
              <a:r>
                <a:rPr lang="en" sz="1800" b="1" dirty="0">
                  <a:solidFill>
                    <a:schemeClr val="accent3"/>
                  </a:solidFill>
                  <a:latin typeface="+mn-lt"/>
                  <a:ea typeface="+mn-ea"/>
                  <a:cs typeface="+mn-cs"/>
                </a:rPr>
                <a:t>−4.22%</a:t>
              </a:r>
            </a:p>
          </p:txBody>
        </p:sp>
        <p:sp>
          <p:nvSpPr>
            <p:cNvPr id="11" name="TextBox 11"/>
            <p:cNvSpPr txBox="1"/>
            <p:nvPr/>
          </p:nvSpPr>
          <p:spPr>
            <a:xfrm>
              <a:off x="7767066" y="2139950"/>
              <a:ext cx="551905"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GWNET</a:t>
              </a:r>
            </a:p>
          </p:txBody>
        </p:sp>
        <p:sp>
          <p:nvSpPr>
            <p:cNvPr id="12" name="TextBox 12"/>
            <p:cNvSpPr txBox="1"/>
            <p:nvPr/>
          </p:nvSpPr>
          <p:spPr>
            <a:xfrm>
              <a:off x="7767447" y="2349500"/>
              <a:ext cx="1954974"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95% CI −4.98 to −3.47 · 5/5 seeds</a:t>
              </a:r>
            </a:p>
          </p:txBody>
        </p:sp>
        <p:sp>
          <p:nvSpPr>
            <p:cNvPr id="13" name="Line 13"/>
            <p:cNvSpPr/>
            <p:nvPr/>
          </p:nvSpPr>
          <p:spPr>
            <a:xfrm>
              <a:off x="7772400" y="2647950"/>
              <a:ext cx="3505200" cy="9525"/>
            </a:xfrm>
            <a:custGeom>
              <a:avLst/>
              <a:gdLst/>
              <a:ahLst/>
              <a:cxnLst/>
              <a:rect l="l" t="t" r="r" b="b"/>
              <a:pathLst>
                <a:path w="3505200" h="9525">
                  <a:moveTo>
                    <a:pt x="0" y="0"/>
                  </a:moveTo>
                  <a:lnTo>
                    <a:pt x="3505200" y="0"/>
                  </a:lnTo>
                </a:path>
              </a:pathLst>
            </a:custGeom>
            <a:noFill/>
            <a:ln w="9525">
              <a:solidFill>
                <a:schemeClr val="accent6"/>
              </a:solidFill>
            </a:ln>
          </p:spPr>
          <p:txBody>
            <a:bodyPr/>
            <a:lstStyle/>
            <a:p>
              <a:endParaRPr lang="zh-CN" altLang="en-US"/>
            </a:p>
          </p:txBody>
        </p:sp>
        <p:sp>
          <p:nvSpPr>
            <p:cNvPr id="14" name="TextBox 14"/>
            <p:cNvSpPr txBox="1"/>
            <p:nvPr/>
          </p:nvSpPr>
          <p:spPr>
            <a:xfrm>
              <a:off x="7765542" y="2787650"/>
              <a:ext cx="639128"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−0.55%</a:t>
              </a:r>
            </a:p>
          </p:txBody>
        </p:sp>
        <p:sp>
          <p:nvSpPr>
            <p:cNvPr id="15" name="TextBox 15"/>
            <p:cNvSpPr txBox="1"/>
            <p:nvPr/>
          </p:nvSpPr>
          <p:spPr>
            <a:xfrm>
              <a:off x="7767066" y="3054350"/>
              <a:ext cx="583254"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MTGNN</a:t>
              </a:r>
            </a:p>
          </p:txBody>
        </p:sp>
        <p:sp>
          <p:nvSpPr>
            <p:cNvPr id="16" name="TextBox 16"/>
            <p:cNvSpPr txBox="1"/>
            <p:nvPr/>
          </p:nvSpPr>
          <p:spPr>
            <a:xfrm>
              <a:off x="7767447" y="3263900"/>
              <a:ext cx="2171037"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95% CI −1.29 to +0.20 · includes zero</a:t>
              </a:r>
            </a:p>
          </p:txBody>
        </p:sp>
        <p:sp>
          <p:nvSpPr>
            <p:cNvPr id="17" name="Line 17"/>
            <p:cNvSpPr/>
            <p:nvPr/>
          </p:nvSpPr>
          <p:spPr>
            <a:xfrm>
              <a:off x="7772400" y="3562350"/>
              <a:ext cx="3505200" cy="9525"/>
            </a:xfrm>
            <a:custGeom>
              <a:avLst/>
              <a:gdLst/>
              <a:ahLst/>
              <a:cxnLst/>
              <a:rect l="l" t="t" r="r" b="b"/>
              <a:pathLst>
                <a:path w="3505200" h="9525">
                  <a:moveTo>
                    <a:pt x="0" y="0"/>
                  </a:moveTo>
                  <a:lnTo>
                    <a:pt x="3505200" y="0"/>
                  </a:lnTo>
                </a:path>
              </a:pathLst>
            </a:custGeom>
            <a:noFill/>
            <a:ln w="9525">
              <a:solidFill>
                <a:schemeClr val="accent6"/>
              </a:solidFill>
            </a:ln>
          </p:spPr>
          <p:txBody>
            <a:bodyPr/>
            <a:lstStyle/>
            <a:p>
              <a:endParaRPr lang="zh-CN" altLang="en-US"/>
            </a:p>
          </p:txBody>
        </p:sp>
        <p:sp>
          <p:nvSpPr>
            <p:cNvPr id="18" name="TextBox 18"/>
            <p:cNvSpPr txBox="1"/>
            <p:nvPr/>
          </p:nvSpPr>
          <p:spPr>
            <a:xfrm>
              <a:off x="7765542" y="3702050"/>
              <a:ext cx="662662"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+0.44%</a:t>
              </a:r>
            </a:p>
          </p:txBody>
        </p:sp>
        <p:sp>
          <p:nvSpPr>
            <p:cNvPr id="19" name="TextBox 19"/>
            <p:cNvSpPr txBox="1"/>
            <p:nvPr/>
          </p:nvSpPr>
          <p:spPr>
            <a:xfrm>
              <a:off x="7767066" y="3968750"/>
              <a:ext cx="530532" cy="205359"/>
            </a:xfrm>
            <a:prstGeom prst="rect">
              <a:avLst/>
            </a:prstGeom>
            <a:noFill/>
            <a:ln>
              <a:noFill/>
            </a:ln>
          </p:spPr>
          <p:txBody>
            <a:bodyPr wrap="none" lIns="0" tIns="0" rIns="0" bIns="0" anchor="t" anchorCtr="0">
              <a:spAutoFit/>
            </a:bodyPr>
            <a:lstStyle/>
            <a:p>
              <a:pPr algn="l"/>
              <a:r>
                <a:rPr lang="en" sz="1050" b="1" dirty="0">
                  <a:solidFill>
                    <a:schemeClr val="accent1"/>
                  </a:solidFill>
                  <a:latin typeface="+mn-lt"/>
                  <a:ea typeface="+mn-ea"/>
                  <a:cs typeface="+mn-cs"/>
                </a:rPr>
                <a:t>AGCRN</a:t>
              </a:r>
            </a:p>
          </p:txBody>
        </p:sp>
        <p:sp>
          <p:nvSpPr>
            <p:cNvPr id="20" name="TextBox 20"/>
            <p:cNvSpPr txBox="1"/>
            <p:nvPr/>
          </p:nvSpPr>
          <p:spPr>
            <a:xfrm>
              <a:off x="7767447" y="4178300"/>
              <a:ext cx="2171037" cy="191643"/>
            </a:xfrm>
            <a:prstGeom prst="rect">
              <a:avLst/>
            </a:prstGeom>
            <a:noFill/>
            <a:ln>
              <a:noFill/>
            </a:ln>
          </p:spPr>
          <p:txBody>
            <a:bodyPr wrap="none" lIns="0" tIns="0" rIns="0" bIns="0" anchor="t" anchorCtr="0">
              <a:spAutoFit/>
            </a:bodyPr>
            <a:lstStyle/>
            <a:p>
              <a:pPr algn="l"/>
              <a:r>
                <a:rPr lang="en" sz="980" dirty="0">
                  <a:solidFill>
                    <a:schemeClr val="dk1"/>
                  </a:solidFill>
                  <a:latin typeface="+mn-lt"/>
                  <a:ea typeface="+mn-ea"/>
                  <a:cs typeface="+mn-cs"/>
                </a:rPr>
                <a:t>95% CI −0.38 to +1.27 · includes zero</a:t>
              </a:r>
            </a:p>
          </p:txBody>
        </p:sp>
        <p:sp>
          <p:nvSpPr>
            <p:cNvPr id="21" name="TextBox 21"/>
            <p:cNvSpPr txBox="1"/>
            <p:nvPr/>
          </p:nvSpPr>
          <p:spPr>
            <a:xfrm>
              <a:off x="7767638" y="4305300"/>
              <a:ext cx="1794618"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Negative = lower MAE than ours.</a:t>
              </a:r>
            </a:p>
          </p:txBody>
        </p:sp>
      </p:grpSp>
      <p:grpSp>
        <p:nvGrpSpPr>
          <p:cNvPr id="28" name="p15-caution"/>
          <p:cNvGrpSpPr/>
          <p:nvPr/>
        </p:nvGrpSpPr>
        <p:grpSpPr>
          <a:xfrm>
            <a:off x="609600" y="4667250"/>
            <a:ext cx="10972800" cy="1428750"/>
            <a:chOff x="609600" y="4667250"/>
            <a:chExt cx="10972800" cy="1428750"/>
          </a:xfrm>
        </p:grpSpPr>
        <p:sp>
          <p:nvSpPr>
            <p:cNvPr id="23" name="Rectangle 23"/>
            <p:cNvSpPr/>
            <p:nvPr/>
          </p:nvSpPr>
          <p:spPr>
            <a:xfrm>
              <a:off x="609600" y="4667250"/>
              <a:ext cx="10972800" cy="1428750"/>
            </a:xfrm>
            <a:prstGeom prst="roundRect">
              <a:avLst>
                <a:gd name="adj" fmla="val 8000"/>
              </a:avLst>
            </a:prstGeom>
            <a:solidFill>
              <a:srgbClr val="DBEAFE"/>
            </a:solidFill>
            <a:ln>
              <a:noFill/>
            </a:ln>
          </p:spPr>
          <p:txBody>
            <a:bodyPr/>
            <a:lstStyle/>
            <a:p>
              <a:endParaRPr lang="zh-CN" altLang="en-US"/>
            </a:p>
          </p:txBody>
        </p:sp>
        <p:sp>
          <p:nvSpPr>
            <p:cNvPr id="24" name="TextBox 24"/>
            <p:cNvSpPr txBox="1"/>
            <p:nvPr/>
          </p:nvSpPr>
          <p:spPr>
            <a:xfrm>
              <a:off x="831342" y="4883150"/>
              <a:ext cx="2085240" cy="264033"/>
            </a:xfrm>
            <a:prstGeom prst="rect">
              <a:avLst/>
            </a:prstGeom>
            <a:noFill/>
            <a:ln>
              <a:noFill/>
            </a:ln>
          </p:spPr>
          <p:txBody>
            <a:bodyPr wrap="none" lIns="0" tIns="0" rIns="0" bIns="0" anchor="t" anchorCtr="0">
              <a:spAutoFit/>
            </a:bodyPr>
            <a:lstStyle/>
            <a:p>
              <a:pPr algn="l"/>
              <a:r>
                <a:rPr lang="en" sz="1350" b="1" dirty="0">
                  <a:solidFill>
                    <a:srgbClr val="1E3A8A"/>
                  </a:solidFill>
                  <a:latin typeface="+mn-lt"/>
                  <a:ea typeface="+mn-ea"/>
                  <a:cs typeface="+mn-cs"/>
                </a:rPr>
                <a:t>What the intervals show</a:t>
              </a:r>
            </a:p>
          </p:txBody>
        </p:sp>
        <p:sp>
          <p:nvSpPr>
            <p:cNvPr id="25" name="TextBox 25"/>
            <p:cNvSpPr txBox="1"/>
            <p:nvPr/>
          </p:nvSpPr>
          <p:spPr>
            <a:xfrm>
              <a:off x="832866" y="5226050"/>
              <a:ext cx="4942700" cy="205359"/>
            </a:xfrm>
            <a:prstGeom prst="rect">
              <a:avLst/>
            </a:prstGeom>
            <a:noFill/>
            <a:ln>
              <a:noFill/>
            </a:ln>
          </p:spPr>
          <p:txBody>
            <a:bodyPr wrap="none" lIns="0" tIns="0" rIns="0" bIns="0" anchor="t" anchorCtr="0">
              <a:spAutoFit/>
            </a:bodyPr>
            <a:lstStyle/>
            <a:p>
              <a:pPr algn="l"/>
              <a:r>
                <a:rPr lang="en" sz="1050" dirty="0">
                  <a:solidFill>
                    <a:srgbClr val="1E3A8A"/>
                  </a:solidFill>
                  <a:latin typeface="+mn-lt"/>
                  <a:ea typeface="+mn-ea"/>
                  <a:cs typeface="+mn-cs"/>
                </a:rPr>
                <a:t>MTGNN and AGCRN intervals include zero, so their differences are unresolved.</a:t>
              </a:r>
            </a:p>
          </p:txBody>
        </p:sp>
        <p:sp>
          <p:nvSpPr>
            <p:cNvPr id="26" name="TextBox 26"/>
            <p:cNvSpPr txBox="1"/>
            <p:nvPr/>
          </p:nvSpPr>
          <p:spPr>
            <a:xfrm>
              <a:off x="832866" y="5473700"/>
              <a:ext cx="4576474" cy="205359"/>
            </a:xfrm>
            <a:prstGeom prst="rect">
              <a:avLst/>
            </a:prstGeom>
            <a:noFill/>
            <a:ln>
              <a:noFill/>
            </a:ln>
          </p:spPr>
          <p:txBody>
            <a:bodyPr wrap="none" lIns="0" tIns="0" rIns="0" bIns="0" anchor="t" anchorCtr="0">
              <a:spAutoFit/>
            </a:bodyPr>
            <a:lstStyle/>
            <a:p>
              <a:pPr algn="l"/>
              <a:r>
                <a:rPr lang="en" sz="1050" dirty="0">
                  <a:solidFill>
                    <a:srgbClr val="1E3A8A"/>
                  </a:solidFill>
                  <a:latin typeface="+mn-lt"/>
                  <a:ea typeface="+mn-ea"/>
                  <a:cs typeface="+mn-cs"/>
                </a:rPr>
                <a:t>GWNET is lower on every paired seed; our model has the tightest spread.</a:t>
              </a:r>
            </a:p>
          </p:txBody>
        </p:sp>
        <p:sp>
          <p:nvSpPr>
            <p:cNvPr id="27" name="TextBox 27"/>
            <p:cNvSpPr txBox="1"/>
            <p:nvPr/>
          </p:nvSpPr>
          <p:spPr>
            <a:xfrm>
              <a:off x="833247" y="5759450"/>
              <a:ext cx="7665968" cy="191643"/>
            </a:xfrm>
            <a:prstGeom prst="rect">
              <a:avLst/>
            </a:prstGeom>
            <a:noFill/>
            <a:ln>
              <a:noFill/>
            </a:ln>
          </p:spPr>
          <p:txBody>
            <a:bodyPr wrap="none" lIns="0" tIns="0" rIns="0" bIns="0" anchor="t" anchorCtr="0">
              <a:spAutoFit/>
            </a:bodyPr>
            <a:lstStyle/>
            <a:p>
              <a:pPr algn="l"/>
              <a:r>
                <a:rPr lang="en" sz="980" dirty="0">
                  <a:solidFill>
                    <a:srgbClr val="1E3A8A"/>
                  </a:solidFill>
                  <a:latin typeface="+mn-lt"/>
                  <a:ea typeface="+mn-ea"/>
                  <a:cs typeface="+mn-cs"/>
                </a:rPr>
                <a:t>Caveat: top four were selected on seed 0, so this is descriptive. Whiskers show ±1 SD; the right panel uses 95% confidence intervals.</a:t>
              </a:r>
            </a:p>
          </p:txBody>
        </p:sp>
      </p:grpSp>
      <p:grpSp>
        <p:nvGrpSpPr>
          <p:cNvPr id="31" name="p15-footer"/>
          <p:cNvGrpSpPr/>
          <p:nvPr/>
        </p:nvGrpSpPr>
        <p:grpSpPr>
          <a:xfrm>
            <a:off x="609600" y="6515100"/>
            <a:ext cx="10977753" cy="265111"/>
            <a:chOff x="609600" y="6515100"/>
            <a:chExt cx="10977753" cy="265111"/>
          </a:xfrm>
        </p:grpSpPr>
        <p:sp>
          <p:nvSpPr>
            <p:cNvPr id="29" name="Line 29"/>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0" name="TextBox 30"/>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6" name="p16-title"/>
          <p:cNvGrpSpPr/>
          <p:nvPr/>
        </p:nvGrpSpPr>
        <p:grpSpPr>
          <a:xfrm>
            <a:off x="590550" y="647700"/>
            <a:ext cx="4216546" cy="4031107"/>
            <a:chOff x="590550" y="647700"/>
            <a:chExt cx="4216546" cy="4031107"/>
          </a:xfrm>
        </p:grpSpPr>
        <p:sp>
          <p:nvSpPr>
            <p:cNvPr id="2" name="TextBox 2"/>
            <p:cNvSpPr txBox="1"/>
            <p:nvPr/>
          </p:nvSpPr>
          <p:spPr>
            <a:xfrm>
              <a:off x="604647" y="647700"/>
              <a:ext cx="1105154" cy="191643"/>
            </a:xfrm>
            <a:prstGeom prst="rect">
              <a:avLst/>
            </a:prstGeom>
            <a:noFill/>
            <a:ln>
              <a:noFill/>
            </a:ln>
          </p:spPr>
          <p:txBody>
            <a:bodyPr wrap="none" lIns="0" tIns="0" rIns="0" bIns="0" anchor="t" anchorCtr="0">
              <a:spAutoFit/>
            </a:bodyPr>
            <a:lstStyle/>
            <a:p>
              <a:pPr algn="l"/>
              <a:r>
                <a:rPr lang="en" sz="980" b="1" spc="112" dirty="0">
                  <a:solidFill>
                    <a:srgbClr val="5EEAD4"/>
                  </a:solidFill>
                  <a:latin typeface="Consolas"/>
                  <a:ea typeface="Consolas"/>
                  <a:cs typeface="Consolas"/>
                </a:rPr>
                <a:t>PART 04 / 05</a:t>
              </a:r>
            </a:p>
          </p:txBody>
        </p:sp>
        <p:sp>
          <p:nvSpPr>
            <p:cNvPr id="3" name="TextBox 3"/>
            <p:cNvSpPr txBox="1"/>
            <p:nvPr/>
          </p:nvSpPr>
          <p:spPr>
            <a:xfrm>
              <a:off x="590550" y="1778000"/>
              <a:ext cx="1153141" cy="1390650"/>
            </a:xfrm>
            <a:prstGeom prst="rect">
              <a:avLst/>
            </a:prstGeom>
            <a:noFill/>
            <a:ln>
              <a:noFill/>
            </a:ln>
          </p:spPr>
          <p:txBody>
            <a:bodyPr wrap="none" lIns="0" tIns="0" rIns="0" bIns="0" anchor="t" anchorCtr="0">
              <a:spAutoFit/>
            </a:bodyPr>
            <a:lstStyle/>
            <a:p>
              <a:pPr algn="l"/>
              <a:r>
                <a:rPr lang="en" sz="7200" b="1" dirty="0">
                  <a:solidFill>
                    <a:srgbClr val="38BDF8"/>
                  </a:solidFill>
                  <a:latin typeface="+mn-lt"/>
                  <a:ea typeface="+mn-ea"/>
                  <a:cs typeface="+mn-cs"/>
                </a:rPr>
                <a:t>04</a:t>
              </a:r>
            </a:p>
          </p:txBody>
        </p:sp>
        <p:sp>
          <p:nvSpPr>
            <p:cNvPr id="4" name="TextBox 4"/>
            <p:cNvSpPr txBox="1"/>
            <p:nvPr/>
          </p:nvSpPr>
          <p:spPr>
            <a:xfrm>
              <a:off x="594360" y="3060700"/>
              <a:ext cx="2233737" cy="586740"/>
            </a:xfrm>
            <a:prstGeom prst="rect">
              <a:avLst/>
            </a:prstGeom>
            <a:noFill/>
            <a:ln>
              <a:noFill/>
            </a:ln>
          </p:spPr>
          <p:txBody>
            <a:bodyPr wrap="none" lIns="0" tIns="0" rIns="0" bIns="0" anchor="t" anchorCtr="0">
              <a:spAutoFit/>
            </a:bodyPr>
            <a:lstStyle/>
            <a:p>
              <a:pPr algn="l"/>
              <a:r>
                <a:rPr lang="en" sz="3000" b="1" dirty="0">
                  <a:solidFill>
                    <a:srgbClr val="FFFFFF"/>
                  </a:solidFill>
                  <a:latin typeface="+mn-lt"/>
                  <a:ea typeface="+mn-ea"/>
                  <a:cs typeface="+mn-cs"/>
                </a:rPr>
                <a:t>Workbench</a:t>
              </a:r>
            </a:p>
          </p:txBody>
        </p:sp>
        <p:sp>
          <p:nvSpPr>
            <p:cNvPr id="5" name="TextBox 5"/>
            <p:cNvSpPr txBox="1"/>
            <p:nvPr/>
          </p:nvSpPr>
          <p:spPr>
            <a:xfrm>
              <a:off x="601218" y="4032250"/>
              <a:ext cx="6583680" cy="649224"/>
            </a:xfrm>
            <a:prstGeom prst="rect">
              <a:avLst/>
            </a:prstGeom>
            <a:noFill/>
            <a:ln>
              <a:noFill/>
            </a:ln>
          </p:spPr>
          <p:txBody>
            <a:bodyPr wrap="square" lIns="0" tIns="0" rIns="0" bIns="0" anchor="t" anchorCtr="0">
              <a:spAutoFit/>
            </a:bodyPr>
            <a:lstStyle/>
            <a:p>
              <a:pPr algn="l">
                <a:lnSpc>
                  <a:spcPts val="2550"/>
                </a:lnSpc>
              </a:pPr>
              <a:r>
                <a:rPr sz="1650" b="0">
                  <a:solidFill>
                    <a:srgbClr val="CBD5E1"/>
                  </a:solidFill>
                  <a:latin typeface="Segoe UI"/>
                </a:rPr>
                <a:t>A single operator surface for monitoring,
congestion and short-term forecasts.</a:t>
              </a:r>
            </a:p>
          </p:txBody>
        </p:sp>
      </p:grpSp>
      <p:sp>
        <p:nvSpPr>
          <p:cNvPr id="7" name="TextBox 7"/>
          <p:cNvSpPr txBox="1"/>
          <p:nvPr/>
        </p:nvSpPr>
        <p:spPr>
          <a:xfrm>
            <a:off x="7600950" y="2266950"/>
            <a:ext cx="3754904" cy="4591050"/>
          </a:xfrm>
          <a:prstGeom prst="rect">
            <a:avLst/>
          </a:prstGeom>
          <a:noFill/>
          <a:ln>
            <a:noFill/>
          </a:ln>
        </p:spPr>
        <p:txBody>
          <a:bodyPr wrap="none" lIns="0" tIns="0" rIns="0" bIns="0" anchor="t" anchorCtr="0">
            <a:spAutoFit/>
          </a:bodyPr>
          <a:lstStyle/>
          <a:p>
            <a:pPr algn="l"/>
            <a:r>
              <a:rPr lang="en" sz="24000" b="1" dirty="0">
                <a:solidFill>
                  <a:srgbClr val="24324A"/>
                </a:solidFill>
                <a:latin typeface="+mn-lt"/>
                <a:ea typeface="+mn-ea"/>
                <a:cs typeface="+mn-cs"/>
              </a:rPr>
              <a:t>04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7-title"/>
          <p:cNvGrpSpPr/>
          <p:nvPr/>
        </p:nvGrpSpPr>
        <p:grpSpPr>
          <a:xfrm>
            <a:off x="594360" y="419100"/>
            <a:ext cx="10180279" cy="789940"/>
            <a:chOff x="594360" y="419100"/>
            <a:chExt cx="10180279"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4 · WORKBENCH</a:t>
              </a:r>
            </a:p>
          </p:txBody>
        </p:sp>
        <p:sp>
          <p:nvSpPr>
            <p:cNvPr id="3" name="TextBox 3"/>
            <p:cNvSpPr txBox="1"/>
            <p:nvPr/>
          </p:nvSpPr>
          <p:spPr>
            <a:xfrm>
              <a:off x="594360" y="622300"/>
              <a:ext cx="10180279" cy="586740"/>
            </a:xfrm>
            <a:prstGeom prst="rect">
              <a:avLst/>
            </a:prstGeom>
            <a:noFill/>
            <a:ln>
              <a:noFill/>
            </a:ln>
          </p:spPr>
          <p:txBody>
            <a:bodyPr wrap="square" lIns="0" tIns="0" rIns="0" bIns="0" anchor="t" anchorCtr="0">
              <a:spAutoFit/>
            </a:bodyPr>
            <a:lstStyle/>
            <a:p>
              <a:pPr algn="l"/>
              <a:r>
                <a:rPr sz="3000" b="1">
                  <a:solidFill>
                    <a:srgbClr val="0F172A"/>
                  </a:solidFill>
                  <a:latin typeface="Segoe UI"/>
                </a:rPr>
                <a:t>One workbench for monitoring and forecasting</a:t>
              </a:r>
            </a:p>
          </p:txBody>
        </p:sp>
      </p:grpSp>
      <p:grpSp>
        <p:nvGrpSpPr>
          <p:cNvPr id="17" name="p17-lta"/>
          <p:cNvGrpSpPr/>
          <p:nvPr/>
        </p:nvGrpSpPr>
        <p:grpSpPr>
          <a:xfrm>
            <a:off x="609600" y="1333500"/>
            <a:ext cx="5334000" cy="3143250"/>
            <a:chOff x="609600" y="1333500"/>
            <a:chExt cx="5334000" cy="3143250"/>
          </a:xfrm>
        </p:grpSpPr>
        <p:sp>
          <p:nvSpPr>
            <p:cNvPr id="5" name="Rectangle 5"/>
            <p:cNvSpPr/>
            <p:nvPr/>
          </p:nvSpPr>
          <p:spPr>
            <a:xfrm>
              <a:off x="609600" y="1333500"/>
              <a:ext cx="53340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562100"/>
              <a:ext cx="419100" cy="419100"/>
            </a:xfrm>
            <a:prstGeom prst="roundRect">
              <a:avLst>
                <a:gd name="adj" fmla="val 22727"/>
              </a:avLst>
            </a:prstGeom>
            <a:solidFill>
              <a:srgbClr val="DBEAFE"/>
            </a:solidFill>
            <a:ln>
              <a:noFill/>
            </a:ln>
          </p:spPr>
          <p:txBody>
            <a:bodyPr/>
            <a:lstStyle/>
            <a:p>
              <a:endParaRPr lang="zh-CN" altLang="en-US"/>
            </a:p>
          </p:txBody>
        </p:sp>
        <p:sp>
          <p:nvSpPr>
            <p:cNvPr id="7" name="Freeform 7"/>
            <p:cNvSpPr/>
            <p:nvPr/>
          </p:nvSpPr>
          <p:spPr>
            <a:xfrm>
              <a:off x="952499" y="1685922"/>
              <a:ext cx="190502" cy="171454"/>
            </a:xfrm>
            <a:custGeom>
              <a:avLst/>
              <a:gdLst/>
              <a:ahLst/>
              <a:cxnLst/>
              <a:rect l="l" t="t" r="r" b="b"/>
              <a:pathLst>
                <a:path w="190502" h="171454">
                  <a:moveTo>
                    <a:pt x="123826" y="3"/>
                  </a:moveTo>
                  <a:cubicBezTo>
                    <a:pt x="133795" y="0"/>
                    <a:pt x="142081" y="7683"/>
                    <a:pt x="142828" y="17624"/>
                  </a:cubicBezTo>
                  <a:lnTo>
                    <a:pt x="142876" y="19053"/>
                  </a:lnTo>
                  <a:cubicBezTo>
                    <a:pt x="142876" y="23882"/>
                    <a:pt x="146491" y="27946"/>
                    <a:pt x="151286" y="28511"/>
                  </a:cubicBezTo>
                  <a:lnTo>
                    <a:pt x="152401" y="28578"/>
                  </a:lnTo>
                  <a:lnTo>
                    <a:pt x="161926" y="28578"/>
                  </a:lnTo>
                  <a:cubicBezTo>
                    <a:pt x="177057" y="28577"/>
                    <a:pt x="189566" y="40372"/>
                    <a:pt x="190453" y="55477"/>
                  </a:cubicBezTo>
                  <a:lnTo>
                    <a:pt x="190501" y="57153"/>
                  </a:lnTo>
                  <a:lnTo>
                    <a:pt x="190501" y="142878"/>
                  </a:lnTo>
                  <a:cubicBezTo>
                    <a:pt x="190502" y="158009"/>
                    <a:pt x="178707" y="170518"/>
                    <a:pt x="163602" y="171406"/>
                  </a:cubicBezTo>
                  <a:lnTo>
                    <a:pt x="161926" y="171453"/>
                  </a:lnTo>
                  <a:lnTo>
                    <a:pt x="28576" y="171453"/>
                  </a:lnTo>
                  <a:cubicBezTo>
                    <a:pt x="13445" y="171454"/>
                    <a:pt x="936" y="159660"/>
                    <a:pt x="48" y="144555"/>
                  </a:cubicBezTo>
                  <a:lnTo>
                    <a:pt x="1" y="142878"/>
                  </a:lnTo>
                  <a:lnTo>
                    <a:pt x="1" y="57153"/>
                  </a:lnTo>
                  <a:cubicBezTo>
                    <a:pt x="0" y="42022"/>
                    <a:pt x="11794" y="29513"/>
                    <a:pt x="26899" y="28626"/>
                  </a:cubicBezTo>
                  <a:lnTo>
                    <a:pt x="28576" y="28578"/>
                  </a:lnTo>
                  <a:lnTo>
                    <a:pt x="38101" y="28578"/>
                  </a:lnTo>
                  <a:cubicBezTo>
                    <a:pt x="43361" y="28578"/>
                    <a:pt x="47626" y="24314"/>
                    <a:pt x="47626" y="19053"/>
                  </a:cubicBezTo>
                  <a:cubicBezTo>
                    <a:pt x="47623" y="9084"/>
                    <a:pt x="55306" y="798"/>
                    <a:pt x="65247" y="51"/>
                  </a:cubicBezTo>
                  <a:lnTo>
                    <a:pt x="66676" y="3"/>
                  </a:lnTo>
                  <a:lnTo>
                    <a:pt x="123826" y="3"/>
                  </a:lnTo>
                  <a:close/>
                  <a:moveTo>
                    <a:pt x="95251" y="66678"/>
                  </a:moveTo>
                  <a:cubicBezTo>
                    <a:pt x="80582" y="66677"/>
                    <a:pt x="68295" y="77783"/>
                    <a:pt x="66819" y="92377"/>
                  </a:cubicBezTo>
                  <a:lnTo>
                    <a:pt x="66714" y="93824"/>
                  </a:lnTo>
                  <a:lnTo>
                    <a:pt x="66676" y="95253"/>
                  </a:lnTo>
                  <a:lnTo>
                    <a:pt x="66714" y="96682"/>
                  </a:lnTo>
                  <a:cubicBezTo>
                    <a:pt x="67494" y="112258"/>
                    <a:pt x="80619" y="124333"/>
                    <a:pt x="96207" y="123812"/>
                  </a:cubicBezTo>
                  <a:cubicBezTo>
                    <a:pt x="111794" y="123292"/>
                    <a:pt x="124085" y="110369"/>
                    <a:pt x="123824" y="94775"/>
                  </a:cubicBezTo>
                  <a:cubicBezTo>
                    <a:pt x="123563" y="79181"/>
                    <a:pt x="110847" y="66677"/>
                    <a:pt x="95251" y="66678"/>
                  </a:cubicBezTo>
                  <a:close/>
                </a:path>
              </a:pathLst>
            </a:custGeom>
            <a:solidFill>
              <a:schemeClr val="accent2"/>
            </a:solidFill>
            <a:ln>
              <a:noFill/>
            </a:ln>
          </p:spPr>
          <p:txBody>
            <a:bodyPr/>
            <a:lstStyle/>
            <a:p>
              <a:endParaRPr lang="zh-CN" altLang="en-US"/>
            </a:p>
          </p:txBody>
        </p:sp>
        <p:sp>
          <p:nvSpPr>
            <p:cNvPr id="8" name="TextBox 8"/>
            <p:cNvSpPr txBox="1"/>
            <p:nvPr/>
          </p:nvSpPr>
          <p:spPr>
            <a:xfrm>
              <a:off x="1402080" y="1657350"/>
              <a:ext cx="2743200" cy="293370"/>
            </a:xfrm>
            <a:prstGeom prst="rect">
              <a:avLst/>
            </a:prstGeom>
            <a:noFill/>
            <a:ln>
              <a:noFill/>
            </a:ln>
          </p:spPr>
          <p:txBody>
            <a:bodyPr wrap="square" lIns="0" tIns="0" rIns="0" bIns="0" anchor="t" anchorCtr="0">
              <a:spAutoFit/>
            </a:bodyPr>
            <a:lstStyle/>
            <a:p>
              <a:pPr algn="l"/>
              <a:r>
                <a:rPr sz="1500" b="1">
                  <a:solidFill>
                    <a:srgbClr val="0F172A"/>
                  </a:solidFill>
                  <a:latin typeface="Segoe UI"/>
                </a:rPr>
                <a:t>Now: LTA monitoring</a:t>
              </a:r>
            </a:p>
          </p:txBody>
        </p:sp>
        <p:sp>
          <p:nvSpPr>
            <p:cNvPr id="9" name="TextBox 9"/>
            <p:cNvSpPr txBox="1"/>
            <p:nvPr/>
          </p:nvSpPr>
          <p:spPr>
            <a:xfrm>
              <a:off x="833438" y="2165350"/>
              <a:ext cx="381483"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INPUT</a:t>
              </a:r>
            </a:p>
          </p:txBody>
        </p:sp>
        <p:sp>
          <p:nvSpPr>
            <p:cNvPr id="10" name="TextBox 10"/>
            <p:cNvSpPr txBox="1"/>
            <p:nvPr/>
          </p:nvSpPr>
          <p:spPr>
            <a:xfrm>
              <a:off x="832866" y="2349500"/>
              <a:ext cx="2039447"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Camera images · 10-minute stills</a:t>
              </a:r>
            </a:p>
          </p:txBody>
        </p:sp>
        <p:sp>
          <p:nvSpPr>
            <p:cNvPr id="11" name="TextBox 11"/>
            <p:cNvSpPr txBox="1"/>
            <p:nvPr/>
          </p:nvSpPr>
          <p:spPr>
            <a:xfrm>
              <a:off x="833438" y="2755900"/>
              <a:ext cx="381483"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MODEL</a:t>
              </a:r>
            </a:p>
          </p:txBody>
        </p:sp>
        <p:sp>
          <p:nvSpPr>
            <p:cNvPr id="12" name="TextBox 12"/>
            <p:cNvSpPr txBox="1"/>
            <p:nvPr/>
          </p:nvSpPr>
          <p:spPr>
            <a:xfrm>
              <a:off x="832866" y="2940050"/>
              <a:ext cx="171254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YOLO26m joint fine-tuning</a:t>
              </a:r>
            </a:p>
          </p:txBody>
        </p:sp>
        <p:sp>
          <p:nvSpPr>
            <p:cNvPr id="13" name="TextBox 13"/>
            <p:cNvSpPr txBox="1"/>
            <p:nvPr/>
          </p:nvSpPr>
          <p:spPr>
            <a:xfrm>
              <a:off x="833438" y="3346450"/>
              <a:ext cx="458434"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OUTPUT</a:t>
              </a:r>
            </a:p>
          </p:txBody>
        </p:sp>
        <p:sp>
          <p:nvSpPr>
            <p:cNvPr id="14" name="TextBox 14"/>
            <p:cNvSpPr txBox="1"/>
            <p:nvPr/>
          </p:nvSpPr>
          <p:spPr>
            <a:xfrm>
              <a:off x="832866" y="3530600"/>
              <a:ext cx="221629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Detection tables · per-frame counts</a:t>
              </a:r>
            </a:p>
          </p:txBody>
        </p:sp>
        <p:sp>
          <p:nvSpPr>
            <p:cNvPr id="15" name="TextBox 15"/>
            <p:cNvSpPr txBox="1"/>
            <p:nvPr/>
          </p:nvSpPr>
          <p:spPr>
            <a:xfrm>
              <a:off x="833438" y="3937000"/>
              <a:ext cx="612338"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BOUNDARY</a:t>
              </a:r>
            </a:p>
          </p:txBody>
        </p:sp>
        <p:sp>
          <p:nvSpPr>
            <p:cNvPr id="16" name="TextBox 16"/>
            <p:cNvSpPr txBox="1"/>
            <p:nvPr/>
          </p:nvSpPr>
          <p:spPr>
            <a:xfrm>
              <a:off x="832866" y="4121150"/>
              <a:ext cx="268736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Forecasting uses calibrated flow and speed</a:t>
              </a:r>
            </a:p>
          </p:txBody>
        </p:sp>
      </p:grpSp>
      <p:grpSp>
        <p:nvGrpSpPr>
          <p:cNvPr id="33" name="p17-pemsd8"/>
          <p:cNvGrpSpPr/>
          <p:nvPr/>
        </p:nvGrpSpPr>
        <p:grpSpPr>
          <a:xfrm>
            <a:off x="6248400" y="1333500"/>
            <a:ext cx="5334000" cy="3143250"/>
            <a:chOff x="6248400" y="1333500"/>
            <a:chExt cx="5334000" cy="3143250"/>
          </a:xfrm>
        </p:grpSpPr>
        <p:sp>
          <p:nvSpPr>
            <p:cNvPr id="18" name="Rectangle 18"/>
            <p:cNvSpPr/>
            <p:nvPr/>
          </p:nvSpPr>
          <p:spPr>
            <a:xfrm>
              <a:off x="6248400" y="1333500"/>
              <a:ext cx="5334000" cy="3143250"/>
            </a:xfrm>
            <a:prstGeom prst="roundRect">
              <a:avLst>
                <a:gd name="adj" fmla="val 3636"/>
              </a:avLst>
            </a:prstGeom>
            <a:solidFill>
              <a:srgbClr val="FFFFFF"/>
            </a:solidFill>
            <a:ln w="9525">
              <a:solidFill>
                <a:schemeClr val="accent6"/>
              </a:solidFill>
            </a:ln>
          </p:spPr>
          <p:txBody>
            <a:bodyPr/>
            <a:lstStyle/>
            <a:p>
              <a:endParaRPr lang="zh-CN" altLang="en-US"/>
            </a:p>
          </p:txBody>
        </p:sp>
        <p:sp>
          <p:nvSpPr>
            <p:cNvPr id="19" name="Rectangle 19"/>
            <p:cNvSpPr/>
            <p:nvPr/>
          </p:nvSpPr>
          <p:spPr>
            <a:xfrm>
              <a:off x="6477000" y="1562100"/>
              <a:ext cx="419100" cy="419100"/>
            </a:xfrm>
            <a:prstGeom prst="roundRect">
              <a:avLst>
                <a:gd name="adj" fmla="val 22727"/>
              </a:avLst>
            </a:prstGeom>
            <a:solidFill>
              <a:srgbClr val="CCFBF1"/>
            </a:solidFill>
            <a:ln>
              <a:noFill/>
            </a:ln>
          </p:spPr>
          <p:txBody>
            <a:bodyPr/>
            <a:lstStyle/>
            <a:p>
              <a:endParaRPr lang="zh-CN" altLang="en-US"/>
            </a:p>
          </p:txBody>
        </p:sp>
        <p:grpSp>
          <p:nvGrpSpPr>
            <p:cNvPr id="23" name="Group 23"/>
            <p:cNvGrpSpPr/>
            <p:nvPr/>
          </p:nvGrpSpPr>
          <p:grpSpPr>
            <a:xfrm>
              <a:off x="6600824" y="1676400"/>
              <a:ext cx="171451" cy="190500"/>
              <a:chOff x="6600824" y="1676400"/>
              <a:chExt cx="171451" cy="190500"/>
            </a:xfrm>
          </p:grpSpPr>
          <p:sp>
            <p:nvSpPr>
              <p:cNvPr id="20" name="Freeform 20"/>
              <p:cNvSpPr/>
              <p:nvPr/>
            </p:nvSpPr>
            <p:spPr>
              <a:xfrm>
                <a:off x="6600825" y="180718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4710"/>
                      <a:pt x="134350" y="59103"/>
                      <a:pt x="88649" y="59693"/>
                    </a:cubicBezTo>
                    <a:lnTo>
                      <a:pt x="85725" y="59712"/>
                    </a:lnTo>
                    <a:cubicBezTo>
                      <a:pt x="38691" y="59712"/>
                      <a:pt x="0" y="45206"/>
                      <a:pt x="0" y="21612"/>
                    </a:cubicBezTo>
                    <a:close/>
                  </a:path>
                </a:pathLst>
              </a:custGeom>
              <a:solidFill>
                <a:schemeClr val="accent3"/>
              </a:solidFill>
              <a:ln>
                <a:noFill/>
              </a:ln>
            </p:spPr>
            <p:txBody>
              <a:bodyPr/>
              <a:lstStyle/>
              <a:p>
                <a:endParaRPr lang="zh-CN" altLang="en-US"/>
              </a:p>
            </p:txBody>
          </p:sp>
          <p:sp>
            <p:nvSpPr>
              <p:cNvPr id="21" name="Freeform 21"/>
              <p:cNvSpPr/>
              <p:nvPr/>
            </p:nvSpPr>
            <p:spPr>
              <a:xfrm>
                <a:off x="6600825" y="175003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5206"/>
                      <a:pt x="132759" y="59712"/>
                      <a:pt x="85725" y="59712"/>
                    </a:cubicBezTo>
                    <a:cubicBezTo>
                      <a:pt x="40024" y="59712"/>
                      <a:pt x="2191" y="46015"/>
                      <a:pt x="200" y="23565"/>
                    </a:cubicBezTo>
                    <a:lnTo>
                      <a:pt x="48" y="22603"/>
                    </a:lnTo>
                    <a:lnTo>
                      <a:pt x="0" y="21612"/>
                    </a:lnTo>
                    <a:close/>
                  </a:path>
                </a:pathLst>
              </a:custGeom>
              <a:solidFill>
                <a:schemeClr val="accent3"/>
              </a:solidFill>
              <a:ln>
                <a:noFill/>
              </a:ln>
            </p:spPr>
            <p:txBody>
              <a:bodyPr/>
              <a:lstStyle/>
              <a:p>
                <a:endParaRPr lang="zh-CN" altLang="en-US"/>
              </a:p>
            </p:txBody>
          </p:sp>
          <p:sp>
            <p:nvSpPr>
              <p:cNvPr id="22" name="Freeform 22"/>
              <p:cNvSpPr/>
              <p:nvPr/>
            </p:nvSpPr>
            <p:spPr>
              <a:xfrm>
                <a:off x="6600824" y="1676400"/>
                <a:ext cx="171451" cy="76200"/>
              </a:xfrm>
              <a:custGeom>
                <a:avLst/>
                <a:gdLst/>
                <a:ahLst/>
                <a:cxnLst/>
                <a:rect l="l" t="t" r="r" b="b"/>
                <a:pathLst>
                  <a:path w="171451" h="76200">
                    <a:moveTo>
                      <a:pt x="85726" y="0"/>
                    </a:moveTo>
                    <a:cubicBezTo>
                      <a:pt x="95641" y="0"/>
                      <a:pt x="105195" y="648"/>
                      <a:pt x="114082" y="1886"/>
                    </a:cubicBezTo>
                    <a:lnTo>
                      <a:pt x="118549" y="2562"/>
                    </a:lnTo>
                    <a:cubicBezTo>
                      <a:pt x="123883" y="3451"/>
                      <a:pt x="128918" y="4556"/>
                      <a:pt x="133656" y="5877"/>
                    </a:cubicBezTo>
                    <a:lnTo>
                      <a:pt x="137847" y="7125"/>
                    </a:lnTo>
                    <a:lnTo>
                      <a:pt x="138561" y="7353"/>
                    </a:lnTo>
                    <a:cubicBezTo>
                      <a:pt x="141153" y="8206"/>
                      <a:pt x="143711" y="9159"/>
                      <a:pt x="146229" y="10211"/>
                    </a:cubicBezTo>
                    <a:lnTo>
                      <a:pt x="148124" y="11030"/>
                    </a:lnTo>
                    <a:cubicBezTo>
                      <a:pt x="151521" y="12567"/>
                      <a:pt x="154591" y="14249"/>
                      <a:pt x="157335" y="16078"/>
                    </a:cubicBezTo>
                    <a:cubicBezTo>
                      <a:pt x="158382" y="16777"/>
                      <a:pt x="159376" y="17491"/>
                      <a:pt x="160316" y="18221"/>
                    </a:cubicBezTo>
                    <a:cubicBezTo>
                      <a:pt x="162697" y="20069"/>
                      <a:pt x="164837" y="22206"/>
                      <a:pt x="166688" y="24584"/>
                    </a:cubicBezTo>
                    <a:lnTo>
                      <a:pt x="167555" y="25803"/>
                    </a:lnTo>
                    <a:cubicBezTo>
                      <a:pt x="168000" y="26470"/>
                      <a:pt x="168409" y="27140"/>
                      <a:pt x="168784" y="27813"/>
                    </a:cubicBezTo>
                    <a:lnTo>
                      <a:pt x="169450" y="29137"/>
                    </a:lnTo>
                    <a:cubicBezTo>
                      <a:pt x="170486" y="31359"/>
                      <a:pt x="171121" y="33677"/>
                      <a:pt x="171355" y="36090"/>
                    </a:cubicBezTo>
                    <a:lnTo>
                      <a:pt x="171451" y="38100"/>
                    </a:lnTo>
                    <a:cubicBezTo>
                      <a:pt x="171451" y="61693"/>
                      <a:pt x="132760" y="76200"/>
                      <a:pt x="85726" y="76200"/>
                    </a:cubicBezTo>
                    <a:cubicBezTo>
                      <a:pt x="40025" y="76200"/>
                      <a:pt x="2191" y="62503"/>
                      <a:pt x="201" y="40053"/>
                    </a:cubicBezTo>
                    <a:cubicBezTo>
                      <a:pt x="67" y="39410"/>
                      <a:pt x="0" y="38756"/>
                      <a:pt x="1" y="38100"/>
                    </a:cubicBezTo>
                    <a:lnTo>
                      <a:pt x="48" y="37109"/>
                    </a:lnTo>
                    <a:lnTo>
                      <a:pt x="201" y="36157"/>
                    </a:lnTo>
                    <a:cubicBezTo>
                      <a:pt x="2153" y="14192"/>
                      <a:pt x="38396" y="600"/>
                      <a:pt x="82754" y="19"/>
                    </a:cubicBezTo>
                    <a:close/>
                  </a:path>
                </a:pathLst>
              </a:custGeom>
              <a:solidFill>
                <a:schemeClr val="accent3"/>
              </a:solidFill>
              <a:ln>
                <a:noFill/>
              </a:ln>
            </p:spPr>
            <p:txBody>
              <a:bodyPr/>
              <a:lstStyle/>
              <a:p>
                <a:endParaRPr lang="zh-CN" altLang="en-US"/>
              </a:p>
            </p:txBody>
          </p:sp>
        </p:grpSp>
        <p:sp>
          <p:nvSpPr>
            <p:cNvPr id="24" name="TextBox 24"/>
            <p:cNvSpPr txBox="1"/>
            <p:nvPr/>
          </p:nvSpPr>
          <p:spPr>
            <a:xfrm>
              <a:off x="7040880" y="1657350"/>
              <a:ext cx="2743200" cy="293370"/>
            </a:xfrm>
            <a:prstGeom prst="rect">
              <a:avLst/>
            </a:prstGeom>
            <a:noFill/>
            <a:ln>
              <a:noFill/>
            </a:ln>
          </p:spPr>
          <p:txBody>
            <a:bodyPr wrap="square" lIns="0" tIns="0" rIns="0" bIns="0" anchor="t" anchorCtr="0">
              <a:spAutoFit/>
            </a:bodyPr>
            <a:lstStyle/>
            <a:p>
              <a:pPr algn="l"/>
              <a:r>
                <a:rPr sz="1500" b="1">
                  <a:solidFill>
                    <a:srgbClr val="0F172A"/>
                  </a:solidFill>
                  <a:latin typeface="Segoe UI"/>
                </a:rPr>
                <a:t>Next: PEMSD8 forecasting</a:t>
              </a:r>
            </a:p>
          </p:txBody>
        </p:sp>
        <p:sp>
          <p:nvSpPr>
            <p:cNvPr id="25" name="TextBox 25"/>
            <p:cNvSpPr txBox="1"/>
            <p:nvPr/>
          </p:nvSpPr>
          <p:spPr>
            <a:xfrm>
              <a:off x="6472238" y="2165350"/>
              <a:ext cx="381483"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INPUT</a:t>
              </a:r>
            </a:p>
          </p:txBody>
        </p:sp>
        <p:sp>
          <p:nvSpPr>
            <p:cNvPr id="26" name="TextBox 26"/>
            <p:cNvSpPr txBox="1"/>
            <p:nvPr/>
          </p:nvSpPr>
          <p:spPr>
            <a:xfrm>
              <a:off x="6471666" y="2349500"/>
              <a:ext cx="2492991"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Calibrated 5-minute series · 170 sensors</a:t>
              </a:r>
            </a:p>
          </p:txBody>
        </p:sp>
        <p:sp>
          <p:nvSpPr>
            <p:cNvPr id="27" name="TextBox 27"/>
            <p:cNvSpPr txBox="1"/>
            <p:nvPr/>
          </p:nvSpPr>
          <p:spPr>
            <a:xfrm>
              <a:off x="6472238" y="2755900"/>
              <a:ext cx="381483"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MODEL</a:t>
              </a:r>
            </a:p>
          </p:txBody>
        </p:sp>
        <p:sp>
          <p:nvSpPr>
            <p:cNvPr id="28" name="TextBox 28"/>
            <p:cNvSpPr txBox="1"/>
            <p:nvPr/>
          </p:nvSpPr>
          <p:spPr>
            <a:xfrm>
              <a:off x="6471666" y="2940050"/>
              <a:ext cx="2058814"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Eight models · MultiHeadSTGCN</a:t>
              </a:r>
            </a:p>
          </p:txBody>
        </p:sp>
        <p:sp>
          <p:nvSpPr>
            <p:cNvPr id="29" name="TextBox 29"/>
            <p:cNvSpPr txBox="1"/>
            <p:nvPr/>
          </p:nvSpPr>
          <p:spPr>
            <a:xfrm>
              <a:off x="6472238" y="3346450"/>
              <a:ext cx="458434"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OUTPUT</a:t>
              </a:r>
            </a:p>
          </p:txBody>
        </p:sp>
        <p:sp>
          <p:nvSpPr>
            <p:cNvPr id="30" name="TextBox 30"/>
            <p:cNvSpPr txBox="1"/>
            <p:nvPr/>
          </p:nvSpPr>
          <p:spPr>
            <a:xfrm>
              <a:off x="6471666" y="3530600"/>
              <a:ext cx="1875385"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12-step forecasts · 60 minutes</a:t>
              </a:r>
            </a:p>
          </p:txBody>
        </p:sp>
        <p:sp>
          <p:nvSpPr>
            <p:cNvPr id="31" name="TextBox 31"/>
            <p:cNvSpPr txBox="1"/>
            <p:nvPr/>
          </p:nvSpPr>
          <p:spPr>
            <a:xfrm>
              <a:off x="6472238" y="3937000"/>
              <a:ext cx="612338" cy="161925"/>
            </a:xfrm>
            <a:prstGeom prst="rect">
              <a:avLst/>
            </a:prstGeom>
            <a:noFill/>
            <a:ln>
              <a:noFill/>
            </a:ln>
          </p:spPr>
          <p:txBody>
            <a:bodyPr wrap="none" lIns="0" tIns="0" rIns="0" bIns="0" anchor="t" anchorCtr="0">
              <a:spAutoFit/>
            </a:bodyPr>
            <a:lstStyle/>
            <a:p>
              <a:pPr algn="l"/>
              <a:r>
                <a:rPr lang="en" sz="820" b="1" spc="90" dirty="0">
                  <a:solidFill>
                    <a:schemeClr val="accent3"/>
                  </a:solidFill>
                  <a:latin typeface="Consolas"/>
                  <a:ea typeface="Consolas"/>
                  <a:cs typeface="Consolas"/>
                </a:rPr>
                <a:t>BOUNDARY</a:t>
              </a:r>
            </a:p>
          </p:txBody>
        </p:sp>
        <p:sp>
          <p:nvSpPr>
            <p:cNvPr id="32" name="TextBox 32"/>
            <p:cNvSpPr txBox="1"/>
            <p:nvPr/>
          </p:nvSpPr>
          <p:spPr>
            <a:xfrm>
              <a:off x="6471666" y="4121150"/>
              <a:ext cx="2409740"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California network · separate from LTA</a:t>
              </a:r>
            </a:p>
          </p:txBody>
        </p:sp>
      </p:grpSp>
      <p:grpSp>
        <p:nvGrpSpPr>
          <p:cNvPr id="43" name="p17-join"/>
          <p:cNvGrpSpPr/>
          <p:nvPr/>
        </p:nvGrpSpPr>
        <p:grpSpPr>
          <a:xfrm>
            <a:off x="609600" y="4762500"/>
            <a:ext cx="10972800" cy="1238250"/>
            <a:chOff x="609600" y="4762500"/>
            <a:chExt cx="10972800" cy="1238250"/>
          </a:xfrm>
        </p:grpSpPr>
        <p:sp>
          <p:nvSpPr>
            <p:cNvPr id="34" name="Rectangle 34"/>
            <p:cNvSpPr/>
            <p:nvPr/>
          </p:nvSpPr>
          <p:spPr>
            <a:xfrm>
              <a:off x="609600" y="4762500"/>
              <a:ext cx="10972800" cy="1238250"/>
            </a:xfrm>
            <a:prstGeom prst="roundRect">
              <a:avLst>
                <a:gd name="adj" fmla="val 9231"/>
              </a:avLst>
            </a:prstGeom>
            <a:solidFill>
              <a:srgbClr val="DBEAFE"/>
            </a:solidFill>
            <a:ln>
              <a:noFill/>
            </a:ln>
          </p:spPr>
          <p:txBody>
            <a:bodyPr/>
            <a:lstStyle/>
            <a:p>
              <a:endParaRPr lang="zh-CN" altLang="en-US"/>
            </a:p>
          </p:txBody>
        </p:sp>
        <p:sp>
          <p:nvSpPr>
            <p:cNvPr id="35" name="TextBox 35"/>
            <p:cNvSpPr txBox="1"/>
            <p:nvPr/>
          </p:nvSpPr>
          <p:spPr>
            <a:xfrm>
              <a:off x="831342" y="4940300"/>
              <a:ext cx="2743200" cy="264033"/>
            </a:xfrm>
            <a:prstGeom prst="rect">
              <a:avLst/>
            </a:prstGeom>
            <a:noFill/>
            <a:ln>
              <a:noFill/>
            </a:ln>
          </p:spPr>
          <p:txBody>
            <a:bodyPr wrap="square" lIns="0" tIns="0" rIns="0" bIns="0" anchor="t" anchorCtr="0">
              <a:spAutoFit/>
            </a:bodyPr>
            <a:lstStyle/>
            <a:p>
              <a:pPr algn="l"/>
              <a:r>
                <a:rPr sz="1400" b="1">
                  <a:solidFill>
                    <a:srgbClr val="1E3A8A"/>
                  </a:solidFill>
                  <a:latin typeface="Segoe UI"/>
                </a:rPr>
                <a:t>Why two pipelines?</a:t>
              </a:r>
            </a:p>
          </p:txBody>
        </p:sp>
        <p:sp>
          <p:nvSpPr>
            <p:cNvPr id="42" name="TextBox 42"/>
            <p:cNvSpPr txBox="1"/>
            <p:nvPr/>
          </p:nvSpPr>
          <p:spPr>
            <a:xfrm>
              <a:off x="832104" y="5285232"/>
              <a:ext cx="10515600" cy="685800"/>
            </a:xfrm>
            <a:prstGeom prst="rect">
              <a:avLst/>
            </a:prstGeom>
            <a:noFill/>
            <a:ln>
              <a:noFill/>
            </a:ln>
          </p:spPr>
          <p:txBody>
            <a:bodyPr wrap="square" lIns="0" tIns="0" rIns="0" bIns="0" anchor="t" anchorCtr="0">
              <a:spAutoFit/>
            </a:bodyPr>
            <a:lstStyle/>
            <a:p>
              <a:pPr algn="l"/>
              <a:r>
                <a:rPr sz="1050" b="0" dirty="0">
                  <a:solidFill>
                    <a:srgbClr val="1E3A8A"/>
                  </a:solidFill>
                  <a:latin typeface="Segoe UI"/>
                </a:rPr>
                <a:t>LTA shows what is on the road now; PEMSD8 supplies the calibrated series forecasting needs.</a:t>
              </a:r>
            </a:p>
            <a:p>
              <a:r>
                <a:rPr sz="1050" b="0" dirty="0">
                  <a:solidFill>
                    <a:srgbClr val="1E3A8A"/>
                  </a:solidFill>
                  <a:latin typeface="Segoe UI"/>
                </a:rPr>
                <a:t>The workbench puts both into one operator flow, so monitoring and prediction are used together.</a:t>
              </a:r>
            </a:p>
            <a:p>
              <a:r>
                <a:rPr sz="1050" b="0" dirty="0">
                  <a:solidFill>
                    <a:srgbClr val="1E3A8A"/>
                  </a:solidFill>
                  <a:latin typeface="Segoe UI"/>
                </a:rPr>
                <a:t>The goal is one operator view of vehicles, congestion and the next traffic state.</a:t>
              </a:r>
            </a:p>
          </p:txBody>
        </p:sp>
      </p:grpSp>
      <p:grpSp>
        <p:nvGrpSpPr>
          <p:cNvPr id="46" name="p17-footer"/>
          <p:cNvGrpSpPr/>
          <p:nvPr/>
        </p:nvGrpSpPr>
        <p:grpSpPr>
          <a:xfrm>
            <a:off x="609600" y="6515100"/>
            <a:ext cx="10977753" cy="265111"/>
            <a:chOff x="609600" y="6515100"/>
            <a:chExt cx="10977753" cy="265111"/>
          </a:xfrm>
        </p:grpSpPr>
        <p:sp>
          <p:nvSpPr>
            <p:cNvPr id="44" name="Line 44"/>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45" name="TextBox 45"/>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8-title"/>
          <p:cNvGrpSpPr/>
          <p:nvPr/>
        </p:nvGrpSpPr>
        <p:grpSpPr>
          <a:xfrm>
            <a:off x="594360" y="419100"/>
            <a:ext cx="10454560" cy="789940"/>
            <a:chOff x="594360" y="419100"/>
            <a:chExt cx="10454560" cy="789940"/>
          </a:xfrm>
        </p:grpSpPr>
        <p:sp>
          <p:nvSpPr>
            <p:cNvPr id="2" name="TextBox 2"/>
            <p:cNvSpPr txBox="1"/>
            <p:nvPr/>
          </p:nvSpPr>
          <p:spPr>
            <a:xfrm>
              <a:off x="604647" y="419100"/>
              <a:ext cx="193853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4 · WORKBENCH</a:t>
              </a:r>
            </a:p>
          </p:txBody>
        </p:sp>
        <p:sp>
          <p:nvSpPr>
            <p:cNvPr id="3" name="TextBox 3"/>
            <p:cNvSpPr txBox="1"/>
            <p:nvPr/>
          </p:nvSpPr>
          <p:spPr>
            <a:xfrm>
              <a:off x="594360" y="622300"/>
              <a:ext cx="10454560" cy="586740"/>
            </a:xfrm>
            <a:prstGeom prst="rect">
              <a:avLst/>
            </a:prstGeom>
            <a:noFill/>
            <a:ln>
              <a:noFill/>
            </a:ln>
          </p:spPr>
          <p:txBody>
            <a:bodyPr wrap="square" lIns="0" tIns="0" rIns="0" bIns="0" anchor="t" anchorCtr="0">
              <a:spAutoFit/>
            </a:bodyPr>
            <a:lstStyle/>
            <a:p>
              <a:pPr algn="l"/>
              <a:r>
                <a:rPr sz="3000" b="1">
                  <a:solidFill>
                    <a:srgbClr val="0F172A"/>
                  </a:solidFill>
                  <a:latin typeface="Segoe UI"/>
                </a:rPr>
                <a:t>Three views for monitoring, congestion and forecasts</a:t>
              </a:r>
            </a:p>
          </p:txBody>
        </p:sp>
      </p:grpSp>
      <p:grpSp>
        <p:nvGrpSpPr>
          <p:cNvPr id="7" name="p18-screen"/>
          <p:cNvGrpSpPr/>
          <p:nvPr/>
        </p:nvGrpSpPr>
        <p:grpSpPr>
          <a:xfrm>
            <a:off x="609600" y="1333500"/>
            <a:ext cx="4572000" cy="4572000"/>
            <a:chOff x="609600" y="1333500"/>
            <a:chExt cx="4572000" cy="4572000"/>
          </a:xfrm>
        </p:grpSpPr>
        <p:sp>
          <p:nvSpPr>
            <p:cNvPr id="5" name="Rectangle 5"/>
            <p:cNvSpPr/>
            <p:nvPr/>
          </p:nvSpPr>
          <p:spPr>
            <a:xfrm>
              <a:off x="609600" y="1333500"/>
              <a:ext cx="4572000" cy="4572000"/>
            </a:xfrm>
            <a:prstGeom prst="roundRect">
              <a:avLst>
                <a:gd name="adj" fmla="val 2500"/>
              </a:avLst>
            </a:prstGeom>
            <a:solidFill>
              <a:srgbClr val="FFFFFF"/>
            </a:solidFill>
            <a:ln w="9525">
              <a:solidFill>
                <a:schemeClr val="accent6"/>
              </a:solidFill>
            </a:ln>
          </p:spPr>
          <p:txBody>
            <a:bodyPr/>
            <a:lstStyle/>
            <a:p>
              <a:endParaRPr lang="zh-CN" altLang="en-US"/>
            </a:p>
          </p:txBody>
        </p:sp>
        <p:pic>
          <p:nvPicPr>
            <p:cNvPr id="6" name="Image 6"/>
            <p:cNvPicPr>
              <a:picLocks noChangeAspect="1"/>
            </p:cNvPicPr>
            <p:nvPr/>
          </p:nvPicPr>
          <p:blipFill>
            <a:blip r:embed="rId3"/>
            <a:stretch>
              <a:fillRect/>
            </a:stretch>
          </p:blipFill>
          <p:spPr>
            <a:xfrm>
              <a:off x="854049" y="1447800"/>
              <a:ext cx="4083102" cy="4343400"/>
            </a:xfrm>
            <a:prstGeom prst="rect">
              <a:avLst/>
            </a:prstGeom>
          </p:spPr>
        </p:pic>
      </p:grpSp>
      <p:grpSp>
        <p:nvGrpSpPr>
          <p:cNvPr id="32" name="p18-views"/>
          <p:cNvGrpSpPr/>
          <p:nvPr/>
        </p:nvGrpSpPr>
        <p:grpSpPr>
          <a:xfrm>
            <a:off x="5410200" y="1333500"/>
            <a:ext cx="6172200" cy="4572000"/>
            <a:chOff x="5410200" y="1333500"/>
            <a:chExt cx="6172200" cy="4572000"/>
          </a:xfrm>
        </p:grpSpPr>
        <p:sp>
          <p:nvSpPr>
            <p:cNvPr id="8" name="Rectangle 8"/>
            <p:cNvSpPr/>
            <p:nvPr/>
          </p:nvSpPr>
          <p:spPr>
            <a:xfrm>
              <a:off x="5410200" y="1333500"/>
              <a:ext cx="6172200" cy="4572000"/>
            </a:xfrm>
            <a:prstGeom prst="roundRect">
              <a:avLst>
                <a:gd name="adj" fmla="val 2500"/>
              </a:avLst>
            </a:prstGeom>
            <a:solidFill>
              <a:srgbClr val="FFFFFF"/>
            </a:solidFill>
            <a:ln w="9525">
              <a:solidFill>
                <a:schemeClr val="accent6"/>
              </a:solidFill>
            </a:ln>
          </p:spPr>
          <p:txBody>
            <a:bodyPr/>
            <a:lstStyle/>
            <a:p>
              <a:endParaRPr lang="zh-CN" altLang="en-US"/>
            </a:p>
          </p:txBody>
        </p:sp>
        <p:sp>
          <p:nvSpPr>
            <p:cNvPr id="9" name="Rectangle 9"/>
            <p:cNvSpPr/>
            <p:nvPr/>
          </p:nvSpPr>
          <p:spPr>
            <a:xfrm>
              <a:off x="5638800" y="1562100"/>
              <a:ext cx="381000" cy="381000"/>
            </a:xfrm>
            <a:prstGeom prst="roundRect">
              <a:avLst>
                <a:gd name="adj" fmla="val 22500"/>
              </a:avLst>
            </a:prstGeom>
            <a:solidFill>
              <a:srgbClr val="DBEAFE"/>
            </a:solidFill>
            <a:ln>
              <a:noFill/>
            </a:ln>
          </p:spPr>
          <p:txBody>
            <a:bodyPr/>
            <a:lstStyle/>
            <a:p>
              <a:endParaRPr lang="zh-CN" altLang="en-US"/>
            </a:p>
          </p:txBody>
        </p:sp>
        <p:sp>
          <p:nvSpPr>
            <p:cNvPr id="10" name="Freeform 10"/>
            <p:cNvSpPr/>
            <p:nvPr/>
          </p:nvSpPr>
          <p:spPr>
            <a:xfrm>
              <a:off x="5757862" y="1681162"/>
              <a:ext cx="142875" cy="142875"/>
            </a:xfrm>
            <a:custGeom>
              <a:avLst/>
              <a:gdLst/>
              <a:ahLst/>
              <a:cxnLst/>
              <a:rect l="l" t="t" r="r" b="b"/>
              <a:pathLst>
                <a:path w="142875" h="142875">
                  <a:moveTo>
                    <a:pt x="47625" y="0"/>
                  </a:moveTo>
                  <a:cubicBezTo>
                    <a:pt x="56392" y="0"/>
                    <a:pt x="63500" y="7107"/>
                    <a:pt x="63500" y="15875"/>
                  </a:cubicBezTo>
                  <a:lnTo>
                    <a:pt x="63500" y="63500"/>
                  </a:lnTo>
                  <a:cubicBezTo>
                    <a:pt x="63500" y="72267"/>
                    <a:pt x="56392" y="79375"/>
                    <a:pt x="47625" y="79375"/>
                  </a:cubicBezTo>
                  <a:lnTo>
                    <a:pt x="15875" y="79375"/>
                  </a:lnTo>
                  <a:cubicBezTo>
                    <a:pt x="7107" y="79375"/>
                    <a:pt x="0" y="72267"/>
                    <a:pt x="0" y="63500"/>
                  </a:cubicBezTo>
                  <a:lnTo>
                    <a:pt x="0" y="15875"/>
                  </a:lnTo>
                  <a:cubicBezTo>
                    <a:pt x="0" y="7107"/>
                    <a:pt x="7107" y="0"/>
                    <a:pt x="15875" y="0"/>
                  </a:cubicBezTo>
                  <a:close/>
                  <a:moveTo>
                    <a:pt x="47625" y="95250"/>
                  </a:moveTo>
                  <a:cubicBezTo>
                    <a:pt x="56392" y="95250"/>
                    <a:pt x="63500" y="102357"/>
                    <a:pt x="63500" y="111125"/>
                  </a:cubicBezTo>
                  <a:lnTo>
                    <a:pt x="63500" y="127000"/>
                  </a:lnTo>
                  <a:cubicBezTo>
                    <a:pt x="63500" y="135767"/>
                    <a:pt x="56392" y="142875"/>
                    <a:pt x="47625" y="142875"/>
                  </a:cubicBezTo>
                  <a:lnTo>
                    <a:pt x="15875" y="142875"/>
                  </a:lnTo>
                  <a:cubicBezTo>
                    <a:pt x="7107" y="142875"/>
                    <a:pt x="0" y="135767"/>
                    <a:pt x="0" y="127000"/>
                  </a:cubicBezTo>
                  <a:lnTo>
                    <a:pt x="0" y="111125"/>
                  </a:lnTo>
                  <a:cubicBezTo>
                    <a:pt x="0" y="102357"/>
                    <a:pt x="7107" y="95250"/>
                    <a:pt x="15875" y="95250"/>
                  </a:cubicBezTo>
                  <a:close/>
                  <a:moveTo>
                    <a:pt x="127000" y="63500"/>
                  </a:moveTo>
                  <a:cubicBezTo>
                    <a:pt x="135767" y="63500"/>
                    <a:pt x="142875" y="70607"/>
                    <a:pt x="142875" y="79375"/>
                  </a:cubicBezTo>
                  <a:lnTo>
                    <a:pt x="142875" y="127000"/>
                  </a:lnTo>
                  <a:cubicBezTo>
                    <a:pt x="142875" y="135767"/>
                    <a:pt x="135767" y="142875"/>
                    <a:pt x="127000" y="142875"/>
                  </a:cubicBezTo>
                  <a:lnTo>
                    <a:pt x="95250" y="142875"/>
                  </a:lnTo>
                  <a:cubicBezTo>
                    <a:pt x="86482" y="142875"/>
                    <a:pt x="79375" y="135767"/>
                    <a:pt x="79375" y="127000"/>
                  </a:cubicBezTo>
                  <a:lnTo>
                    <a:pt x="79375" y="79375"/>
                  </a:lnTo>
                  <a:cubicBezTo>
                    <a:pt x="79375" y="70607"/>
                    <a:pt x="86482" y="63500"/>
                    <a:pt x="95250" y="63500"/>
                  </a:cubicBezTo>
                  <a:close/>
                  <a:moveTo>
                    <a:pt x="127000" y="0"/>
                  </a:moveTo>
                  <a:cubicBezTo>
                    <a:pt x="135767" y="0"/>
                    <a:pt x="142875" y="7107"/>
                    <a:pt x="142875" y="15875"/>
                  </a:cubicBezTo>
                  <a:lnTo>
                    <a:pt x="142875" y="31750"/>
                  </a:lnTo>
                  <a:cubicBezTo>
                    <a:pt x="142875" y="40518"/>
                    <a:pt x="135767" y="47625"/>
                    <a:pt x="127000" y="47625"/>
                  </a:cubicBezTo>
                  <a:lnTo>
                    <a:pt x="95250" y="47625"/>
                  </a:lnTo>
                  <a:cubicBezTo>
                    <a:pt x="86482" y="47625"/>
                    <a:pt x="79375" y="40518"/>
                    <a:pt x="79375" y="31750"/>
                  </a:cubicBezTo>
                  <a:lnTo>
                    <a:pt x="79375" y="15875"/>
                  </a:lnTo>
                  <a:cubicBezTo>
                    <a:pt x="79375" y="7107"/>
                    <a:pt x="86482" y="0"/>
                    <a:pt x="95250" y="0"/>
                  </a:cubicBezTo>
                  <a:close/>
                </a:path>
              </a:pathLst>
            </a:custGeom>
            <a:solidFill>
              <a:schemeClr val="accent2"/>
            </a:solidFill>
            <a:ln>
              <a:noFill/>
            </a:ln>
          </p:spPr>
          <p:txBody>
            <a:bodyPr/>
            <a:lstStyle/>
            <a:p>
              <a:endParaRPr lang="zh-CN" altLang="en-US"/>
            </a:p>
          </p:txBody>
        </p:sp>
        <p:sp>
          <p:nvSpPr>
            <p:cNvPr id="11" name="TextBox 11"/>
            <p:cNvSpPr txBox="1"/>
            <p:nvPr/>
          </p:nvSpPr>
          <p:spPr>
            <a:xfrm>
              <a:off x="6165342" y="1549400"/>
              <a:ext cx="819730"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Overview</a:t>
              </a:r>
            </a:p>
          </p:txBody>
        </p:sp>
        <p:sp>
          <p:nvSpPr>
            <p:cNvPr id="12" name="TextBox 12"/>
            <p:cNvSpPr txBox="1"/>
            <p:nvPr/>
          </p:nvSpPr>
          <p:spPr>
            <a:xfrm>
              <a:off x="6166866" y="1835150"/>
              <a:ext cx="3799187"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Situation, health cards, needs-attention queue and coverage.</a:t>
              </a:r>
            </a:p>
          </p:txBody>
        </p:sp>
        <p:sp>
          <p:nvSpPr>
            <p:cNvPr id="13" name="Line 13"/>
            <p:cNvSpPr/>
            <p:nvPr/>
          </p:nvSpPr>
          <p:spPr>
            <a:xfrm>
              <a:off x="5638800" y="2266950"/>
              <a:ext cx="5715000" cy="9525"/>
            </a:xfrm>
            <a:custGeom>
              <a:avLst/>
              <a:gdLst/>
              <a:ahLst/>
              <a:cxnLst/>
              <a:rect l="l" t="t" r="r" b="b"/>
              <a:pathLst>
                <a:path w="5715000" h="9525">
                  <a:moveTo>
                    <a:pt x="0" y="0"/>
                  </a:moveTo>
                  <a:lnTo>
                    <a:pt x="5715000" y="0"/>
                  </a:lnTo>
                </a:path>
              </a:pathLst>
            </a:custGeom>
            <a:noFill/>
            <a:ln w="9525">
              <a:solidFill>
                <a:schemeClr val="accent6"/>
              </a:solidFill>
            </a:ln>
          </p:spPr>
          <p:txBody>
            <a:bodyPr/>
            <a:lstStyle/>
            <a:p>
              <a:endParaRPr lang="zh-CN" altLang="en-US"/>
            </a:p>
          </p:txBody>
        </p:sp>
        <p:sp>
          <p:nvSpPr>
            <p:cNvPr id="14" name="Rectangle 14"/>
            <p:cNvSpPr/>
            <p:nvPr/>
          </p:nvSpPr>
          <p:spPr>
            <a:xfrm>
              <a:off x="5638800" y="2514600"/>
              <a:ext cx="381000" cy="381000"/>
            </a:xfrm>
            <a:prstGeom prst="roundRect">
              <a:avLst>
                <a:gd name="adj" fmla="val 22500"/>
              </a:avLst>
            </a:prstGeom>
            <a:solidFill>
              <a:srgbClr val="DBEAFE"/>
            </a:solidFill>
            <a:ln>
              <a:noFill/>
            </a:ln>
          </p:spPr>
          <p:txBody>
            <a:bodyPr/>
            <a:lstStyle/>
            <a:p>
              <a:endParaRPr lang="zh-CN" altLang="en-US"/>
            </a:p>
          </p:txBody>
        </p:sp>
        <p:sp>
          <p:nvSpPr>
            <p:cNvPr id="15" name="Freeform 15"/>
            <p:cNvSpPr/>
            <p:nvPr/>
          </p:nvSpPr>
          <p:spPr>
            <a:xfrm>
              <a:off x="5749924" y="2633660"/>
              <a:ext cx="158751" cy="142878"/>
            </a:xfrm>
            <a:custGeom>
              <a:avLst/>
              <a:gdLst/>
              <a:ahLst/>
              <a:cxnLst/>
              <a:rect l="l" t="t" r="r" b="b"/>
              <a:pathLst>
                <a:path w="158751" h="142878">
                  <a:moveTo>
                    <a:pt x="103188" y="3"/>
                  </a:moveTo>
                  <a:cubicBezTo>
                    <a:pt x="111496" y="0"/>
                    <a:pt x="118400" y="6403"/>
                    <a:pt x="119023" y="14687"/>
                  </a:cubicBezTo>
                  <a:lnTo>
                    <a:pt x="119063" y="15878"/>
                  </a:lnTo>
                  <a:cubicBezTo>
                    <a:pt x="119064" y="19902"/>
                    <a:pt x="122075" y="23289"/>
                    <a:pt x="126072" y="23760"/>
                  </a:cubicBezTo>
                  <a:lnTo>
                    <a:pt x="127001" y="23815"/>
                  </a:lnTo>
                  <a:lnTo>
                    <a:pt x="134938" y="23815"/>
                  </a:lnTo>
                  <a:cubicBezTo>
                    <a:pt x="147547" y="23814"/>
                    <a:pt x="157971" y="33643"/>
                    <a:pt x="158711" y="46231"/>
                  </a:cubicBezTo>
                  <a:lnTo>
                    <a:pt x="158751" y="47628"/>
                  </a:lnTo>
                  <a:lnTo>
                    <a:pt x="158751" y="119065"/>
                  </a:lnTo>
                  <a:cubicBezTo>
                    <a:pt x="158751" y="131674"/>
                    <a:pt x="148923" y="142098"/>
                    <a:pt x="136335" y="142838"/>
                  </a:cubicBezTo>
                  <a:lnTo>
                    <a:pt x="134938" y="142878"/>
                  </a:lnTo>
                  <a:lnTo>
                    <a:pt x="23813" y="142878"/>
                  </a:lnTo>
                  <a:cubicBezTo>
                    <a:pt x="11204" y="142878"/>
                    <a:pt x="780" y="133050"/>
                    <a:pt x="40" y="120462"/>
                  </a:cubicBezTo>
                  <a:lnTo>
                    <a:pt x="1" y="119065"/>
                  </a:lnTo>
                  <a:lnTo>
                    <a:pt x="1" y="47628"/>
                  </a:lnTo>
                  <a:cubicBezTo>
                    <a:pt x="0" y="35018"/>
                    <a:pt x="9829" y="24595"/>
                    <a:pt x="22416" y="23855"/>
                  </a:cubicBezTo>
                  <a:lnTo>
                    <a:pt x="23813" y="23815"/>
                  </a:lnTo>
                  <a:lnTo>
                    <a:pt x="31751" y="23815"/>
                  </a:lnTo>
                  <a:cubicBezTo>
                    <a:pt x="36134" y="23815"/>
                    <a:pt x="39688" y="20261"/>
                    <a:pt x="39688" y="15878"/>
                  </a:cubicBezTo>
                  <a:cubicBezTo>
                    <a:pt x="39686" y="7570"/>
                    <a:pt x="46088" y="665"/>
                    <a:pt x="54373" y="42"/>
                  </a:cubicBezTo>
                  <a:lnTo>
                    <a:pt x="55563" y="3"/>
                  </a:lnTo>
                  <a:lnTo>
                    <a:pt x="103188" y="3"/>
                  </a:lnTo>
                  <a:close/>
                  <a:moveTo>
                    <a:pt x="79376" y="55565"/>
                  </a:moveTo>
                  <a:cubicBezTo>
                    <a:pt x="67152" y="55564"/>
                    <a:pt x="56913" y="64819"/>
                    <a:pt x="55682" y="76980"/>
                  </a:cubicBezTo>
                  <a:lnTo>
                    <a:pt x="55595" y="78187"/>
                  </a:lnTo>
                  <a:lnTo>
                    <a:pt x="55563" y="79378"/>
                  </a:lnTo>
                  <a:lnTo>
                    <a:pt x="55595" y="80568"/>
                  </a:lnTo>
                  <a:cubicBezTo>
                    <a:pt x="56245" y="93549"/>
                    <a:pt x="67183" y="103611"/>
                    <a:pt x="80172" y="103177"/>
                  </a:cubicBezTo>
                  <a:cubicBezTo>
                    <a:pt x="93162" y="102743"/>
                    <a:pt x="103404" y="91974"/>
                    <a:pt x="103187" y="78979"/>
                  </a:cubicBezTo>
                  <a:cubicBezTo>
                    <a:pt x="102969" y="65984"/>
                    <a:pt x="92372" y="55564"/>
                    <a:pt x="79376" y="55565"/>
                  </a:cubicBezTo>
                  <a:close/>
                </a:path>
              </a:pathLst>
            </a:custGeom>
            <a:solidFill>
              <a:schemeClr val="accent2"/>
            </a:solidFill>
            <a:ln>
              <a:noFill/>
            </a:ln>
          </p:spPr>
          <p:txBody>
            <a:bodyPr/>
            <a:lstStyle/>
            <a:p>
              <a:endParaRPr lang="zh-CN" altLang="en-US"/>
            </a:p>
          </p:txBody>
        </p:sp>
        <p:sp>
          <p:nvSpPr>
            <p:cNvPr id="16" name="TextBox 16"/>
            <p:cNvSpPr txBox="1"/>
            <p:nvPr/>
          </p:nvSpPr>
          <p:spPr>
            <a:xfrm>
              <a:off x="6165342" y="2501900"/>
              <a:ext cx="994126"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Monitoring</a:t>
              </a:r>
            </a:p>
          </p:txBody>
        </p:sp>
        <p:sp>
          <p:nvSpPr>
            <p:cNvPr id="17" name="TextBox 17"/>
            <p:cNvSpPr txBox="1"/>
            <p:nvPr/>
          </p:nvSpPr>
          <p:spPr>
            <a:xfrm>
              <a:off x="6166866" y="2787650"/>
              <a:ext cx="4329603"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Camera picker, time-controlled frame, reliability and per-class counts.</a:t>
              </a:r>
            </a:p>
          </p:txBody>
        </p:sp>
        <p:sp>
          <p:nvSpPr>
            <p:cNvPr id="18" name="TextBox 18"/>
            <p:cNvSpPr txBox="1"/>
            <p:nvPr/>
          </p:nvSpPr>
          <p:spPr>
            <a:xfrm>
              <a:off x="6166866" y="2997200"/>
              <a:ext cx="2745043"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Filter overlay; each frame's congestion level.</a:t>
              </a:r>
            </a:p>
          </p:txBody>
        </p:sp>
        <p:sp>
          <p:nvSpPr>
            <p:cNvPr id="19" name="Line 19"/>
            <p:cNvSpPr/>
            <p:nvPr/>
          </p:nvSpPr>
          <p:spPr>
            <a:xfrm>
              <a:off x="5638800" y="3429000"/>
              <a:ext cx="5715000" cy="9525"/>
            </a:xfrm>
            <a:custGeom>
              <a:avLst/>
              <a:gdLst/>
              <a:ahLst/>
              <a:cxnLst/>
              <a:rect l="l" t="t" r="r" b="b"/>
              <a:pathLst>
                <a:path w="5715000" h="9525">
                  <a:moveTo>
                    <a:pt x="0" y="0"/>
                  </a:moveTo>
                  <a:lnTo>
                    <a:pt x="5715000" y="0"/>
                  </a:lnTo>
                </a:path>
              </a:pathLst>
            </a:custGeom>
            <a:noFill/>
            <a:ln w="9525">
              <a:solidFill>
                <a:schemeClr val="accent6"/>
              </a:solidFill>
            </a:ln>
          </p:spPr>
          <p:txBody>
            <a:bodyPr/>
            <a:lstStyle/>
            <a:p>
              <a:endParaRPr lang="zh-CN" altLang="en-US"/>
            </a:p>
          </p:txBody>
        </p:sp>
        <p:sp>
          <p:nvSpPr>
            <p:cNvPr id="20" name="Rectangle 20"/>
            <p:cNvSpPr/>
            <p:nvPr/>
          </p:nvSpPr>
          <p:spPr>
            <a:xfrm>
              <a:off x="5638800" y="3676650"/>
              <a:ext cx="381000" cy="381000"/>
            </a:xfrm>
            <a:prstGeom prst="roundRect">
              <a:avLst>
                <a:gd name="adj" fmla="val 22500"/>
              </a:avLst>
            </a:prstGeom>
            <a:solidFill>
              <a:srgbClr val="CCFBF1"/>
            </a:solidFill>
            <a:ln>
              <a:noFill/>
            </a:ln>
          </p:spPr>
          <p:txBody>
            <a:bodyPr/>
            <a:lstStyle/>
            <a:p>
              <a:endParaRPr lang="zh-CN" altLang="en-US"/>
            </a:p>
          </p:txBody>
        </p:sp>
        <p:grpSp>
          <p:nvGrpSpPr>
            <p:cNvPr id="23" name="Group 23"/>
            <p:cNvGrpSpPr/>
            <p:nvPr/>
          </p:nvGrpSpPr>
          <p:grpSpPr>
            <a:xfrm>
              <a:off x="5756923" y="3794754"/>
              <a:ext cx="144588" cy="135896"/>
              <a:chOff x="5756923" y="3794754"/>
              <a:chExt cx="144588" cy="135896"/>
            </a:xfrm>
          </p:grpSpPr>
          <p:sp>
            <p:nvSpPr>
              <p:cNvPr id="21" name="Freeform 21"/>
              <p:cNvSpPr/>
              <p:nvPr/>
            </p:nvSpPr>
            <p:spPr>
              <a:xfrm>
                <a:off x="5757862" y="3842349"/>
                <a:ext cx="142875" cy="88301"/>
              </a:xfrm>
              <a:custGeom>
                <a:avLst/>
                <a:gdLst/>
                <a:ahLst/>
                <a:cxnLst/>
                <a:rect l="l" t="t" r="r" b="b"/>
                <a:pathLst>
                  <a:path w="142875" h="88301">
                    <a:moveTo>
                      <a:pt x="96996" y="3965"/>
                    </a:moveTo>
                    <a:cubicBezTo>
                      <a:pt x="99706" y="583"/>
                      <a:pt x="104628" y="0"/>
                      <a:pt x="108053" y="2655"/>
                    </a:cubicBezTo>
                    <a:lnTo>
                      <a:pt x="108799" y="3314"/>
                    </a:lnTo>
                    <a:lnTo>
                      <a:pt x="140549" y="35064"/>
                    </a:lnTo>
                    <a:cubicBezTo>
                      <a:pt x="141783" y="36299"/>
                      <a:pt x="142575" y="37905"/>
                      <a:pt x="142804" y="39636"/>
                    </a:cubicBezTo>
                    <a:lnTo>
                      <a:pt x="142875" y="40676"/>
                    </a:lnTo>
                    <a:lnTo>
                      <a:pt x="142875" y="80363"/>
                    </a:lnTo>
                    <a:cubicBezTo>
                      <a:pt x="142874" y="84387"/>
                      <a:pt x="139863" y="87774"/>
                      <a:pt x="135866" y="88245"/>
                    </a:cubicBezTo>
                    <a:lnTo>
                      <a:pt x="134937" y="88301"/>
                    </a:lnTo>
                    <a:lnTo>
                      <a:pt x="7763" y="88301"/>
                    </a:lnTo>
                    <a:lnTo>
                      <a:pt x="6890" y="88229"/>
                    </a:lnTo>
                    <a:lnTo>
                      <a:pt x="6017" y="88070"/>
                    </a:lnTo>
                    <a:lnTo>
                      <a:pt x="5167" y="87801"/>
                    </a:lnTo>
                    <a:lnTo>
                      <a:pt x="4334" y="87435"/>
                    </a:lnTo>
                    <a:lnTo>
                      <a:pt x="3540" y="86967"/>
                    </a:lnTo>
                    <a:lnTo>
                      <a:pt x="2794" y="86412"/>
                    </a:lnTo>
                    <a:lnTo>
                      <a:pt x="2318" y="85975"/>
                    </a:lnTo>
                    <a:lnTo>
                      <a:pt x="1746" y="85324"/>
                    </a:lnTo>
                    <a:lnTo>
                      <a:pt x="1238" y="84618"/>
                    </a:lnTo>
                    <a:lnTo>
                      <a:pt x="810" y="83856"/>
                    </a:lnTo>
                    <a:lnTo>
                      <a:pt x="683" y="83578"/>
                    </a:lnTo>
                    <a:lnTo>
                      <a:pt x="365" y="82760"/>
                    </a:lnTo>
                    <a:lnTo>
                      <a:pt x="151" y="81919"/>
                    </a:lnTo>
                    <a:lnTo>
                      <a:pt x="32" y="81062"/>
                    </a:lnTo>
                    <a:lnTo>
                      <a:pt x="0" y="80189"/>
                    </a:lnTo>
                    <a:lnTo>
                      <a:pt x="71" y="79315"/>
                    </a:lnTo>
                    <a:lnTo>
                      <a:pt x="222" y="78482"/>
                    </a:lnTo>
                    <a:cubicBezTo>
                      <a:pt x="302" y="78164"/>
                      <a:pt x="397" y="77871"/>
                      <a:pt x="500" y="77593"/>
                    </a:cubicBezTo>
                    <a:lnTo>
                      <a:pt x="865" y="76760"/>
                    </a:lnTo>
                    <a:lnTo>
                      <a:pt x="1333" y="75966"/>
                    </a:lnTo>
                    <a:lnTo>
                      <a:pt x="33083" y="28341"/>
                    </a:lnTo>
                    <a:cubicBezTo>
                      <a:pt x="35094" y="25314"/>
                      <a:pt x="38903" y="24039"/>
                      <a:pt x="42331" y="25245"/>
                    </a:cubicBezTo>
                    <a:lnTo>
                      <a:pt x="43236" y="25642"/>
                    </a:lnTo>
                    <a:lnTo>
                      <a:pt x="69247" y="38644"/>
                    </a:lnTo>
                    <a:lnTo>
                      <a:pt x="96988" y="3965"/>
                    </a:lnTo>
                    <a:close/>
                  </a:path>
                </a:pathLst>
              </a:custGeom>
              <a:solidFill>
                <a:schemeClr val="accent3"/>
              </a:solidFill>
              <a:ln>
                <a:noFill/>
              </a:ln>
            </p:spPr>
            <p:txBody>
              <a:bodyPr/>
              <a:lstStyle/>
              <a:p>
                <a:endParaRPr lang="zh-CN" altLang="en-US"/>
              </a:p>
            </p:txBody>
          </p:sp>
          <p:sp>
            <p:nvSpPr>
              <p:cNvPr id="22" name="Freeform 22"/>
              <p:cNvSpPr/>
              <p:nvPr/>
            </p:nvSpPr>
            <p:spPr>
              <a:xfrm>
                <a:off x="5756923" y="3794754"/>
                <a:ext cx="144588" cy="81273"/>
              </a:xfrm>
              <a:custGeom>
                <a:avLst/>
                <a:gdLst/>
                <a:ahLst/>
                <a:cxnLst/>
                <a:rect l="l" t="t" r="r" b="b"/>
                <a:pathLst>
                  <a:path w="144588" h="81273">
                    <a:moveTo>
                      <a:pt x="98031" y="3816"/>
                    </a:moveTo>
                    <a:cubicBezTo>
                      <a:pt x="100769" y="527"/>
                      <a:pt x="105621" y="0"/>
                      <a:pt x="109001" y="2625"/>
                    </a:cubicBezTo>
                    <a:lnTo>
                      <a:pt x="109739" y="3284"/>
                    </a:lnTo>
                    <a:lnTo>
                      <a:pt x="141489" y="35034"/>
                    </a:lnTo>
                    <a:cubicBezTo>
                      <a:pt x="144443" y="37998"/>
                      <a:pt x="144588" y="42747"/>
                      <a:pt x="141820" y="45887"/>
                    </a:cubicBezTo>
                    <a:cubicBezTo>
                      <a:pt x="139052" y="49026"/>
                      <a:pt x="134322" y="49476"/>
                      <a:pt x="131011" y="46916"/>
                    </a:cubicBezTo>
                    <a:lnTo>
                      <a:pt x="130265" y="46257"/>
                    </a:lnTo>
                    <a:lnTo>
                      <a:pt x="104659" y="20659"/>
                    </a:lnTo>
                    <a:lnTo>
                      <a:pt x="70536" y="61601"/>
                    </a:lnTo>
                    <a:cubicBezTo>
                      <a:pt x="68413" y="64147"/>
                      <a:pt x="64931" y="65106"/>
                      <a:pt x="61804" y="64006"/>
                    </a:cubicBezTo>
                    <a:lnTo>
                      <a:pt x="60891" y="63617"/>
                    </a:lnTo>
                    <a:lnTo>
                      <a:pt x="35063" y="50710"/>
                    </a:lnTo>
                    <a:lnTo>
                      <a:pt x="15227" y="77158"/>
                    </a:lnTo>
                    <a:cubicBezTo>
                      <a:pt x="12828" y="80358"/>
                      <a:pt x="8423" y="81273"/>
                      <a:pt x="4948" y="79293"/>
                    </a:cubicBezTo>
                    <a:lnTo>
                      <a:pt x="4115" y="78746"/>
                    </a:lnTo>
                    <a:cubicBezTo>
                      <a:pt x="915" y="76346"/>
                      <a:pt x="0" y="71942"/>
                      <a:pt x="1979" y="68467"/>
                    </a:cubicBezTo>
                    <a:lnTo>
                      <a:pt x="2527" y="67633"/>
                    </a:lnTo>
                    <a:lnTo>
                      <a:pt x="26340" y="35883"/>
                    </a:lnTo>
                    <a:cubicBezTo>
                      <a:pt x="28429" y="33100"/>
                      <a:pt x="32088" y="32003"/>
                      <a:pt x="35364" y="33176"/>
                    </a:cubicBezTo>
                    <a:lnTo>
                      <a:pt x="36238" y="33550"/>
                    </a:lnTo>
                    <a:lnTo>
                      <a:pt x="62360" y="46607"/>
                    </a:lnTo>
                    <a:lnTo>
                      <a:pt x="98031" y="3816"/>
                    </a:lnTo>
                    <a:close/>
                  </a:path>
                </a:pathLst>
              </a:custGeom>
              <a:solidFill>
                <a:schemeClr val="accent3"/>
              </a:solidFill>
              <a:ln>
                <a:noFill/>
              </a:ln>
            </p:spPr>
            <p:txBody>
              <a:bodyPr/>
              <a:lstStyle/>
              <a:p>
                <a:endParaRPr lang="zh-CN" altLang="en-US"/>
              </a:p>
            </p:txBody>
          </p:sp>
        </p:grpSp>
        <p:sp>
          <p:nvSpPr>
            <p:cNvPr id="24" name="TextBox 24"/>
            <p:cNvSpPr txBox="1"/>
            <p:nvPr/>
          </p:nvSpPr>
          <p:spPr>
            <a:xfrm>
              <a:off x="6165342" y="3663950"/>
              <a:ext cx="730708" cy="264033"/>
            </a:xfrm>
            <a:prstGeom prst="rect">
              <a:avLst/>
            </a:prstGeom>
            <a:noFill/>
            <a:ln>
              <a:noFill/>
            </a:ln>
          </p:spPr>
          <p:txBody>
            <a:bodyPr wrap="none" lIns="0" tIns="0" rIns="0" bIns="0" anchor="t" anchorCtr="0">
              <a:spAutoFit/>
            </a:bodyPr>
            <a:lstStyle/>
            <a:p>
              <a:pPr algn="l"/>
              <a:r>
                <a:rPr lang="en" sz="1350" b="1" dirty="0">
                  <a:solidFill>
                    <a:schemeClr val="accent1"/>
                  </a:solidFill>
                  <a:latin typeface="+mn-lt"/>
                  <a:ea typeface="+mn-ea"/>
                  <a:cs typeface="+mn-cs"/>
                </a:rPr>
                <a:t>Forecast</a:t>
              </a:r>
            </a:p>
          </p:txBody>
        </p:sp>
        <p:sp>
          <p:nvSpPr>
            <p:cNvPr id="25" name="TextBox 25"/>
            <p:cNvSpPr txBox="1"/>
            <p:nvPr/>
          </p:nvSpPr>
          <p:spPr>
            <a:xfrm>
              <a:off x="6166866" y="3949700"/>
              <a:ext cx="4632698"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Replay time, 15/30/60-minute horizons, severity network and speed curve.</a:t>
              </a:r>
            </a:p>
          </p:txBody>
        </p:sp>
        <p:sp>
          <p:nvSpPr>
            <p:cNvPr id="26" name="TextBox 26"/>
            <p:cNvSpPr txBox="1"/>
            <p:nvPr/>
          </p:nvSpPr>
          <p:spPr>
            <a:xfrm>
              <a:off x="6166866" y="4159250"/>
              <a:ext cx="2580281" cy="205359"/>
            </a:xfrm>
            <a:prstGeom prst="rect">
              <a:avLst/>
            </a:prstGeom>
            <a:noFill/>
            <a:ln>
              <a:noFill/>
            </a:ln>
          </p:spPr>
          <p:txBody>
            <a:bodyPr wrap="none" lIns="0" tIns="0" rIns="0" bIns="0" anchor="t" anchorCtr="0">
              <a:spAutoFit/>
            </a:bodyPr>
            <a:lstStyle/>
            <a:p>
              <a:pPr algn="l"/>
              <a:r>
                <a:rPr lang="en" sz="1050" dirty="0">
                  <a:solidFill>
                    <a:schemeClr val="dk1"/>
                  </a:solidFill>
                  <a:latin typeface="+mn-lt"/>
                  <a:ea typeface="+mn-ea"/>
                  <a:cs typeface="+mn-cs"/>
                </a:rPr>
                <a:t>Threshold-based congestion risk ranking.</a:t>
              </a:r>
            </a:p>
          </p:txBody>
        </p:sp>
        <p:sp>
          <p:nvSpPr>
            <p:cNvPr id="27" name="Line 27"/>
            <p:cNvSpPr/>
            <p:nvPr/>
          </p:nvSpPr>
          <p:spPr>
            <a:xfrm>
              <a:off x="5638800" y="4591050"/>
              <a:ext cx="5715000" cy="9525"/>
            </a:xfrm>
            <a:custGeom>
              <a:avLst/>
              <a:gdLst/>
              <a:ahLst/>
              <a:cxnLst/>
              <a:rect l="l" t="t" r="r" b="b"/>
              <a:pathLst>
                <a:path w="5715000" h="9525">
                  <a:moveTo>
                    <a:pt x="0" y="0"/>
                  </a:moveTo>
                  <a:lnTo>
                    <a:pt x="5715000" y="0"/>
                  </a:lnTo>
                </a:path>
              </a:pathLst>
            </a:custGeom>
            <a:noFill/>
            <a:ln w="9525">
              <a:solidFill>
                <a:schemeClr val="accent6"/>
              </a:solidFill>
            </a:ln>
          </p:spPr>
          <p:txBody>
            <a:bodyPr/>
            <a:lstStyle/>
            <a:p>
              <a:endParaRPr lang="zh-CN" altLang="en-US"/>
            </a:p>
          </p:txBody>
        </p:sp>
        <p:sp>
          <p:nvSpPr>
            <p:cNvPr id="28" name="TextBox 28"/>
            <p:cNvSpPr txBox="1"/>
            <p:nvPr/>
          </p:nvSpPr>
          <p:spPr>
            <a:xfrm>
              <a:off x="5634038" y="4794250"/>
              <a:ext cx="1078459" cy="176212"/>
            </a:xfrm>
            <a:prstGeom prst="rect">
              <a:avLst/>
            </a:prstGeom>
            <a:noFill/>
            <a:ln>
              <a:noFill/>
            </a:ln>
          </p:spPr>
          <p:txBody>
            <a:bodyPr wrap="none" lIns="0" tIns="0" rIns="0" bIns="0" anchor="t" anchorCtr="0">
              <a:spAutoFit/>
            </a:bodyPr>
            <a:lstStyle/>
            <a:p>
              <a:pPr algn="l"/>
              <a:r>
                <a:rPr lang="en" sz="900" b="1" spc="90" dirty="0">
                  <a:solidFill>
                    <a:schemeClr val="accent3"/>
                  </a:solidFill>
                  <a:latin typeface="Consolas"/>
                  <a:ea typeface="Consolas"/>
                  <a:cs typeface="Consolas"/>
                </a:rPr>
                <a:t>SOURCE LABELS</a:t>
              </a:r>
            </a:p>
          </p:txBody>
        </p:sp>
        <p:sp>
          <p:nvSpPr>
            <p:cNvPr id="29" name="TextBox 29"/>
            <p:cNvSpPr txBox="1"/>
            <p:nvPr/>
          </p:nvSpPr>
          <p:spPr>
            <a:xfrm>
              <a:off x="5633466" y="5016500"/>
              <a:ext cx="5029200" cy="205359"/>
            </a:xfrm>
            <a:prstGeom prst="rect">
              <a:avLst/>
            </a:prstGeom>
            <a:noFill/>
            <a:ln>
              <a:noFill/>
            </a:ln>
          </p:spPr>
          <p:txBody>
            <a:bodyPr wrap="none" lIns="0" tIns="0" rIns="0" bIns="0" anchor="t" anchorCtr="0">
              <a:spAutoFit/>
            </a:bodyPr>
            <a:lstStyle/>
            <a:p>
              <a:pPr algn="l"/>
              <a:r>
                <a:rPr sz="1050" b="0" dirty="0">
                  <a:solidFill>
                    <a:srgbClr val="1E293B"/>
                  </a:solidFill>
                  <a:latin typeface="Segoe UI"/>
                </a:rPr>
                <a:t>Monitoring labels each frame as LTA Singapore.</a:t>
              </a:r>
            </a:p>
          </p:txBody>
        </p:sp>
        <p:sp>
          <p:nvSpPr>
            <p:cNvPr id="30" name="TextBox 30"/>
            <p:cNvSpPr txBox="1"/>
            <p:nvPr/>
          </p:nvSpPr>
          <p:spPr>
            <a:xfrm>
              <a:off x="5633466" y="5226050"/>
              <a:ext cx="5486400" cy="205359"/>
            </a:xfrm>
            <a:prstGeom prst="rect">
              <a:avLst/>
            </a:prstGeom>
            <a:noFill/>
            <a:ln>
              <a:noFill/>
            </a:ln>
          </p:spPr>
          <p:txBody>
            <a:bodyPr wrap="none" lIns="0" tIns="0" rIns="0" bIns="0" anchor="t" anchorCtr="0">
              <a:spAutoFit/>
            </a:bodyPr>
            <a:lstStyle/>
            <a:p>
              <a:pPr algn="l"/>
              <a:r>
                <a:rPr sz="1050" b="0">
                  <a:solidFill>
                    <a:srgbClr val="1E293B"/>
                  </a:solidFill>
                  <a:latin typeface="Segoe UI"/>
                </a:rPr>
                <a:t>Forecast labels its series as PEMSD8 California, a public benchmark.</a:t>
              </a:r>
            </a:p>
          </p:txBody>
        </p:sp>
        <p:sp>
          <p:nvSpPr>
            <p:cNvPr id="31" name="TextBox 31"/>
            <p:cNvSpPr txBox="1"/>
            <p:nvPr/>
          </p:nvSpPr>
          <p:spPr>
            <a:xfrm>
              <a:off x="5633847" y="5511800"/>
              <a:ext cx="5486400" cy="191643"/>
            </a:xfrm>
            <a:prstGeom prst="rect">
              <a:avLst/>
            </a:prstGeom>
            <a:noFill/>
            <a:ln>
              <a:noFill/>
            </a:ln>
          </p:spPr>
          <p:txBody>
            <a:bodyPr wrap="none" lIns="0" tIns="0" rIns="0" bIns="0" anchor="t" anchorCtr="0">
              <a:spAutoFit/>
            </a:bodyPr>
            <a:lstStyle/>
            <a:p>
              <a:pPr algn="l"/>
              <a:r>
                <a:rPr sz="1050" b="0">
                  <a:solidFill>
                    <a:srgbClr val="1E293B"/>
                  </a:solidFill>
                  <a:latin typeface="Segoe UI"/>
                </a:rPr>
                <a:t>A historical-replay badge marks recorded data, so the interface reads as a replay.</a:t>
              </a:r>
            </a:p>
          </p:txBody>
        </p:sp>
      </p:grpSp>
      <p:grpSp>
        <p:nvGrpSpPr>
          <p:cNvPr id="35" name="p18-source"/>
          <p:cNvGrpSpPr/>
          <p:nvPr/>
        </p:nvGrpSpPr>
        <p:grpSpPr>
          <a:xfrm>
            <a:off x="609600" y="6000750"/>
            <a:ext cx="10972800" cy="381000"/>
            <a:chOff x="609600" y="6000750"/>
            <a:chExt cx="10972800" cy="381000"/>
          </a:xfrm>
        </p:grpSpPr>
        <p:sp>
          <p:nvSpPr>
            <p:cNvPr id="33" name="Rectangle 33"/>
            <p:cNvSpPr/>
            <p:nvPr/>
          </p:nvSpPr>
          <p:spPr>
            <a:xfrm>
              <a:off x="609600" y="6000750"/>
              <a:ext cx="10972800" cy="381000"/>
            </a:xfrm>
            <a:prstGeom prst="roundRect">
              <a:avLst>
                <a:gd name="adj" fmla="val 20000"/>
              </a:avLst>
            </a:prstGeom>
            <a:solidFill>
              <a:srgbClr val="DBEAFE"/>
            </a:solidFill>
            <a:ln>
              <a:noFill/>
            </a:ln>
          </p:spPr>
          <p:txBody>
            <a:bodyPr/>
            <a:lstStyle/>
            <a:p>
              <a:endParaRPr lang="zh-CN" altLang="en-US"/>
            </a:p>
          </p:txBody>
        </p:sp>
        <p:sp>
          <p:nvSpPr>
            <p:cNvPr id="34" name="TextBox 34"/>
            <p:cNvSpPr txBox="1"/>
            <p:nvPr/>
          </p:nvSpPr>
          <p:spPr>
            <a:xfrm>
              <a:off x="832866" y="6121400"/>
              <a:ext cx="10515600" cy="205359"/>
            </a:xfrm>
            <a:prstGeom prst="rect">
              <a:avLst/>
            </a:prstGeom>
            <a:noFill/>
            <a:ln>
              <a:noFill/>
            </a:ln>
          </p:spPr>
          <p:txBody>
            <a:bodyPr wrap="none" lIns="0" tIns="0" rIns="0" bIns="0" anchor="t" anchorCtr="0">
              <a:spAutoFit/>
            </a:bodyPr>
            <a:lstStyle/>
            <a:p>
              <a:pPr algn="l"/>
              <a:r>
                <a:rPr sz="1050" b="0" dirty="0">
                  <a:solidFill>
                    <a:srgbClr val="1E3A8A"/>
                  </a:solidFill>
                  <a:latin typeface="Segoe UI"/>
                </a:rPr>
                <a:t>Source labels stay visible in every view, so LTA monitoring and PEMSD8 forecasts are not conflated.</a:t>
              </a:r>
            </a:p>
          </p:txBody>
        </p:sp>
      </p:grpSp>
      <p:grpSp>
        <p:nvGrpSpPr>
          <p:cNvPr id="38" name="p18-footer"/>
          <p:cNvGrpSpPr/>
          <p:nvPr/>
        </p:nvGrpSpPr>
        <p:grpSpPr>
          <a:xfrm>
            <a:off x="609600" y="6515100"/>
            <a:ext cx="10977753" cy="265111"/>
            <a:chOff x="609600" y="6515100"/>
            <a:chExt cx="10977753" cy="265111"/>
          </a:xfrm>
        </p:grpSpPr>
        <p:sp>
          <p:nvSpPr>
            <p:cNvPr id="36" name="Line 36"/>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7" name="TextBox 37"/>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grpSp>
        <p:nvGrpSpPr>
          <p:cNvPr id="6" name="p19-title"/>
          <p:cNvGrpSpPr/>
          <p:nvPr/>
        </p:nvGrpSpPr>
        <p:grpSpPr>
          <a:xfrm>
            <a:off x="590550" y="647700"/>
            <a:ext cx="5123755" cy="4031107"/>
            <a:chOff x="590550" y="647700"/>
            <a:chExt cx="5123755" cy="4031107"/>
          </a:xfrm>
        </p:grpSpPr>
        <p:sp>
          <p:nvSpPr>
            <p:cNvPr id="2" name="TextBox 2"/>
            <p:cNvSpPr txBox="1"/>
            <p:nvPr/>
          </p:nvSpPr>
          <p:spPr>
            <a:xfrm>
              <a:off x="604647" y="647700"/>
              <a:ext cx="1105154" cy="191643"/>
            </a:xfrm>
            <a:prstGeom prst="rect">
              <a:avLst/>
            </a:prstGeom>
            <a:noFill/>
            <a:ln>
              <a:noFill/>
            </a:ln>
          </p:spPr>
          <p:txBody>
            <a:bodyPr wrap="none" lIns="0" tIns="0" rIns="0" bIns="0" anchor="t" anchorCtr="0">
              <a:spAutoFit/>
            </a:bodyPr>
            <a:lstStyle/>
            <a:p>
              <a:pPr algn="l"/>
              <a:r>
                <a:rPr lang="en" sz="980" b="1" spc="112" dirty="0">
                  <a:solidFill>
                    <a:srgbClr val="5EEAD4"/>
                  </a:solidFill>
                  <a:latin typeface="Consolas"/>
                  <a:ea typeface="Consolas"/>
                  <a:cs typeface="Consolas"/>
                </a:rPr>
                <a:t>PART 05 / 05</a:t>
              </a:r>
            </a:p>
          </p:txBody>
        </p:sp>
        <p:sp>
          <p:nvSpPr>
            <p:cNvPr id="3" name="TextBox 3"/>
            <p:cNvSpPr txBox="1"/>
            <p:nvPr/>
          </p:nvSpPr>
          <p:spPr>
            <a:xfrm>
              <a:off x="590550" y="1778000"/>
              <a:ext cx="1153141" cy="1390650"/>
            </a:xfrm>
            <a:prstGeom prst="rect">
              <a:avLst/>
            </a:prstGeom>
            <a:noFill/>
            <a:ln>
              <a:noFill/>
            </a:ln>
          </p:spPr>
          <p:txBody>
            <a:bodyPr wrap="none" lIns="0" tIns="0" rIns="0" bIns="0" anchor="t" anchorCtr="0">
              <a:spAutoFit/>
            </a:bodyPr>
            <a:lstStyle/>
            <a:p>
              <a:pPr algn="l"/>
              <a:r>
                <a:rPr lang="en" sz="7200" b="1" dirty="0">
                  <a:solidFill>
                    <a:srgbClr val="38BDF8"/>
                  </a:solidFill>
                  <a:latin typeface="+mn-lt"/>
                  <a:ea typeface="+mn-ea"/>
                  <a:cs typeface="+mn-cs"/>
                </a:rPr>
                <a:t>05</a:t>
              </a:r>
            </a:p>
          </p:txBody>
        </p:sp>
        <p:sp>
          <p:nvSpPr>
            <p:cNvPr id="4" name="TextBox 4"/>
            <p:cNvSpPr txBox="1"/>
            <p:nvPr/>
          </p:nvSpPr>
          <p:spPr>
            <a:xfrm>
              <a:off x="594360" y="3060700"/>
              <a:ext cx="5119945" cy="586740"/>
            </a:xfrm>
            <a:prstGeom prst="rect">
              <a:avLst/>
            </a:prstGeom>
            <a:noFill/>
            <a:ln>
              <a:noFill/>
            </a:ln>
          </p:spPr>
          <p:txBody>
            <a:bodyPr wrap="none" lIns="0" tIns="0" rIns="0" bIns="0" anchor="t" anchorCtr="0">
              <a:spAutoFit/>
            </a:bodyPr>
            <a:lstStyle/>
            <a:p>
              <a:pPr algn="l"/>
              <a:r>
                <a:rPr lang="en" sz="3000" b="1" dirty="0">
                  <a:solidFill>
                    <a:srgbClr val="FFFFFF"/>
                  </a:solidFill>
                  <a:latin typeface="+mn-lt"/>
                  <a:ea typeface="+mn-ea"/>
                  <a:cs typeface="+mn-cs"/>
                </a:rPr>
                <a:t>Limitations and conclusion</a:t>
              </a:r>
            </a:p>
          </p:txBody>
        </p:sp>
        <p:sp>
          <p:nvSpPr>
            <p:cNvPr id="5" name="TextBox 5"/>
            <p:cNvSpPr txBox="1"/>
            <p:nvPr/>
          </p:nvSpPr>
          <p:spPr>
            <a:xfrm>
              <a:off x="601218" y="4032250"/>
              <a:ext cx="6583680" cy="649224"/>
            </a:xfrm>
            <a:prstGeom prst="rect">
              <a:avLst/>
            </a:prstGeom>
            <a:noFill/>
            <a:ln>
              <a:noFill/>
            </a:ln>
          </p:spPr>
          <p:txBody>
            <a:bodyPr wrap="square" lIns="0" tIns="0" rIns="0" bIns="0" anchor="t" anchorCtr="0">
              <a:spAutoFit/>
            </a:bodyPr>
            <a:lstStyle/>
            <a:p>
              <a:pPr algn="l">
                <a:lnSpc>
                  <a:spcPts val="2550"/>
                </a:lnSpc>
              </a:pPr>
              <a:r>
                <a:rPr sz="1650" b="0">
                  <a:solidFill>
                    <a:srgbClr val="CBD5E1"/>
                  </a:solidFill>
                  <a:latin typeface="Segoe UI"/>
                </a:rPr>
                <a:t>The project delivers a prototype and a public dataset;
the next step is calibrated local sensing.</a:t>
              </a:r>
            </a:p>
          </p:txBody>
        </p:sp>
      </p:grpSp>
      <p:sp>
        <p:nvSpPr>
          <p:cNvPr id="7" name="TextBox 7"/>
          <p:cNvSpPr txBox="1"/>
          <p:nvPr/>
        </p:nvSpPr>
        <p:spPr>
          <a:xfrm>
            <a:off x="7600950" y="2266950"/>
            <a:ext cx="3754904" cy="4591050"/>
          </a:xfrm>
          <a:prstGeom prst="rect">
            <a:avLst/>
          </a:prstGeom>
          <a:noFill/>
          <a:ln>
            <a:noFill/>
          </a:ln>
        </p:spPr>
        <p:txBody>
          <a:bodyPr wrap="none" lIns="0" tIns="0" rIns="0" bIns="0" anchor="t" anchorCtr="0">
            <a:spAutoFit/>
          </a:bodyPr>
          <a:lstStyle/>
          <a:p>
            <a:pPr algn="l"/>
            <a:r>
              <a:rPr lang="en" sz="24000" b="1" dirty="0">
                <a:solidFill>
                  <a:srgbClr val="24324A"/>
                </a:solidFill>
                <a:latin typeface="+mn-lt"/>
                <a:ea typeface="+mn-ea"/>
                <a:cs typeface="+mn-cs"/>
              </a:rPr>
              <a:t>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0-title"/>
          <p:cNvGrpSpPr/>
          <p:nvPr/>
        </p:nvGrpSpPr>
        <p:grpSpPr>
          <a:xfrm>
            <a:off x="594360" y="419100"/>
            <a:ext cx="6990909" cy="789940"/>
            <a:chOff x="594360" y="419100"/>
            <a:chExt cx="6990909" cy="789940"/>
          </a:xfrm>
        </p:grpSpPr>
        <p:sp>
          <p:nvSpPr>
            <p:cNvPr id="2" name="TextBox 2"/>
            <p:cNvSpPr txBox="1"/>
            <p:nvPr/>
          </p:nvSpPr>
          <p:spPr>
            <a:xfrm>
              <a:off x="604647" y="419100"/>
              <a:ext cx="351270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5 · LIMITATIONS AND CONCLUSION</a:t>
              </a:r>
            </a:p>
          </p:txBody>
        </p:sp>
        <p:sp>
          <p:nvSpPr>
            <p:cNvPr id="3" name="TextBox 3"/>
            <p:cNvSpPr txBox="1"/>
            <p:nvPr/>
          </p:nvSpPr>
          <p:spPr>
            <a:xfrm>
              <a:off x="594360" y="622300"/>
              <a:ext cx="6990909"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Delivered scope and remaining work</a:t>
              </a:r>
            </a:p>
          </p:txBody>
        </p:sp>
      </p:grpSp>
      <p:grpSp>
        <p:nvGrpSpPr>
          <p:cNvPr id="19" name="p20-delivered"/>
          <p:cNvGrpSpPr/>
          <p:nvPr/>
        </p:nvGrpSpPr>
        <p:grpSpPr>
          <a:xfrm>
            <a:off x="609600" y="1333500"/>
            <a:ext cx="5334000" cy="4762500"/>
            <a:chOff x="609600" y="1333500"/>
            <a:chExt cx="5334000" cy="4762500"/>
          </a:xfrm>
        </p:grpSpPr>
        <p:sp>
          <p:nvSpPr>
            <p:cNvPr id="5" name="Rectangle 5"/>
            <p:cNvSpPr/>
            <p:nvPr/>
          </p:nvSpPr>
          <p:spPr>
            <a:xfrm>
              <a:off x="609600" y="1333500"/>
              <a:ext cx="5334000" cy="4762500"/>
            </a:xfrm>
            <a:prstGeom prst="roundRect">
              <a:avLst>
                <a:gd name="adj" fmla="val 2400"/>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562100"/>
              <a:ext cx="419100" cy="419100"/>
            </a:xfrm>
            <a:prstGeom prst="roundRect">
              <a:avLst>
                <a:gd name="adj" fmla="val 22727"/>
              </a:avLst>
            </a:prstGeom>
            <a:solidFill>
              <a:srgbClr val="CCFBF1"/>
            </a:solidFill>
            <a:ln>
              <a:noFill/>
            </a:ln>
          </p:spPr>
          <p:txBody>
            <a:bodyPr/>
            <a:lstStyle/>
            <a:p>
              <a:endParaRPr lang="zh-CN" altLang="en-US"/>
            </a:p>
          </p:txBody>
        </p:sp>
        <p:sp>
          <p:nvSpPr>
            <p:cNvPr id="7" name="Freeform 7"/>
            <p:cNvSpPr/>
            <p:nvPr/>
          </p:nvSpPr>
          <p:spPr>
            <a:xfrm>
              <a:off x="952500" y="167213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chemeClr val="accent3"/>
            </a:solidFill>
            <a:ln>
              <a:noFill/>
            </a:ln>
          </p:spPr>
          <p:txBody>
            <a:bodyPr/>
            <a:lstStyle/>
            <a:p>
              <a:endParaRPr lang="zh-CN" altLang="en-US"/>
            </a:p>
          </p:txBody>
        </p:sp>
        <p:sp>
          <p:nvSpPr>
            <p:cNvPr id="8" name="TextBox 8"/>
            <p:cNvSpPr txBox="1"/>
            <p:nvPr/>
          </p:nvSpPr>
          <p:spPr>
            <a:xfrm>
              <a:off x="1401318" y="1644650"/>
              <a:ext cx="1019877"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Delivered</a:t>
              </a:r>
            </a:p>
          </p:txBody>
        </p:sp>
        <p:sp>
          <p:nvSpPr>
            <p:cNvPr id="9" name="Freeform 9"/>
            <p:cNvSpPr/>
            <p:nvPr/>
          </p:nvSpPr>
          <p:spPr>
            <a:xfrm>
              <a:off x="852488" y="2268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97919" y="55299"/>
                  </a:moveTo>
                  <a:cubicBezTo>
                    <a:pt x="95374" y="52754"/>
                    <a:pt x="91333" y="52500"/>
                    <a:pt x="88490" y="54706"/>
                  </a:cubicBezTo>
                  <a:lnTo>
                    <a:pt x="87818" y="55299"/>
                  </a:lnTo>
                  <a:lnTo>
                    <a:pt x="64294" y="78817"/>
                  </a:lnTo>
                  <a:lnTo>
                    <a:pt x="55057" y="69587"/>
                  </a:lnTo>
                  <a:lnTo>
                    <a:pt x="54385" y="68994"/>
                  </a:lnTo>
                  <a:cubicBezTo>
                    <a:pt x="51541" y="66790"/>
                    <a:pt x="47502" y="67044"/>
                    <a:pt x="44957" y="69589"/>
                  </a:cubicBezTo>
                  <a:cubicBezTo>
                    <a:pt x="42413" y="72133"/>
                    <a:pt x="42158" y="76173"/>
                    <a:pt x="44363" y="79017"/>
                  </a:cubicBezTo>
                  <a:lnTo>
                    <a:pt x="44956" y="79688"/>
                  </a:lnTo>
                  <a:lnTo>
                    <a:pt x="59243" y="93976"/>
                  </a:lnTo>
                  <a:lnTo>
                    <a:pt x="59915" y="94569"/>
                  </a:lnTo>
                  <a:cubicBezTo>
                    <a:pt x="62492" y="96568"/>
                    <a:pt x="66096" y="96568"/>
                    <a:pt x="68673" y="94569"/>
                  </a:cubicBezTo>
                  <a:lnTo>
                    <a:pt x="69344" y="93976"/>
                  </a:lnTo>
                  <a:lnTo>
                    <a:pt x="97919" y="65401"/>
                  </a:lnTo>
                  <a:lnTo>
                    <a:pt x="98512" y="64729"/>
                  </a:lnTo>
                  <a:cubicBezTo>
                    <a:pt x="100718" y="61885"/>
                    <a:pt x="100464" y="57844"/>
                    <a:pt x="97919" y="55299"/>
                  </a:cubicBezTo>
                  <a:close/>
                </a:path>
              </a:pathLst>
            </a:custGeom>
            <a:solidFill>
              <a:schemeClr val="accent3"/>
            </a:solidFill>
            <a:ln>
              <a:noFill/>
            </a:ln>
          </p:spPr>
          <p:txBody>
            <a:bodyPr/>
            <a:lstStyle/>
            <a:p>
              <a:endParaRPr lang="zh-CN" altLang="en-US"/>
            </a:p>
          </p:txBody>
        </p:sp>
        <p:sp>
          <p:nvSpPr>
            <p:cNvPr id="10" name="TextBox 10"/>
            <p:cNvSpPr txBox="1"/>
            <p:nvPr/>
          </p:nvSpPr>
          <p:spPr>
            <a:xfrm>
              <a:off x="1099566" y="2254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Leakage-aware MIO-TCD split and YOLO26m fine-tuning</a:t>
              </a:r>
            </a:p>
          </p:txBody>
        </p:sp>
        <p:sp>
          <p:nvSpPr>
            <p:cNvPr id="11" name="Freeform 11"/>
            <p:cNvSpPr/>
            <p:nvPr/>
          </p:nvSpPr>
          <p:spPr>
            <a:xfrm>
              <a:off x="852488" y="3030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97919" y="55299"/>
                  </a:moveTo>
                  <a:cubicBezTo>
                    <a:pt x="95374" y="52754"/>
                    <a:pt x="91333" y="52500"/>
                    <a:pt x="88490" y="54706"/>
                  </a:cubicBezTo>
                  <a:lnTo>
                    <a:pt x="87818" y="55299"/>
                  </a:lnTo>
                  <a:lnTo>
                    <a:pt x="64294" y="78817"/>
                  </a:lnTo>
                  <a:lnTo>
                    <a:pt x="55057" y="69587"/>
                  </a:lnTo>
                  <a:lnTo>
                    <a:pt x="54385" y="68994"/>
                  </a:lnTo>
                  <a:cubicBezTo>
                    <a:pt x="51541" y="66790"/>
                    <a:pt x="47502" y="67044"/>
                    <a:pt x="44957" y="69589"/>
                  </a:cubicBezTo>
                  <a:cubicBezTo>
                    <a:pt x="42413" y="72133"/>
                    <a:pt x="42158" y="76173"/>
                    <a:pt x="44363" y="79017"/>
                  </a:cubicBezTo>
                  <a:lnTo>
                    <a:pt x="44956" y="79688"/>
                  </a:lnTo>
                  <a:lnTo>
                    <a:pt x="59243" y="93976"/>
                  </a:lnTo>
                  <a:lnTo>
                    <a:pt x="59915" y="94569"/>
                  </a:lnTo>
                  <a:cubicBezTo>
                    <a:pt x="62492" y="96568"/>
                    <a:pt x="66096" y="96568"/>
                    <a:pt x="68673" y="94569"/>
                  </a:cubicBezTo>
                  <a:lnTo>
                    <a:pt x="69344" y="93976"/>
                  </a:lnTo>
                  <a:lnTo>
                    <a:pt x="97919" y="65401"/>
                  </a:lnTo>
                  <a:lnTo>
                    <a:pt x="98512" y="64729"/>
                  </a:lnTo>
                  <a:cubicBezTo>
                    <a:pt x="100718" y="61885"/>
                    <a:pt x="100464" y="57844"/>
                    <a:pt x="97919" y="55299"/>
                  </a:cubicBezTo>
                  <a:close/>
                </a:path>
              </a:pathLst>
            </a:custGeom>
            <a:solidFill>
              <a:schemeClr val="accent3"/>
            </a:solidFill>
            <a:ln>
              <a:noFill/>
            </a:ln>
          </p:spPr>
          <p:txBody>
            <a:bodyPr/>
            <a:lstStyle/>
            <a:p>
              <a:endParaRPr lang="zh-CN" altLang="en-US"/>
            </a:p>
          </p:txBody>
        </p:sp>
        <p:sp>
          <p:nvSpPr>
            <p:cNvPr id="12" name="TextBox 12"/>
            <p:cNvSpPr txBox="1"/>
            <p:nvPr/>
          </p:nvSpPr>
          <p:spPr>
            <a:xfrm>
              <a:off x="1099566" y="3016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Eight-model forecasting benchmark and MultiHeadSTGCN</a:t>
              </a:r>
            </a:p>
          </p:txBody>
        </p:sp>
        <p:sp>
          <p:nvSpPr>
            <p:cNvPr id="13" name="Freeform 13"/>
            <p:cNvSpPr/>
            <p:nvPr/>
          </p:nvSpPr>
          <p:spPr>
            <a:xfrm>
              <a:off x="852488" y="3792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97919" y="55299"/>
                  </a:moveTo>
                  <a:cubicBezTo>
                    <a:pt x="95374" y="52754"/>
                    <a:pt x="91333" y="52500"/>
                    <a:pt x="88490" y="54706"/>
                  </a:cubicBezTo>
                  <a:lnTo>
                    <a:pt x="87818" y="55299"/>
                  </a:lnTo>
                  <a:lnTo>
                    <a:pt x="64294" y="78817"/>
                  </a:lnTo>
                  <a:lnTo>
                    <a:pt x="55057" y="69587"/>
                  </a:lnTo>
                  <a:lnTo>
                    <a:pt x="54385" y="68994"/>
                  </a:lnTo>
                  <a:cubicBezTo>
                    <a:pt x="51541" y="66790"/>
                    <a:pt x="47502" y="67044"/>
                    <a:pt x="44957" y="69589"/>
                  </a:cubicBezTo>
                  <a:cubicBezTo>
                    <a:pt x="42413" y="72133"/>
                    <a:pt x="42158" y="76173"/>
                    <a:pt x="44363" y="79017"/>
                  </a:cubicBezTo>
                  <a:lnTo>
                    <a:pt x="44956" y="79688"/>
                  </a:lnTo>
                  <a:lnTo>
                    <a:pt x="59243" y="93976"/>
                  </a:lnTo>
                  <a:lnTo>
                    <a:pt x="59915" y="94569"/>
                  </a:lnTo>
                  <a:cubicBezTo>
                    <a:pt x="62492" y="96568"/>
                    <a:pt x="66096" y="96568"/>
                    <a:pt x="68673" y="94569"/>
                  </a:cubicBezTo>
                  <a:lnTo>
                    <a:pt x="69344" y="93976"/>
                  </a:lnTo>
                  <a:lnTo>
                    <a:pt x="97919" y="65401"/>
                  </a:lnTo>
                  <a:lnTo>
                    <a:pt x="98512" y="64729"/>
                  </a:lnTo>
                  <a:cubicBezTo>
                    <a:pt x="100718" y="61885"/>
                    <a:pt x="100464" y="57844"/>
                    <a:pt x="97919" y="55299"/>
                  </a:cubicBezTo>
                  <a:close/>
                </a:path>
              </a:pathLst>
            </a:custGeom>
            <a:solidFill>
              <a:schemeClr val="accent3"/>
            </a:solidFill>
            <a:ln>
              <a:noFill/>
            </a:ln>
          </p:spPr>
          <p:txBody>
            <a:bodyPr/>
            <a:lstStyle/>
            <a:p>
              <a:endParaRPr lang="zh-CN" altLang="en-US"/>
            </a:p>
          </p:txBody>
        </p:sp>
        <p:sp>
          <p:nvSpPr>
            <p:cNvPr id="14" name="TextBox 14"/>
            <p:cNvSpPr txBox="1"/>
            <p:nvPr/>
          </p:nvSpPr>
          <p:spPr>
            <a:xfrm>
              <a:off x="1099566" y="3778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Road-region filtering and congestion grading</a:t>
              </a:r>
            </a:p>
          </p:txBody>
        </p:sp>
        <p:sp>
          <p:nvSpPr>
            <p:cNvPr id="15" name="Freeform 15"/>
            <p:cNvSpPr/>
            <p:nvPr/>
          </p:nvSpPr>
          <p:spPr>
            <a:xfrm>
              <a:off x="852488" y="4554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97919" y="55299"/>
                  </a:moveTo>
                  <a:cubicBezTo>
                    <a:pt x="95374" y="52754"/>
                    <a:pt x="91333" y="52500"/>
                    <a:pt x="88490" y="54706"/>
                  </a:cubicBezTo>
                  <a:lnTo>
                    <a:pt x="87818" y="55299"/>
                  </a:lnTo>
                  <a:lnTo>
                    <a:pt x="64294" y="78817"/>
                  </a:lnTo>
                  <a:lnTo>
                    <a:pt x="55057" y="69587"/>
                  </a:lnTo>
                  <a:lnTo>
                    <a:pt x="54385" y="68994"/>
                  </a:lnTo>
                  <a:cubicBezTo>
                    <a:pt x="51541" y="66790"/>
                    <a:pt x="47502" y="67044"/>
                    <a:pt x="44957" y="69589"/>
                  </a:cubicBezTo>
                  <a:cubicBezTo>
                    <a:pt x="42413" y="72133"/>
                    <a:pt x="42158" y="76173"/>
                    <a:pt x="44363" y="79017"/>
                  </a:cubicBezTo>
                  <a:lnTo>
                    <a:pt x="44956" y="79688"/>
                  </a:lnTo>
                  <a:lnTo>
                    <a:pt x="59243" y="93976"/>
                  </a:lnTo>
                  <a:lnTo>
                    <a:pt x="59915" y="94569"/>
                  </a:lnTo>
                  <a:cubicBezTo>
                    <a:pt x="62492" y="96568"/>
                    <a:pt x="66096" y="96568"/>
                    <a:pt x="68673" y="94569"/>
                  </a:cubicBezTo>
                  <a:lnTo>
                    <a:pt x="69344" y="93976"/>
                  </a:lnTo>
                  <a:lnTo>
                    <a:pt x="97919" y="65401"/>
                  </a:lnTo>
                  <a:lnTo>
                    <a:pt x="98512" y="64729"/>
                  </a:lnTo>
                  <a:cubicBezTo>
                    <a:pt x="100718" y="61885"/>
                    <a:pt x="100464" y="57844"/>
                    <a:pt x="97919" y="55299"/>
                  </a:cubicBezTo>
                  <a:close/>
                </a:path>
              </a:pathLst>
            </a:custGeom>
            <a:solidFill>
              <a:schemeClr val="accent3"/>
            </a:solidFill>
            <a:ln>
              <a:noFill/>
            </a:ln>
          </p:spPr>
          <p:txBody>
            <a:bodyPr/>
            <a:lstStyle/>
            <a:p>
              <a:endParaRPr lang="zh-CN" altLang="en-US"/>
            </a:p>
          </p:txBody>
        </p:sp>
        <p:sp>
          <p:nvSpPr>
            <p:cNvPr id="16" name="TextBox 16"/>
            <p:cNvSpPr txBox="1"/>
            <p:nvPr/>
          </p:nvSpPr>
          <p:spPr>
            <a:xfrm>
              <a:off x="1099566" y="4540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Source-labelled workbench with historical replay</a:t>
              </a:r>
            </a:p>
          </p:txBody>
        </p:sp>
        <p:sp>
          <p:nvSpPr>
            <p:cNvPr id="17" name="Freeform 17"/>
            <p:cNvSpPr/>
            <p:nvPr/>
          </p:nvSpPr>
          <p:spPr>
            <a:xfrm>
              <a:off x="852488" y="5316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97919" y="55299"/>
                  </a:moveTo>
                  <a:cubicBezTo>
                    <a:pt x="95374" y="52754"/>
                    <a:pt x="91333" y="52500"/>
                    <a:pt x="88490" y="54706"/>
                  </a:cubicBezTo>
                  <a:lnTo>
                    <a:pt x="87818" y="55299"/>
                  </a:lnTo>
                  <a:lnTo>
                    <a:pt x="64294" y="78817"/>
                  </a:lnTo>
                  <a:lnTo>
                    <a:pt x="55057" y="69587"/>
                  </a:lnTo>
                  <a:lnTo>
                    <a:pt x="54385" y="68994"/>
                  </a:lnTo>
                  <a:cubicBezTo>
                    <a:pt x="51541" y="66790"/>
                    <a:pt x="47502" y="67044"/>
                    <a:pt x="44957" y="69589"/>
                  </a:cubicBezTo>
                  <a:cubicBezTo>
                    <a:pt x="42413" y="72133"/>
                    <a:pt x="42158" y="76173"/>
                    <a:pt x="44363" y="79017"/>
                  </a:cubicBezTo>
                  <a:lnTo>
                    <a:pt x="44956" y="79688"/>
                  </a:lnTo>
                  <a:lnTo>
                    <a:pt x="59243" y="93976"/>
                  </a:lnTo>
                  <a:lnTo>
                    <a:pt x="59915" y="94569"/>
                  </a:lnTo>
                  <a:cubicBezTo>
                    <a:pt x="62492" y="96568"/>
                    <a:pt x="66096" y="96568"/>
                    <a:pt x="68673" y="94569"/>
                  </a:cubicBezTo>
                  <a:lnTo>
                    <a:pt x="69344" y="93976"/>
                  </a:lnTo>
                  <a:lnTo>
                    <a:pt x="97919" y="65401"/>
                  </a:lnTo>
                  <a:lnTo>
                    <a:pt x="98512" y="64729"/>
                  </a:lnTo>
                  <a:cubicBezTo>
                    <a:pt x="100718" y="61885"/>
                    <a:pt x="100464" y="57844"/>
                    <a:pt x="97919" y="55299"/>
                  </a:cubicBezTo>
                  <a:close/>
                </a:path>
              </a:pathLst>
            </a:custGeom>
            <a:solidFill>
              <a:schemeClr val="accent3"/>
            </a:solidFill>
            <a:ln>
              <a:noFill/>
            </a:ln>
          </p:spPr>
          <p:txBody>
            <a:bodyPr/>
            <a:lstStyle/>
            <a:p>
              <a:endParaRPr lang="zh-CN" altLang="en-US"/>
            </a:p>
          </p:txBody>
        </p:sp>
        <p:sp>
          <p:nvSpPr>
            <p:cNvPr id="18" name="TextBox 18"/>
            <p:cNvSpPr txBox="1"/>
            <p:nvPr/>
          </p:nvSpPr>
          <p:spPr>
            <a:xfrm>
              <a:off x="1099566" y="5302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Public LTA image dataset mirror (15,316 images)</a:t>
              </a:r>
            </a:p>
          </p:txBody>
        </p:sp>
      </p:grpSp>
      <p:grpSp>
        <p:nvGrpSpPr>
          <p:cNvPr id="35" name="p20-remaining"/>
          <p:cNvGrpSpPr/>
          <p:nvPr/>
        </p:nvGrpSpPr>
        <p:grpSpPr>
          <a:xfrm>
            <a:off x="6248400" y="1333500"/>
            <a:ext cx="5334000" cy="4762500"/>
            <a:chOff x="6248400" y="1333500"/>
            <a:chExt cx="5334000" cy="4762500"/>
          </a:xfrm>
        </p:grpSpPr>
        <p:sp>
          <p:nvSpPr>
            <p:cNvPr id="20" name="Rectangle 20"/>
            <p:cNvSpPr/>
            <p:nvPr/>
          </p:nvSpPr>
          <p:spPr>
            <a:xfrm>
              <a:off x="6248400" y="1333500"/>
              <a:ext cx="5334000" cy="4762500"/>
            </a:xfrm>
            <a:prstGeom prst="roundRect">
              <a:avLst>
                <a:gd name="adj" fmla="val 2400"/>
              </a:avLst>
            </a:prstGeom>
            <a:solidFill>
              <a:srgbClr val="FFFFFF"/>
            </a:solidFill>
            <a:ln w="9525">
              <a:solidFill>
                <a:schemeClr val="accent6"/>
              </a:solidFill>
            </a:ln>
          </p:spPr>
          <p:txBody>
            <a:bodyPr/>
            <a:lstStyle/>
            <a:p>
              <a:endParaRPr lang="zh-CN" altLang="en-US"/>
            </a:p>
          </p:txBody>
        </p:sp>
        <p:sp>
          <p:nvSpPr>
            <p:cNvPr id="21" name="Rectangle 21"/>
            <p:cNvSpPr/>
            <p:nvPr/>
          </p:nvSpPr>
          <p:spPr>
            <a:xfrm>
              <a:off x="6477000" y="1562100"/>
              <a:ext cx="419100" cy="419100"/>
            </a:xfrm>
            <a:prstGeom prst="roundRect">
              <a:avLst>
                <a:gd name="adj" fmla="val 22727"/>
              </a:avLst>
            </a:prstGeom>
            <a:solidFill>
              <a:srgbClr val="DBEAFE"/>
            </a:solidFill>
            <a:ln>
              <a:noFill/>
            </a:ln>
          </p:spPr>
          <p:txBody>
            <a:bodyPr/>
            <a:lstStyle/>
            <a:p>
              <a:endParaRPr lang="zh-CN" altLang="en-US"/>
            </a:p>
          </p:txBody>
        </p:sp>
        <p:sp>
          <p:nvSpPr>
            <p:cNvPr id="22" name="Freeform 22"/>
            <p:cNvSpPr/>
            <p:nvPr/>
          </p:nvSpPr>
          <p:spPr>
            <a:xfrm>
              <a:off x="6591300" y="167213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95250" y="42367"/>
                  </a:moveTo>
                  <a:cubicBezTo>
                    <a:pt x="90421" y="42367"/>
                    <a:pt x="86357" y="45981"/>
                    <a:pt x="85792" y="50777"/>
                  </a:cubicBezTo>
                  <a:lnTo>
                    <a:pt x="85725" y="51892"/>
                  </a:lnTo>
                  <a:lnTo>
                    <a:pt x="85725" y="99517"/>
                  </a:lnTo>
                  <a:lnTo>
                    <a:pt x="85811" y="100764"/>
                  </a:lnTo>
                  <a:cubicBezTo>
                    <a:pt x="86028" y="102417"/>
                    <a:pt x="86675" y="103984"/>
                    <a:pt x="87687" y="105308"/>
                  </a:cubicBezTo>
                  <a:lnTo>
                    <a:pt x="88516" y="106260"/>
                  </a:lnTo>
                  <a:lnTo>
                    <a:pt x="117091" y="134835"/>
                  </a:lnTo>
                  <a:lnTo>
                    <a:pt x="117986" y="135616"/>
                  </a:lnTo>
                  <a:cubicBezTo>
                    <a:pt x="121422" y="138282"/>
                    <a:pt x="126228" y="138282"/>
                    <a:pt x="129664" y="135616"/>
                  </a:cubicBezTo>
                  <a:lnTo>
                    <a:pt x="130559" y="134826"/>
                  </a:lnTo>
                  <a:lnTo>
                    <a:pt x="131350" y="133930"/>
                  </a:lnTo>
                  <a:cubicBezTo>
                    <a:pt x="134016" y="130494"/>
                    <a:pt x="134016" y="125689"/>
                    <a:pt x="131350" y="122253"/>
                  </a:cubicBezTo>
                  <a:lnTo>
                    <a:pt x="130559" y="121357"/>
                  </a:lnTo>
                  <a:lnTo>
                    <a:pt x="104775" y="95564"/>
                  </a:lnTo>
                  <a:lnTo>
                    <a:pt x="104775" y="51892"/>
                  </a:lnTo>
                  <a:lnTo>
                    <a:pt x="104708" y="50777"/>
                  </a:lnTo>
                  <a:cubicBezTo>
                    <a:pt x="104143" y="45981"/>
                    <a:pt x="100079" y="42367"/>
                    <a:pt x="95250" y="42367"/>
                  </a:cubicBezTo>
                  <a:close/>
                </a:path>
              </a:pathLst>
            </a:custGeom>
            <a:solidFill>
              <a:schemeClr val="accent2"/>
            </a:solidFill>
            <a:ln>
              <a:noFill/>
            </a:ln>
          </p:spPr>
          <p:txBody>
            <a:bodyPr/>
            <a:lstStyle/>
            <a:p>
              <a:endParaRPr lang="zh-CN" altLang="en-US"/>
            </a:p>
          </p:txBody>
        </p:sp>
        <p:sp>
          <p:nvSpPr>
            <p:cNvPr id="23" name="TextBox 23"/>
            <p:cNvSpPr txBox="1"/>
            <p:nvPr/>
          </p:nvSpPr>
          <p:spPr>
            <a:xfrm>
              <a:off x="7040118" y="1644650"/>
              <a:ext cx="1731680" cy="322707"/>
            </a:xfrm>
            <a:prstGeom prst="rect">
              <a:avLst/>
            </a:prstGeom>
            <a:noFill/>
            <a:ln>
              <a:noFill/>
            </a:ln>
          </p:spPr>
          <p:txBody>
            <a:bodyPr wrap="none" lIns="0" tIns="0" rIns="0" bIns="0" anchor="t" anchorCtr="0">
              <a:spAutoFit/>
            </a:bodyPr>
            <a:lstStyle/>
            <a:p>
              <a:pPr algn="l"/>
              <a:r>
                <a:rPr lang="en" sz="1650" b="1" dirty="0">
                  <a:solidFill>
                    <a:schemeClr val="accent1"/>
                  </a:solidFill>
                  <a:latin typeface="+mn-lt"/>
                  <a:ea typeface="+mn-ea"/>
                  <a:cs typeface="+mn-cs"/>
                </a:rPr>
                <a:t>Remaining work</a:t>
              </a:r>
            </a:p>
          </p:txBody>
        </p:sp>
        <p:sp>
          <p:nvSpPr>
            <p:cNvPr id="24" name="Freeform 24"/>
            <p:cNvSpPr/>
            <p:nvPr/>
          </p:nvSpPr>
          <p:spPr>
            <a:xfrm>
              <a:off x="6491288" y="2268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71438" y="31775"/>
                  </a:moveTo>
                  <a:cubicBezTo>
                    <a:pt x="67816" y="31775"/>
                    <a:pt x="64767" y="34486"/>
                    <a:pt x="64344" y="38083"/>
                  </a:cubicBezTo>
                  <a:lnTo>
                    <a:pt x="64294" y="38919"/>
                  </a:lnTo>
                  <a:lnTo>
                    <a:pt x="64294" y="74637"/>
                  </a:lnTo>
                  <a:lnTo>
                    <a:pt x="64358" y="75573"/>
                  </a:lnTo>
                  <a:cubicBezTo>
                    <a:pt x="64521" y="76813"/>
                    <a:pt x="65006" y="77988"/>
                    <a:pt x="65765" y="78981"/>
                  </a:cubicBezTo>
                  <a:lnTo>
                    <a:pt x="66387" y="79695"/>
                  </a:lnTo>
                  <a:lnTo>
                    <a:pt x="87818" y="101126"/>
                  </a:lnTo>
                  <a:lnTo>
                    <a:pt x="88490" y="101712"/>
                  </a:lnTo>
                  <a:cubicBezTo>
                    <a:pt x="91067" y="103712"/>
                    <a:pt x="94671" y="103712"/>
                    <a:pt x="97248" y="101712"/>
                  </a:cubicBezTo>
                  <a:lnTo>
                    <a:pt x="97919" y="101119"/>
                  </a:lnTo>
                  <a:lnTo>
                    <a:pt x="98512" y="100448"/>
                  </a:lnTo>
                  <a:cubicBezTo>
                    <a:pt x="100512" y="97871"/>
                    <a:pt x="100512" y="94267"/>
                    <a:pt x="98512" y="91690"/>
                  </a:cubicBezTo>
                  <a:lnTo>
                    <a:pt x="97919" y="91018"/>
                  </a:lnTo>
                  <a:lnTo>
                    <a:pt x="78581" y="71673"/>
                  </a:lnTo>
                  <a:lnTo>
                    <a:pt x="78581" y="38919"/>
                  </a:lnTo>
                  <a:lnTo>
                    <a:pt x="78531" y="38083"/>
                  </a:lnTo>
                  <a:cubicBezTo>
                    <a:pt x="78108" y="34486"/>
                    <a:pt x="75059" y="31775"/>
                    <a:pt x="71438" y="31775"/>
                  </a:cubicBezTo>
                  <a:close/>
                </a:path>
              </a:pathLst>
            </a:custGeom>
            <a:solidFill>
              <a:schemeClr val="accent2"/>
            </a:solidFill>
            <a:ln>
              <a:noFill/>
            </a:ln>
          </p:spPr>
          <p:txBody>
            <a:bodyPr/>
            <a:lstStyle/>
            <a:p>
              <a:endParaRPr lang="zh-CN" altLang="en-US"/>
            </a:p>
          </p:txBody>
        </p:sp>
        <p:sp>
          <p:nvSpPr>
            <p:cNvPr id="25" name="TextBox 25"/>
            <p:cNvSpPr txBox="1"/>
            <p:nvPr/>
          </p:nvSpPr>
          <p:spPr>
            <a:xfrm>
              <a:off x="6738366" y="2254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Calibrated local flow/occupancy/speed at camera sites</a:t>
              </a:r>
            </a:p>
          </p:txBody>
        </p:sp>
        <p:sp>
          <p:nvSpPr>
            <p:cNvPr id="26" name="Freeform 26"/>
            <p:cNvSpPr/>
            <p:nvPr/>
          </p:nvSpPr>
          <p:spPr>
            <a:xfrm>
              <a:off x="6491288" y="3030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71438" y="31775"/>
                  </a:moveTo>
                  <a:cubicBezTo>
                    <a:pt x="67816" y="31775"/>
                    <a:pt x="64767" y="34486"/>
                    <a:pt x="64344" y="38083"/>
                  </a:cubicBezTo>
                  <a:lnTo>
                    <a:pt x="64294" y="38919"/>
                  </a:lnTo>
                  <a:lnTo>
                    <a:pt x="64294" y="74637"/>
                  </a:lnTo>
                  <a:lnTo>
                    <a:pt x="64358" y="75573"/>
                  </a:lnTo>
                  <a:cubicBezTo>
                    <a:pt x="64521" y="76813"/>
                    <a:pt x="65006" y="77988"/>
                    <a:pt x="65765" y="78981"/>
                  </a:cubicBezTo>
                  <a:lnTo>
                    <a:pt x="66387" y="79695"/>
                  </a:lnTo>
                  <a:lnTo>
                    <a:pt x="87818" y="101126"/>
                  </a:lnTo>
                  <a:lnTo>
                    <a:pt x="88490" y="101712"/>
                  </a:lnTo>
                  <a:cubicBezTo>
                    <a:pt x="91067" y="103712"/>
                    <a:pt x="94671" y="103712"/>
                    <a:pt x="97248" y="101712"/>
                  </a:cubicBezTo>
                  <a:lnTo>
                    <a:pt x="97919" y="101119"/>
                  </a:lnTo>
                  <a:lnTo>
                    <a:pt x="98512" y="100448"/>
                  </a:lnTo>
                  <a:cubicBezTo>
                    <a:pt x="100512" y="97871"/>
                    <a:pt x="100512" y="94267"/>
                    <a:pt x="98512" y="91690"/>
                  </a:cubicBezTo>
                  <a:lnTo>
                    <a:pt x="97919" y="91018"/>
                  </a:lnTo>
                  <a:lnTo>
                    <a:pt x="78581" y="71673"/>
                  </a:lnTo>
                  <a:lnTo>
                    <a:pt x="78581" y="38919"/>
                  </a:lnTo>
                  <a:lnTo>
                    <a:pt x="78531" y="38083"/>
                  </a:lnTo>
                  <a:cubicBezTo>
                    <a:pt x="78108" y="34486"/>
                    <a:pt x="75059" y="31775"/>
                    <a:pt x="71438" y="31775"/>
                  </a:cubicBezTo>
                  <a:close/>
                </a:path>
              </a:pathLst>
            </a:custGeom>
            <a:solidFill>
              <a:schemeClr val="accent2"/>
            </a:solidFill>
            <a:ln>
              <a:noFill/>
            </a:ln>
          </p:spPr>
          <p:txBody>
            <a:bodyPr/>
            <a:lstStyle/>
            <a:p>
              <a:endParaRPr lang="zh-CN" altLang="en-US"/>
            </a:p>
          </p:txBody>
        </p:sp>
        <p:sp>
          <p:nvSpPr>
            <p:cNvPr id="27" name="TextBox 27"/>
            <p:cNvSpPr txBox="1"/>
            <p:nvPr/>
          </p:nvSpPr>
          <p:spPr>
            <a:xfrm>
              <a:off x="6738366" y="3016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 larger independent human-labelled LTA test set</a:t>
              </a:r>
            </a:p>
          </p:txBody>
        </p:sp>
        <p:sp>
          <p:nvSpPr>
            <p:cNvPr id="28" name="Freeform 28"/>
            <p:cNvSpPr/>
            <p:nvPr/>
          </p:nvSpPr>
          <p:spPr>
            <a:xfrm>
              <a:off x="6491288" y="3792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71438" y="31775"/>
                  </a:moveTo>
                  <a:cubicBezTo>
                    <a:pt x="67816" y="31775"/>
                    <a:pt x="64767" y="34486"/>
                    <a:pt x="64344" y="38083"/>
                  </a:cubicBezTo>
                  <a:lnTo>
                    <a:pt x="64294" y="38919"/>
                  </a:lnTo>
                  <a:lnTo>
                    <a:pt x="64294" y="74637"/>
                  </a:lnTo>
                  <a:lnTo>
                    <a:pt x="64358" y="75573"/>
                  </a:lnTo>
                  <a:cubicBezTo>
                    <a:pt x="64521" y="76813"/>
                    <a:pt x="65006" y="77988"/>
                    <a:pt x="65765" y="78981"/>
                  </a:cubicBezTo>
                  <a:lnTo>
                    <a:pt x="66387" y="79695"/>
                  </a:lnTo>
                  <a:lnTo>
                    <a:pt x="87818" y="101126"/>
                  </a:lnTo>
                  <a:lnTo>
                    <a:pt x="88490" y="101712"/>
                  </a:lnTo>
                  <a:cubicBezTo>
                    <a:pt x="91067" y="103712"/>
                    <a:pt x="94671" y="103712"/>
                    <a:pt x="97248" y="101712"/>
                  </a:cubicBezTo>
                  <a:lnTo>
                    <a:pt x="97919" y="101119"/>
                  </a:lnTo>
                  <a:lnTo>
                    <a:pt x="98512" y="100448"/>
                  </a:lnTo>
                  <a:cubicBezTo>
                    <a:pt x="100512" y="97871"/>
                    <a:pt x="100512" y="94267"/>
                    <a:pt x="98512" y="91690"/>
                  </a:cubicBezTo>
                  <a:lnTo>
                    <a:pt x="97919" y="91018"/>
                  </a:lnTo>
                  <a:lnTo>
                    <a:pt x="78581" y="71673"/>
                  </a:lnTo>
                  <a:lnTo>
                    <a:pt x="78581" y="38919"/>
                  </a:lnTo>
                  <a:lnTo>
                    <a:pt x="78531" y="38083"/>
                  </a:lnTo>
                  <a:cubicBezTo>
                    <a:pt x="78108" y="34486"/>
                    <a:pt x="75059" y="31775"/>
                    <a:pt x="71438" y="31775"/>
                  </a:cubicBezTo>
                  <a:close/>
                </a:path>
              </a:pathLst>
            </a:custGeom>
            <a:solidFill>
              <a:schemeClr val="accent2"/>
            </a:solidFill>
            <a:ln>
              <a:noFill/>
            </a:ln>
          </p:spPr>
          <p:txBody>
            <a:bodyPr/>
            <a:lstStyle/>
            <a:p>
              <a:endParaRPr lang="zh-CN" altLang="en-US"/>
            </a:p>
          </p:txBody>
        </p:sp>
        <p:sp>
          <p:nvSpPr>
            <p:cNvPr id="29" name="TextBox 29"/>
            <p:cNvSpPr txBox="1"/>
            <p:nvPr/>
          </p:nvSpPr>
          <p:spPr>
            <a:xfrm>
              <a:off x="6738366" y="3778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 live data connection; the workbench runs a replay</a:t>
              </a:r>
            </a:p>
          </p:txBody>
        </p:sp>
        <p:sp>
          <p:nvSpPr>
            <p:cNvPr id="30" name="Freeform 30"/>
            <p:cNvSpPr/>
            <p:nvPr/>
          </p:nvSpPr>
          <p:spPr>
            <a:xfrm>
              <a:off x="6491288" y="4554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71438" y="31775"/>
                  </a:moveTo>
                  <a:cubicBezTo>
                    <a:pt x="67816" y="31775"/>
                    <a:pt x="64767" y="34486"/>
                    <a:pt x="64344" y="38083"/>
                  </a:cubicBezTo>
                  <a:lnTo>
                    <a:pt x="64294" y="38919"/>
                  </a:lnTo>
                  <a:lnTo>
                    <a:pt x="64294" y="74637"/>
                  </a:lnTo>
                  <a:lnTo>
                    <a:pt x="64358" y="75573"/>
                  </a:lnTo>
                  <a:cubicBezTo>
                    <a:pt x="64521" y="76813"/>
                    <a:pt x="65006" y="77988"/>
                    <a:pt x="65765" y="78981"/>
                  </a:cubicBezTo>
                  <a:lnTo>
                    <a:pt x="66387" y="79695"/>
                  </a:lnTo>
                  <a:lnTo>
                    <a:pt x="87818" y="101126"/>
                  </a:lnTo>
                  <a:lnTo>
                    <a:pt x="88490" y="101712"/>
                  </a:lnTo>
                  <a:cubicBezTo>
                    <a:pt x="91067" y="103712"/>
                    <a:pt x="94671" y="103712"/>
                    <a:pt x="97248" y="101712"/>
                  </a:cubicBezTo>
                  <a:lnTo>
                    <a:pt x="97919" y="101119"/>
                  </a:lnTo>
                  <a:lnTo>
                    <a:pt x="98512" y="100448"/>
                  </a:lnTo>
                  <a:cubicBezTo>
                    <a:pt x="100512" y="97871"/>
                    <a:pt x="100512" y="94267"/>
                    <a:pt x="98512" y="91690"/>
                  </a:cubicBezTo>
                  <a:lnTo>
                    <a:pt x="97919" y="91018"/>
                  </a:lnTo>
                  <a:lnTo>
                    <a:pt x="78581" y="71673"/>
                  </a:lnTo>
                  <a:lnTo>
                    <a:pt x="78581" y="38919"/>
                  </a:lnTo>
                  <a:lnTo>
                    <a:pt x="78531" y="38083"/>
                  </a:lnTo>
                  <a:cubicBezTo>
                    <a:pt x="78108" y="34486"/>
                    <a:pt x="75059" y="31775"/>
                    <a:pt x="71438" y="31775"/>
                  </a:cubicBezTo>
                  <a:close/>
                </a:path>
              </a:pathLst>
            </a:custGeom>
            <a:solidFill>
              <a:schemeClr val="accent2"/>
            </a:solidFill>
            <a:ln>
              <a:noFill/>
            </a:ln>
          </p:spPr>
          <p:txBody>
            <a:bodyPr/>
            <a:lstStyle/>
            <a:p>
              <a:endParaRPr lang="zh-CN" altLang="en-US"/>
            </a:p>
          </p:txBody>
        </p:sp>
        <p:sp>
          <p:nvSpPr>
            <p:cNvPr id="31" name="TextBox 31"/>
            <p:cNvSpPr txBox="1"/>
            <p:nvPr/>
          </p:nvSpPr>
          <p:spPr>
            <a:xfrm>
              <a:off x="6738366" y="4540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Operational deployment and long-run monitoring</a:t>
              </a:r>
            </a:p>
          </p:txBody>
        </p:sp>
        <p:sp>
          <p:nvSpPr>
            <p:cNvPr id="32" name="Freeform 32"/>
            <p:cNvSpPr/>
            <p:nvPr/>
          </p:nvSpPr>
          <p:spPr>
            <a:xfrm>
              <a:off x="6491288" y="5316513"/>
              <a:ext cx="150233" cy="150479"/>
            </a:xfrm>
            <a:custGeom>
              <a:avLst/>
              <a:gdLst/>
              <a:ahLst/>
              <a:cxnLst/>
              <a:rect l="l" t="t" r="r" b="b"/>
              <a:pathLst>
                <a:path w="150233" h="150479">
                  <a:moveTo>
                    <a:pt x="107156" y="12773"/>
                  </a:moveTo>
                  <a:cubicBezTo>
                    <a:pt x="136927" y="29962"/>
                    <a:pt x="150233" y="65918"/>
                    <a:pt x="138824" y="98346"/>
                  </a:cubicBezTo>
                  <a:cubicBezTo>
                    <a:pt x="127416" y="130775"/>
                    <a:pt x="94528" y="150479"/>
                    <a:pt x="60552" y="145242"/>
                  </a:cubicBezTo>
                  <a:cubicBezTo>
                    <a:pt x="26577" y="140004"/>
                    <a:pt x="1149" y="111311"/>
                    <a:pt x="36" y="76952"/>
                  </a:cubicBezTo>
                  <a:lnTo>
                    <a:pt x="0" y="74637"/>
                  </a:lnTo>
                  <a:lnTo>
                    <a:pt x="36" y="72323"/>
                  </a:lnTo>
                  <a:cubicBezTo>
                    <a:pt x="850" y="47227"/>
                    <a:pt x="14779" y="24400"/>
                    <a:pt x="36725" y="12200"/>
                  </a:cubicBezTo>
                  <a:cubicBezTo>
                    <a:pt x="58671" y="0"/>
                    <a:pt x="85411" y="217"/>
                    <a:pt x="107156" y="12773"/>
                  </a:cubicBezTo>
                  <a:close/>
                  <a:moveTo>
                    <a:pt x="71438" y="31775"/>
                  </a:moveTo>
                  <a:cubicBezTo>
                    <a:pt x="67816" y="31775"/>
                    <a:pt x="64767" y="34486"/>
                    <a:pt x="64344" y="38083"/>
                  </a:cubicBezTo>
                  <a:lnTo>
                    <a:pt x="64294" y="38919"/>
                  </a:lnTo>
                  <a:lnTo>
                    <a:pt x="64294" y="74637"/>
                  </a:lnTo>
                  <a:lnTo>
                    <a:pt x="64358" y="75573"/>
                  </a:lnTo>
                  <a:cubicBezTo>
                    <a:pt x="64521" y="76813"/>
                    <a:pt x="65006" y="77988"/>
                    <a:pt x="65765" y="78981"/>
                  </a:cubicBezTo>
                  <a:lnTo>
                    <a:pt x="66387" y="79695"/>
                  </a:lnTo>
                  <a:lnTo>
                    <a:pt x="87818" y="101126"/>
                  </a:lnTo>
                  <a:lnTo>
                    <a:pt x="88490" y="101712"/>
                  </a:lnTo>
                  <a:cubicBezTo>
                    <a:pt x="91067" y="103712"/>
                    <a:pt x="94671" y="103712"/>
                    <a:pt x="97248" y="101712"/>
                  </a:cubicBezTo>
                  <a:lnTo>
                    <a:pt x="97919" y="101119"/>
                  </a:lnTo>
                  <a:lnTo>
                    <a:pt x="98512" y="100448"/>
                  </a:lnTo>
                  <a:cubicBezTo>
                    <a:pt x="100512" y="97871"/>
                    <a:pt x="100512" y="94267"/>
                    <a:pt x="98512" y="91690"/>
                  </a:cubicBezTo>
                  <a:lnTo>
                    <a:pt x="97919" y="91018"/>
                  </a:lnTo>
                  <a:lnTo>
                    <a:pt x="78581" y="71673"/>
                  </a:lnTo>
                  <a:lnTo>
                    <a:pt x="78581" y="38919"/>
                  </a:lnTo>
                  <a:lnTo>
                    <a:pt x="78531" y="38083"/>
                  </a:lnTo>
                  <a:cubicBezTo>
                    <a:pt x="78108" y="34486"/>
                    <a:pt x="75059" y="31775"/>
                    <a:pt x="71438" y="31775"/>
                  </a:cubicBezTo>
                  <a:close/>
                </a:path>
              </a:pathLst>
            </a:custGeom>
            <a:solidFill>
              <a:schemeClr val="accent2"/>
            </a:solidFill>
            <a:ln>
              <a:noFill/>
            </a:ln>
          </p:spPr>
          <p:txBody>
            <a:bodyPr/>
            <a:lstStyle/>
            <a:p>
              <a:endParaRPr lang="zh-CN" altLang="en-US"/>
            </a:p>
          </p:txBody>
        </p:sp>
        <p:sp>
          <p:nvSpPr>
            <p:cNvPr id="33" name="TextBox 33"/>
            <p:cNvSpPr txBox="1"/>
            <p:nvPr/>
          </p:nvSpPr>
          <p:spPr>
            <a:xfrm>
              <a:off x="6738366" y="5302250"/>
              <a:ext cx="4572000" cy="237744"/>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 user evaluation of the workbench interface</a:t>
              </a:r>
            </a:p>
          </p:txBody>
        </p:sp>
        <p:sp>
          <p:nvSpPr>
            <p:cNvPr id="34" name="TextBox 34"/>
            <p:cNvSpPr txBox="1"/>
            <p:nvPr/>
          </p:nvSpPr>
          <p:spPr>
            <a:xfrm>
              <a:off x="6472047" y="5596128"/>
              <a:ext cx="4572000" cy="438912"/>
            </a:xfrm>
            <a:prstGeom prst="rect">
              <a:avLst/>
            </a:prstGeom>
            <a:noFill/>
            <a:ln>
              <a:noFill/>
            </a:ln>
          </p:spPr>
          <p:txBody>
            <a:bodyPr wrap="none" lIns="0" tIns="0" rIns="0" bIns="0" anchor="t" anchorCtr="0">
              <a:spAutoFit/>
            </a:bodyPr>
            <a:lstStyle/>
            <a:p>
              <a:pPr algn="l">
                <a:lnSpc>
                  <a:spcPts val="1650"/>
                </a:lnSpc>
              </a:pPr>
              <a:r>
                <a:rPr lang="en" sz="1100" dirty="0">
                  <a:solidFill>
                    <a:schemeClr val="accent5"/>
                  </a:solidFill>
                  <a:latin typeface="+mn-lt"/>
                  <a:ea typeface="+mn-ea"/>
                  <a:cs typeface="+mn-cs"/>
                </a:rPr>
                <a:t>These items sit beyond the course timeline:</a:t>
              </a:r>
              <a:br>
                <a:rPr lang="en" sz="980" dirty="0">
                  <a:solidFill>
                    <a:schemeClr val="accent5"/>
                  </a:solidFill>
                  <a:latin typeface="+mn-lt"/>
                  <a:ea typeface="+mn-ea"/>
                  <a:cs typeface="+mn-cs"/>
                </a:rPr>
              </a:br>
              <a:r>
                <a:rPr lang="en" sz="1100" dirty="0">
                  <a:solidFill>
                    <a:schemeClr val="accent5"/>
                  </a:solidFill>
                  <a:latin typeface="+mn-lt"/>
                  <a:ea typeface="+mn-ea"/>
                  <a:cs typeface="+mn-cs"/>
                </a:rPr>
                <a:t>they need new data collection, annotation and engineering time.</a:t>
              </a:r>
            </a:p>
          </p:txBody>
        </p:sp>
      </p:grpSp>
      <p:grpSp>
        <p:nvGrpSpPr>
          <p:cNvPr id="38" name="p20-footer"/>
          <p:cNvGrpSpPr/>
          <p:nvPr/>
        </p:nvGrpSpPr>
        <p:grpSpPr>
          <a:xfrm>
            <a:off x="609600" y="6515100"/>
            <a:ext cx="10977753" cy="265111"/>
            <a:chOff x="609600" y="6515100"/>
            <a:chExt cx="10977753" cy="265111"/>
          </a:xfrm>
        </p:grpSpPr>
        <p:sp>
          <p:nvSpPr>
            <p:cNvPr id="36" name="Line 36"/>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7" name="TextBox 37"/>
            <p:cNvSpPr txBox="1"/>
            <p:nvPr/>
          </p:nvSpPr>
          <p:spPr>
            <a:xfrm>
              <a:off x="11587288" y="6629400"/>
              <a:ext cx="65"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21-title"/>
          <p:cNvGrpSpPr/>
          <p:nvPr/>
        </p:nvGrpSpPr>
        <p:grpSpPr>
          <a:xfrm>
            <a:off x="594360" y="419100"/>
            <a:ext cx="5601270" cy="789940"/>
            <a:chOff x="594360" y="419100"/>
            <a:chExt cx="5601270" cy="789940"/>
          </a:xfrm>
        </p:grpSpPr>
        <p:sp>
          <p:nvSpPr>
            <p:cNvPr id="2" name="TextBox 2"/>
            <p:cNvSpPr txBox="1"/>
            <p:nvPr/>
          </p:nvSpPr>
          <p:spPr>
            <a:xfrm>
              <a:off x="604647" y="419100"/>
              <a:ext cx="3512708" cy="191643"/>
            </a:xfrm>
            <a:prstGeom prst="rect">
              <a:avLst/>
            </a:prstGeom>
            <a:noFill/>
            <a:ln>
              <a:noFill/>
            </a:ln>
          </p:spPr>
          <p:txBody>
            <a:bodyPr wrap="none" lIns="0" tIns="0" rIns="0" bIns="0" anchor="t" anchorCtr="0">
              <a:spAutoFit/>
            </a:bodyPr>
            <a:lstStyle/>
            <a:p>
              <a:pPr algn="l"/>
              <a:r>
                <a:rPr lang="en" sz="980" b="1" spc="112" dirty="0">
                  <a:solidFill>
                    <a:schemeClr val="accent3"/>
                  </a:solidFill>
                  <a:latin typeface="Consolas"/>
                  <a:ea typeface="Consolas"/>
                  <a:cs typeface="Consolas"/>
                </a:rPr>
                <a:t>CHAPTER 5 · LIMITATIONS AND CONCLUSION</a:t>
              </a:r>
            </a:p>
          </p:txBody>
        </p:sp>
        <p:sp>
          <p:nvSpPr>
            <p:cNvPr id="3" name="TextBox 3"/>
            <p:cNvSpPr txBox="1"/>
            <p:nvPr/>
          </p:nvSpPr>
          <p:spPr>
            <a:xfrm>
              <a:off x="594360" y="622300"/>
              <a:ext cx="5601270" cy="586740"/>
            </a:xfrm>
            <a:prstGeom prst="rect">
              <a:avLst/>
            </a:prstGeom>
            <a:noFill/>
            <a:ln>
              <a:noFill/>
            </a:ln>
          </p:spPr>
          <p:txBody>
            <a:bodyPr wrap="none" lIns="0" tIns="0" rIns="0" bIns="0" anchor="t" anchorCtr="0">
              <a:spAutoFit/>
            </a:bodyPr>
            <a:lstStyle/>
            <a:p>
              <a:pPr algn="l"/>
              <a:r>
                <a:rPr lang="en" sz="3000" b="1" dirty="0">
                  <a:solidFill>
                    <a:schemeClr val="accent1"/>
                  </a:solidFill>
                  <a:latin typeface="+mn-lt"/>
                  <a:ea typeface="+mn-ea"/>
                  <a:cs typeface="+mn-cs"/>
                </a:rPr>
                <a:t>What this project contributes</a:t>
              </a:r>
            </a:p>
          </p:txBody>
        </p:sp>
      </p:grpSp>
      <p:grpSp>
        <p:nvGrpSpPr>
          <p:cNvPr id="10" name="p21-detection"/>
          <p:cNvGrpSpPr/>
          <p:nvPr/>
        </p:nvGrpSpPr>
        <p:grpSpPr>
          <a:xfrm>
            <a:off x="609600" y="1428750"/>
            <a:ext cx="5334000" cy="2095500"/>
            <a:chOff x="609600" y="1428750"/>
            <a:chExt cx="5334000" cy="2095500"/>
          </a:xfrm>
        </p:grpSpPr>
        <p:sp>
          <p:nvSpPr>
            <p:cNvPr id="5" name="Rectangle 5"/>
            <p:cNvSpPr/>
            <p:nvPr/>
          </p:nvSpPr>
          <p:spPr>
            <a:xfrm>
              <a:off x="609600" y="1428750"/>
              <a:ext cx="53340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6" name="Rectangle 6"/>
            <p:cNvSpPr/>
            <p:nvPr/>
          </p:nvSpPr>
          <p:spPr>
            <a:xfrm>
              <a:off x="838200" y="1638300"/>
              <a:ext cx="381000" cy="381000"/>
            </a:xfrm>
            <a:prstGeom prst="roundRect">
              <a:avLst>
                <a:gd name="adj" fmla="val 22500"/>
              </a:avLst>
            </a:prstGeom>
            <a:solidFill>
              <a:srgbClr val="DBEAFE"/>
            </a:solidFill>
            <a:ln>
              <a:noFill/>
            </a:ln>
          </p:spPr>
          <p:txBody>
            <a:bodyPr/>
            <a:lstStyle/>
            <a:p>
              <a:endParaRPr lang="zh-CN" altLang="en-US"/>
            </a:p>
          </p:txBody>
        </p:sp>
        <p:sp>
          <p:nvSpPr>
            <p:cNvPr id="7" name="Freeform 7"/>
            <p:cNvSpPr/>
            <p:nvPr/>
          </p:nvSpPr>
          <p:spPr>
            <a:xfrm>
              <a:off x="949324" y="1757360"/>
              <a:ext cx="158751" cy="142878"/>
            </a:xfrm>
            <a:custGeom>
              <a:avLst/>
              <a:gdLst/>
              <a:ahLst/>
              <a:cxnLst/>
              <a:rect l="l" t="t" r="r" b="b"/>
              <a:pathLst>
                <a:path w="158751" h="142878">
                  <a:moveTo>
                    <a:pt x="103188" y="3"/>
                  </a:moveTo>
                  <a:cubicBezTo>
                    <a:pt x="111496" y="0"/>
                    <a:pt x="118400" y="6403"/>
                    <a:pt x="119023" y="14687"/>
                  </a:cubicBezTo>
                  <a:lnTo>
                    <a:pt x="119063" y="15878"/>
                  </a:lnTo>
                  <a:cubicBezTo>
                    <a:pt x="119064" y="19902"/>
                    <a:pt x="122075" y="23289"/>
                    <a:pt x="126072" y="23760"/>
                  </a:cubicBezTo>
                  <a:lnTo>
                    <a:pt x="127001" y="23815"/>
                  </a:lnTo>
                  <a:lnTo>
                    <a:pt x="134938" y="23815"/>
                  </a:lnTo>
                  <a:cubicBezTo>
                    <a:pt x="147547" y="23814"/>
                    <a:pt x="157971" y="33643"/>
                    <a:pt x="158711" y="46231"/>
                  </a:cubicBezTo>
                  <a:lnTo>
                    <a:pt x="158751" y="47628"/>
                  </a:lnTo>
                  <a:lnTo>
                    <a:pt x="158751" y="119065"/>
                  </a:lnTo>
                  <a:cubicBezTo>
                    <a:pt x="158751" y="131674"/>
                    <a:pt x="148923" y="142098"/>
                    <a:pt x="136335" y="142838"/>
                  </a:cubicBezTo>
                  <a:lnTo>
                    <a:pt x="134938" y="142878"/>
                  </a:lnTo>
                  <a:lnTo>
                    <a:pt x="23813" y="142878"/>
                  </a:lnTo>
                  <a:cubicBezTo>
                    <a:pt x="11204" y="142878"/>
                    <a:pt x="780" y="133050"/>
                    <a:pt x="40" y="120462"/>
                  </a:cubicBezTo>
                  <a:lnTo>
                    <a:pt x="1" y="119065"/>
                  </a:lnTo>
                  <a:lnTo>
                    <a:pt x="1" y="47628"/>
                  </a:lnTo>
                  <a:cubicBezTo>
                    <a:pt x="0" y="35018"/>
                    <a:pt x="9829" y="24595"/>
                    <a:pt x="22416" y="23855"/>
                  </a:cubicBezTo>
                  <a:lnTo>
                    <a:pt x="23813" y="23815"/>
                  </a:lnTo>
                  <a:lnTo>
                    <a:pt x="31751" y="23815"/>
                  </a:lnTo>
                  <a:cubicBezTo>
                    <a:pt x="36134" y="23815"/>
                    <a:pt x="39688" y="20261"/>
                    <a:pt x="39688" y="15878"/>
                  </a:cubicBezTo>
                  <a:cubicBezTo>
                    <a:pt x="39686" y="7570"/>
                    <a:pt x="46088" y="665"/>
                    <a:pt x="54373" y="42"/>
                  </a:cubicBezTo>
                  <a:lnTo>
                    <a:pt x="55563" y="3"/>
                  </a:lnTo>
                  <a:lnTo>
                    <a:pt x="103188" y="3"/>
                  </a:lnTo>
                  <a:close/>
                  <a:moveTo>
                    <a:pt x="79376" y="55565"/>
                  </a:moveTo>
                  <a:cubicBezTo>
                    <a:pt x="67152" y="55564"/>
                    <a:pt x="56913" y="64819"/>
                    <a:pt x="55682" y="76980"/>
                  </a:cubicBezTo>
                  <a:lnTo>
                    <a:pt x="55595" y="78187"/>
                  </a:lnTo>
                  <a:lnTo>
                    <a:pt x="55563" y="79378"/>
                  </a:lnTo>
                  <a:lnTo>
                    <a:pt x="55595" y="80568"/>
                  </a:lnTo>
                  <a:cubicBezTo>
                    <a:pt x="56245" y="93549"/>
                    <a:pt x="67183" y="103611"/>
                    <a:pt x="80172" y="103177"/>
                  </a:cubicBezTo>
                  <a:cubicBezTo>
                    <a:pt x="93162" y="102743"/>
                    <a:pt x="103404" y="91974"/>
                    <a:pt x="103187" y="78979"/>
                  </a:cubicBezTo>
                  <a:cubicBezTo>
                    <a:pt x="102969" y="65984"/>
                    <a:pt x="92372" y="55564"/>
                    <a:pt x="79376" y="55565"/>
                  </a:cubicBezTo>
                  <a:close/>
                </a:path>
              </a:pathLst>
            </a:custGeom>
            <a:solidFill>
              <a:schemeClr val="accent2"/>
            </a:solidFill>
            <a:ln>
              <a:noFill/>
            </a:ln>
          </p:spPr>
          <p:txBody>
            <a:bodyPr/>
            <a:lstStyle/>
            <a:p>
              <a:endParaRPr lang="zh-CN" altLang="en-US"/>
            </a:p>
          </p:txBody>
        </p:sp>
        <p:sp>
          <p:nvSpPr>
            <p:cNvPr id="8" name="TextBox 8"/>
            <p:cNvSpPr txBox="1"/>
            <p:nvPr/>
          </p:nvSpPr>
          <p:spPr>
            <a:xfrm>
              <a:off x="1363980" y="1695450"/>
              <a:ext cx="945530"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Detection</a:t>
              </a:r>
            </a:p>
          </p:txBody>
        </p:sp>
        <p:sp>
          <p:nvSpPr>
            <p:cNvPr id="9" name="TextBox 9"/>
            <p:cNvSpPr txBox="1"/>
            <p:nvPr/>
          </p:nvSpPr>
          <p:spPr>
            <a:xfrm>
              <a:off x="832866" y="2114550"/>
              <a:ext cx="2770026" cy="1195959"/>
            </a:xfrm>
            <a:prstGeom prst="rect">
              <a:avLst/>
            </a:prstGeom>
            <a:noFill/>
            <a:ln>
              <a:noFill/>
            </a:ln>
          </p:spPr>
          <p:txBody>
            <a:bodyPr wrap="none" lIns="0" tIns="0" rIns="0" bIns="0" anchor="t" anchorCtr="0">
              <a:spAutoFit/>
            </a:bodyPr>
            <a:lstStyle/>
            <a:p>
              <a:pPr marL="90691" indent="-90691" algn="l">
                <a:lnSpc>
                  <a:spcPts val="1950"/>
                </a:lnSpc>
                <a:buClr>
                  <a:schemeClr val="dk1"/>
                </a:buClr>
                <a:buSzTx/>
                <a:buFontTx/>
                <a:buChar char="•"/>
              </a:pPr>
              <a:r>
                <a:rPr lang="en" sz="1050" dirty="0">
                  <a:solidFill>
                    <a:schemeClr val="dk1"/>
                  </a:solidFill>
                  <a:latin typeface="+mn-lt"/>
                  <a:ea typeface="+mn-ea"/>
                  <a:cs typeface="+mn-cs"/>
                </a:rPr>
                <a:t>Scene-group split and YOLO26m fine-tuning</a:t>
              </a:r>
            </a:p>
            <a:p>
              <a:pPr marL="90691" indent="-90691" algn="l">
                <a:lnSpc>
                  <a:spcPts val="1950"/>
                </a:lnSpc>
                <a:buClr>
                  <a:schemeClr val="dk1"/>
                </a:buClr>
                <a:buSzTx/>
                <a:buFontTx/>
                <a:buChar char="•"/>
              </a:pPr>
              <a:r>
                <a:rPr lang="en" sz="1050" dirty="0">
                  <a:solidFill>
                    <a:schemeClr val="dk1"/>
                  </a:solidFill>
                  <a:latin typeface="+mn-lt"/>
                  <a:ea typeface="+mn-ea"/>
                  <a:cs typeface="+mn-cs"/>
                </a:rPr>
                <a:t>MIO-TCD mAP 0.430 → 0.720</a:t>
              </a:r>
            </a:p>
            <a:p>
              <a:pPr marL="90691" indent="-90691" algn="l">
                <a:lnSpc>
                  <a:spcPts val="1950"/>
                </a:lnSpc>
                <a:buClr>
                  <a:schemeClr val="dk1"/>
                </a:buClr>
                <a:buSzTx/>
                <a:buFontTx/>
                <a:buChar char="•"/>
              </a:pPr>
              <a:r>
                <a:rPr lang="en" sz="1050" dirty="0">
                  <a:solidFill>
                    <a:schemeClr val="dk1"/>
                  </a:solidFill>
                  <a:latin typeface="+mn-lt"/>
                  <a:ea typeface="+mn-ea"/>
                  <a:cs typeface="+mn-cs"/>
                </a:rPr>
                <a:t>LTA recall 0.394 → 0.547</a:t>
              </a:r>
            </a:p>
            <a:p>
              <a:pPr marL="90691" indent="-90691" algn="l">
                <a:lnSpc>
                  <a:spcPts val="1950"/>
                </a:lnSpc>
                <a:buClr>
                  <a:schemeClr val="dk1"/>
                </a:buClr>
                <a:buSzTx/>
                <a:buFontTx/>
                <a:buChar char="•"/>
              </a:pPr>
              <a:r>
                <a:rPr lang="en" sz="1050" dirty="0">
                  <a:solidFill>
                    <a:schemeClr val="dk1"/>
                  </a:solidFill>
                  <a:latin typeface="+mn-lt"/>
                  <a:ea typeface="+mn-ea"/>
                  <a:cs typeface="+mn-cs"/>
                </a:rPr>
                <a:t>Road-region filtering and congestion grading</a:t>
              </a:r>
            </a:p>
            <a:p>
              <a:pPr marL="90691" indent="-90691" algn="l">
                <a:lnSpc>
                  <a:spcPts val="1950"/>
                </a:lnSpc>
                <a:buClr>
                  <a:schemeClr val="dk1"/>
                </a:buClr>
                <a:buSzTx/>
                <a:buFontTx/>
                <a:buChar char="•"/>
              </a:pPr>
              <a:r>
                <a:rPr lang="en" sz="1050" dirty="0">
                  <a:solidFill>
                    <a:schemeClr val="dk1"/>
                  </a:solidFill>
                  <a:latin typeface="+mn-lt"/>
                  <a:ea typeface="+mn-ea"/>
                  <a:cs typeface="+mn-cs"/>
                </a:rPr>
                <a:t>Four vehicle classes at 1280 px</a:t>
              </a:r>
            </a:p>
          </p:txBody>
        </p:sp>
      </p:grpSp>
      <p:grpSp>
        <p:nvGrpSpPr>
          <p:cNvPr id="18" name="p21-forecasting"/>
          <p:cNvGrpSpPr/>
          <p:nvPr/>
        </p:nvGrpSpPr>
        <p:grpSpPr>
          <a:xfrm>
            <a:off x="6248400" y="1428750"/>
            <a:ext cx="5334000" cy="2095500"/>
            <a:chOff x="6248400" y="1428750"/>
            <a:chExt cx="5334000" cy="2095500"/>
          </a:xfrm>
        </p:grpSpPr>
        <p:sp>
          <p:nvSpPr>
            <p:cNvPr id="11" name="Rectangle 11"/>
            <p:cNvSpPr/>
            <p:nvPr/>
          </p:nvSpPr>
          <p:spPr>
            <a:xfrm>
              <a:off x="6248400" y="1428750"/>
              <a:ext cx="53340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12" name="Rectangle 12"/>
            <p:cNvSpPr/>
            <p:nvPr/>
          </p:nvSpPr>
          <p:spPr>
            <a:xfrm>
              <a:off x="6477000" y="1638300"/>
              <a:ext cx="381000" cy="381000"/>
            </a:xfrm>
            <a:prstGeom prst="roundRect">
              <a:avLst>
                <a:gd name="adj" fmla="val 22500"/>
              </a:avLst>
            </a:prstGeom>
            <a:solidFill>
              <a:srgbClr val="CCFBF1"/>
            </a:solidFill>
            <a:ln>
              <a:noFill/>
            </a:ln>
          </p:spPr>
          <p:txBody>
            <a:bodyPr/>
            <a:lstStyle/>
            <a:p>
              <a:endParaRPr lang="zh-CN" altLang="en-US"/>
            </a:p>
          </p:txBody>
        </p:sp>
        <p:grpSp>
          <p:nvGrpSpPr>
            <p:cNvPr id="15" name="Group 15"/>
            <p:cNvGrpSpPr/>
            <p:nvPr/>
          </p:nvGrpSpPr>
          <p:grpSpPr>
            <a:xfrm>
              <a:off x="6595123" y="1756404"/>
              <a:ext cx="144588" cy="135896"/>
              <a:chOff x="6595123" y="1756404"/>
              <a:chExt cx="144588" cy="135896"/>
            </a:xfrm>
          </p:grpSpPr>
          <p:sp>
            <p:nvSpPr>
              <p:cNvPr id="13" name="Freeform 13"/>
              <p:cNvSpPr/>
              <p:nvPr/>
            </p:nvSpPr>
            <p:spPr>
              <a:xfrm>
                <a:off x="6596062" y="1803999"/>
                <a:ext cx="142875" cy="88301"/>
              </a:xfrm>
              <a:custGeom>
                <a:avLst/>
                <a:gdLst/>
                <a:ahLst/>
                <a:cxnLst/>
                <a:rect l="l" t="t" r="r" b="b"/>
                <a:pathLst>
                  <a:path w="142875" h="88301">
                    <a:moveTo>
                      <a:pt x="96996" y="3965"/>
                    </a:moveTo>
                    <a:cubicBezTo>
                      <a:pt x="99706" y="583"/>
                      <a:pt x="104628" y="0"/>
                      <a:pt x="108053" y="2655"/>
                    </a:cubicBezTo>
                    <a:lnTo>
                      <a:pt x="108799" y="3314"/>
                    </a:lnTo>
                    <a:lnTo>
                      <a:pt x="140549" y="35064"/>
                    </a:lnTo>
                    <a:cubicBezTo>
                      <a:pt x="141783" y="36299"/>
                      <a:pt x="142575" y="37905"/>
                      <a:pt x="142804" y="39636"/>
                    </a:cubicBezTo>
                    <a:lnTo>
                      <a:pt x="142875" y="40676"/>
                    </a:lnTo>
                    <a:lnTo>
                      <a:pt x="142875" y="80363"/>
                    </a:lnTo>
                    <a:cubicBezTo>
                      <a:pt x="142874" y="84387"/>
                      <a:pt x="139863" y="87774"/>
                      <a:pt x="135866" y="88245"/>
                    </a:cubicBezTo>
                    <a:lnTo>
                      <a:pt x="134937" y="88301"/>
                    </a:lnTo>
                    <a:lnTo>
                      <a:pt x="7763" y="88301"/>
                    </a:lnTo>
                    <a:lnTo>
                      <a:pt x="6890" y="88229"/>
                    </a:lnTo>
                    <a:lnTo>
                      <a:pt x="6017" y="88070"/>
                    </a:lnTo>
                    <a:lnTo>
                      <a:pt x="5167" y="87801"/>
                    </a:lnTo>
                    <a:lnTo>
                      <a:pt x="4334" y="87435"/>
                    </a:lnTo>
                    <a:lnTo>
                      <a:pt x="3540" y="86967"/>
                    </a:lnTo>
                    <a:lnTo>
                      <a:pt x="2794" y="86412"/>
                    </a:lnTo>
                    <a:lnTo>
                      <a:pt x="2318" y="85975"/>
                    </a:lnTo>
                    <a:lnTo>
                      <a:pt x="1746" y="85324"/>
                    </a:lnTo>
                    <a:lnTo>
                      <a:pt x="1238" y="84618"/>
                    </a:lnTo>
                    <a:lnTo>
                      <a:pt x="810" y="83856"/>
                    </a:lnTo>
                    <a:lnTo>
                      <a:pt x="683" y="83578"/>
                    </a:lnTo>
                    <a:lnTo>
                      <a:pt x="365" y="82760"/>
                    </a:lnTo>
                    <a:lnTo>
                      <a:pt x="151" y="81919"/>
                    </a:lnTo>
                    <a:lnTo>
                      <a:pt x="32" y="81062"/>
                    </a:lnTo>
                    <a:lnTo>
                      <a:pt x="0" y="80189"/>
                    </a:lnTo>
                    <a:lnTo>
                      <a:pt x="71" y="79315"/>
                    </a:lnTo>
                    <a:lnTo>
                      <a:pt x="222" y="78482"/>
                    </a:lnTo>
                    <a:cubicBezTo>
                      <a:pt x="302" y="78164"/>
                      <a:pt x="397" y="77871"/>
                      <a:pt x="500" y="77593"/>
                    </a:cubicBezTo>
                    <a:lnTo>
                      <a:pt x="865" y="76760"/>
                    </a:lnTo>
                    <a:lnTo>
                      <a:pt x="1333" y="75966"/>
                    </a:lnTo>
                    <a:lnTo>
                      <a:pt x="33083" y="28341"/>
                    </a:lnTo>
                    <a:cubicBezTo>
                      <a:pt x="35094" y="25314"/>
                      <a:pt x="38903" y="24039"/>
                      <a:pt x="42331" y="25245"/>
                    </a:cubicBezTo>
                    <a:lnTo>
                      <a:pt x="43236" y="25642"/>
                    </a:lnTo>
                    <a:lnTo>
                      <a:pt x="69247" y="38644"/>
                    </a:lnTo>
                    <a:lnTo>
                      <a:pt x="96988" y="3965"/>
                    </a:lnTo>
                    <a:close/>
                  </a:path>
                </a:pathLst>
              </a:custGeom>
              <a:solidFill>
                <a:schemeClr val="accent3"/>
              </a:solidFill>
              <a:ln>
                <a:noFill/>
              </a:ln>
            </p:spPr>
            <p:txBody>
              <a:bodyPr/>
              <a:lstStyle/>
              <a:p>
                <a:endParaRPr lang="zh-CN" altLang="en-US"/>
              </a:p>
            </p:txBody>
          </p:sp>
          <p:sp>
            <p:nvSpPr>
              <p:cNvPr id="14" name="Freeform 14"/>
              <p:cNvSpPr/>
              <p:nvPr/>
            </p:nvSpPr>
            <p:spPr>
              <a:xfrm>
                <a:off x="6595123" y="1756404"/>
                <a:ext cx="144588" cy="81273"/>
              </a:xfrm>
              <a:custGeom>
                <a:avLst/>
                <a:gdLst/>
                <a:ahLst/>
                <a:cxnLst/>
                <a:rect l="l" t="t" r="r" b="b"/>
                <a:pathLst>
                  <a:path w="144588" h="81273">
                    <a:moveTo>
                      <a:pt x="98031" y="3816"/>
                    </a:moveTo>
                    <a:cubicBezTo>
                      <a:pt x="100769" y="527"/>
                      <a:pt x="105621" y="0"/>
                      <a:pt x="109001" y="2625"/>
                    </a:cubicBezTo>
                    <a:lnTo>
                      <a:pt x="109739" y="3284"/>
                    </a:lnTo>
                    <a:lnTo>
                      <a:pt x="141489" y="35034"/>
                    </a:lnTo>
                    <a:cubicBezTo>
                      <a:pt x="144443" y="37998"/>
                      <a:pt x="144588" y="42747"/>
                      <a:pt x="141820" y="45887"/>
                    </a:cubicBezTo>
                    <a:cubicBezTo>
                      <a:pt x="139052" y="49026"/>
                      <a:pt x="134322" y="49476"/>
                      <a:pt x="131011" y="46916"/>
                    </a:cubicBezTo>
                    <a:lnTo>
                      <a:pt x="130265" y="46257"/>
                    </a:lnTo>
                    <a:lnTo>
                      <a:pt x="104659" y="20659"/>
                    </a:lnTo>
                    <a:lnTo>
                      <a:pt x="70536" y="61601"/>
                    </a:lnTo>
                    <a:cubicBezTo>
                      <a:pt x="68413" y="64147"/>
                      <a:pt x="64931" y="65106"/>
                      <a:pt x="61804" y="64006"/>
                    </a:cubicBezTo>
                    <a:lnTo>
                      <a:pt x="60891" y="63617"/>
                    </a:lnTo>
                    <a:lnTo>
                      <a:pt x="35063" y="50710"/>
                    </a:lnTo>
                    <a:lnTo>
                      <a:pt x="15227" y="77158"/>
                    </a:lnTo>
                    <a:cubicBezTo>
                      <a:pt x="12828" y="80358"/>
                      <a:pt x="8423" y="81273"/>
                      <a:pt x="4948" y="79293"/>
                    </a:cubicBezTo>
                    <a:lnTo>
                      <a:pt x="4115" y="78746"/>
                    </a:lnTo>
                    <a:cubicBezTo>
                      <a:pt x="915" y="76346"/>
                      <a:pt x="0" y="71942"/>
                      <a:pt x="1979" y="68467"/>
                    </a:cubicBezTo>
                    <a:lnTo>
                      <a:pt x="2527" y="67633"/>
                    </a:lnTo>
                    <a:lnTo>
                      <a:pt x="26340" y="35883"/>
                    </a:lnTo>
                    <a:cubicBezTo>
                      <a:pt x="28429" y="33100"/>
                      <a:pt x="32088" y="32003"/>
                      <a:pt x="35364" y="33176"/>
                    </a:cubicBezTo>
                    <a:lnTo>
                      <a:pt x="36238" y="33550"/>
                    </a:lnTo>
                    <a:lnTo>
                      <a:pt x="62360" y="46607"/>
                    </a:lnTo>
                    <a:lnTo>
                      <a:pt x="98031" y="3816"/>
                    </a:lnTo>
                    <a:close/>
                  </a:path>
                </a:pathLst>
              </a:custGeom>
              <a:solidFill>
                <a:schemeClr val="accent3"/>
              </a:solidFill>
              <a:ln>
                <a:noFill/>
              </a:ln>
            </p:spPr>
            <p:txBody>
              <a:bodyPr/>
              <a:lstStyle/>
              <a:p>
                <a:endParaRPr lang="zh-CN" altLang="en-US"/>
              </a:p>
            </p:txBody>
          </p:sp>
        </p:grpSp>
        <p:sp>
          <p:nvSpPr>
            <p:cNvPr id="16" name="TextBox 16"/>
            <p:cNvSpPr txBox="1"/>
            <p:nvPr/>
          </p:nvSpPr>
          <p:spPr>
            <a:xfrm>
              <a:off x="7002780" y="1695450"/>
              <a:ext cx="1116510"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Forecasting</a:t>
              </a:r>
            </a:p>
          </p:txBody>
        </p:sp>
        <p:sp>
          <p:nvSpPr>
            <p:cNvPr id="17" name="TextBox 17"/>
            <p:cNvSpPr txBox="1"/>
            <p:nvPr/>
          </p:nvSpPr>
          <p:spPr>
            <a:xfrm>
              <a:off x="6471666" y="2114550"/>
              <a:ext cx="2560400" cy="948309"/>
            </a:xfrm>
            <a:prstGeom prst="rect">
              <a:avLst/>
            </a:prstGeom>
            <a:noFill/>
            <a:ln>
              <a:noFill/>
            </a:ln>
          </p:spPr>
          <p:txBody>
            <a:bodyPr wrap="none" lIns="0" tIns="0" rIns="0" bIns="0" anchor="t" anchorCtr="0">
              <a:spAutoFit/>
            </a:bodyPr>
            <a:lstStyle/>
            <a:p>
              <a:pPr marL="90691" indent="-90691" algn="l">
                <a:lnSpc>
                  <a:spcPts val="1950"/>
                </a:lnSpc>
                <a:buClr>
                  <a:schemeClr val="dk1"/>
                </a:buClr>
                <a:buSzTx/>
                <a:buFontTx/>
                <a:buChar char="•"/>
              </a:pPr>
              <a:r>
                <a:rPr lang="en" sz="1050" dirty="0">
                  <a:solidFill>
                    <a:schemeClr val="dk1"/>
                  </a:solidFill>
                  <a:latin typeface="+mn-lt"/>
                  <a:ea typeface="+mn-ea"/>
                  <a:cs typeface="+mn-cs"/>
                </a:rPr>
                <a:t>One protocol for eight models</a:t>
              </a:r>
            </a:p>
            <a:p>
              <a:pPr marL="90691" indent="-90691" algn="l">
                <a:lnSpc>
                  <a:spcPts val="1950"/>
                </a:lnSpc>
                <a:buClr>
                  <a:schemeClr val="dk1"/>
                </a:buClr>
                <a:buSzTx/>
                <a:buFontTx/>
                <a:buChar char="•"/>
              </a:pPr>
              <a:r>
                <a:rPr lang="en" sz="1050" dirty="0">
                  <a:solidFill>
                    <a:schemeClr val="dk1"/>
                  </a:solidFill>
                  <a:latin typeface="+mn-lt"/>
                  <a:ea typeface="+mn-ea"/>
                  <a:cs typeface="+mn-cs"/>
                </a:rPr>
                <a:t>MultiHeadSTGCN default MAE 14.84</a:t>
              </a:r>
            </a:p>
            <a:p>
              <a:pPr marL="90691" indent="-90691" algn="l">
                <a:lnSpc>
                  <a:spcPts val="1950"/>
                </a:lnSpc>
                <a:buClr>
                  <a:schemeClr val="dk1"/>
                </a:buClr>
                <a:buSzTx/>
                <a:buFontTx/>
                <a:buChar char="•"/>
              </a:pPr>
              <a:r>
                <a:rPr lang="en" sz="1050" dirty="0">
                  <a:solidFill>
                    <a:schemeClr val="dk1"/>
                  </a:solidFill>
                  <a:latin typeface="+mn-lt"/>
                  <a:ea typeface="+mn-ea"/>
                  <a:cs typeface="+mn-cs"/>
                </a:rPr>
                <a:t>Second behind GWNET on default recipes</a:t>
              </a:r>
            </a:p>
            <a:p>
              <a:pPr marL="90691" indent="-90691" algn="l">
                <a:lnSpc>
                  <a:spcPts val="1950"/>
                </a:lnSpc>
                <a:buClr>
                  <a:schemeClr val="dk1"/>
                </a:buClr>
                <a:buSzTx/>
                <a:buFontTx/>
                <a:buChar char="•"/>
              </a:pPr>
              <a:r>
                <a:rPr lang="en" sz="1050" dirty="0">
                  <a:solidFill>
                    <a:schemeClr val="dk1"/>
                  </a:solidFill>
                  <a:latin typeface="+mn-lt"/>
                  <a:ea typeface="+mn-ea"/>
                  <a:cs typeface="+mn-cs"/>
                </a:rPr>
                <a:t>Default and unified input regimes</a:t>
              </a:r>
            </a:p>
          </p:txBody>
        </p:sp>
      </p:grpSp>
      <p:grpSp>
        <p:nvGrpSpPr>
          <p:cNvPr id="24" name="p21-workbench"/>
          <p:cNvGrpSpPr/>
          <p:nvPr/>
        </p:nvGrpSpPr>
        <p:grpSpPr>
          <a:xfrm>
            <a:off x="609600" y="3714750"/>
            <a:ext cx="5334000" cy="2095500"/>
            <a:chOff x="609600" y="3714750"/>
            <a:chExt cx="5334000" cy="2095500"/>
          </a:xfrm>
        </p:grpSpPr>
        <p:sp>
          <p:nvSpPr>
            <p:cNvPr id="19" name="Rectangle 19"/>
            <p:cNvSpPr/>
            <p:nvPr/>
          </p:nvSpPr>
          <p:spPr>
            <a:xfrm>
              <a:off x="609600" y="3714750"/>
              <a:ext cx="53340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20" name="Rectangle 20"/>
            <p:cNvSpPr/>
            <p:nvPr/>
          </p:nvSpPr>
          <p:spPr>
            <a:xfrm>
              <a:off x="838200" y="3924300"/>
              <a:ext cx="381000" cy="381000"/>
            </a:xfrm>
            <a:prstGeom prst="roundRect">
              <a:avLst>
                <a:gd name="adj" fmla="val 22500"/>
              </a:avLst>
            </a:prstGeom>
            <a:solidFill>
              <a:srgbClr val="DBEAFE"/>
            </a:solidFill>
            <a:ln>
              <a:noFill/>
            </a:ln>
          </p:spPr>
          <p:txBody>
            <a:bodyPr/>
            <a:lstStyle/>
            <a:p>
              <a:endParaRPr lang="zh-CN" altLang="en-US"/>
            </a:p>
          </p:txBody>
        </p:sp>
        <p:sp>
          <p:nvSpPr>
            <p:cNvPr id="21" name="Freeform 21"/>
            <p:cNvSpPr/>
            <p:nvPr/>
          </p:nvSpPr>
          <p:spPr>
            <a:xfrm>
              <a:off x="957262" y="4043362"/>
              <a:ext cx="142875" cy="142875"/>
            </a:xfrm>
            <a:custGeom>
              <a:avLst/>
              <a:gdLst/>
              <a:ahLst/>
              <a:cxnLst/>
              <a:rect l="l" t="t" r="r" b="b"/>
              <a:pathLst>
                <a:path w="142875" h="142875">
                  <a:moveTo>
                    <a:pt x="47625" y="0"/>
                  </a:moveTo>
                  <a:cubicBezTo>
                    <a:pt x="56392" y="0"/>
                    <a:pt x="63500" y="7107"/>
                    <a:pt x="63500" y="15875"/>
                  </a:cubicBezTo>
                  <a:lnTo>
                    <a:pt x="63500" y="63500"/>
                  </a:lnTo>
                  <a:cubicBezTo>
                    <a:pt x="63500" y="72267"/>
                    <a:pt x="56392" y="79375"/>
                    <a:pt x="47625" y="79375"/>
                  </a:cubicBezTo>
                  <a:lnTo>
                    <a:pt x="15875" y="79375"/>
                  </a:lnTo>
                  <a:cubicBezTo>
                    <a:pt x="7107" y="79375"/>
                    <a:pt x="0" y="72267"/>
                    <a:pt x="0" y="63500"/>
                  </a:cubicBezTo>
                  <a:lnTo>
                    <a:pt x="0" y="15875"/>
                  </a:lnTo>
                  <a:cubicBezTo>
                    <a:pt x="0" y="7107"/>
                    <a:pt x="7107" y="0"/>
                    <a:pt x="15875" y="0"/>
                  </a:cubicBezTo>
                  <a:close/>
                  <a:moveTo>
                    <a:pt x="47625" y="95250"/>
                  </a:moveTo>
                  <a:cubicBezTo>
                    <a:pt x="56392" y="95250"/>
                    <a:pt x="63500" y="102357"/>
                    <a:pt x="63500" y="111125"/>
                  </a:cubicBezTo>
                  <a:lnTo>
                    <a:pt x="63500" y="127000"/>
                  </a:lnTo>
                  <a:cubicBezTo>
                    <a:pt x="63500" y="135767"/>
                    <a:pt x="56392" y="142875"/>
                    <a:pt x="47625" y="142875"/>
                  </a:cubicBezTo>
                  <a:lnTo>
                    <a:pt x="15875" y="142875"/>
                  </a:lnTo>
                  <a:cubicBezTo>
                    <a:pt x="7107" y="142875"/>
                    <a:pt x="0" y="135767"/>
                    <a:pt x="0" y="127000"/>
                  </a:cubicBezTo>
                  <a:lnTo>
                    <a:pt x="0" y="111125"/>
                  </a:lnTo>
                  <a:cubicBezTo>
                    <a:pt x="0" y="102357"/>
                    <a:pt x="7107" y="95250"/>
                    <a:pt x="15875" y="95250"/>
                  </a:cubicBezTo>
                  <a:close/>
                  <a:moveTo>
                    <a:pt x="127000" y="63500"/>
                  </a:moveTo>
                  <a:cubicBezTo>
                    <a:pt x="135767" y="63500"/>
                    <a:pt x="142875" y="70607"/>
                    <a:pt x="142875" y="79375"/>
                  </a:cubicBezTo>
                  <a:lnTo>
                    <a:pt x="142875" y="127000"/>
                  </a:lnTo>
                  <a:cubicBezTo>
                    <a:pt x="142875" y="135767"/>
                    <a:pt x="135767" y="142875"/>
                    <a:pt x="127000" y="142875"/>
                  </a:cubicBezTo>
                  <a:lnTo>
                    <a:pt x="95250" y="142875"/>
                  </a:lnTo>
                  <a:cubicBezTo>
                    <a:pt x="86482" y="142875"/>
                    <a:pt x="79375" y="135767"/>
                    <a:pt x="79375" y="127000"/>
                  </a:cubicBezTo>
                  <a:lnTo>
                    <a:pt x="79375" y="79375"/>
                  </a:lnTo>
                  <a:cubicBezTo>
                    <a:pt x="79375" y="70607"/>
                    <a:pt x="86482" y="63500"/>
                    <a:pt x="95250" y="63500"/>
                  </a:cubicBezTo>
                  <a:close/>
                  <a:moveTo>
                    <a:pt x="127000" y="0"/>
                  </a:moveTo>
                  <a:cubicBezTo>
                    <a:pt x="135767" y="0"/>
                    <a:pt x="142875" y="7107"/>
                    <a:pt x="142875" y="15875"/>
                  </a:cubicBezTo>
                  <a:lnTo>
                    <a:pt x="142875" y="31750"/>
                  </a:lnTo>
                  <a:cubicBezTo>
                    <a:pt x="142875" y="40518"/>
                    <a:pt x="135767" y="47625"/>
                    <a:pt x="127000" y="47625"/>
                  </a:cubicBezTo>
                  <a:lnTo>
                    <a:pt x="95250" y="47625"/>
                  </a:lnTo>
                  <a:cubicBezTo>
                    <a:pt x="86482" y="47625"/>
                    <a:pt x="79375" y="40518"/>
                    <a:pt x="79375" y="31750"/>
                  </a:cubicBezTo>
                  <a:lnTo>
                    <a:pt x="79375" y="15875"/>
                  </a:lnTo>
                  <a:cubicBezTo>
                    <a:pt x="79375" y="7107"/>
                    <a:pt x="86482" y="0"/>
                    <a:pt x="95250" y="0"/>
                  </a:cubicBezTo>
                  <a:close/>
                </a:path>
              </a:pathLst>
            </a:custGeom>
            <a:solidFill>
              <a:schemeClr val="accent2"/>
            </a:solidFill>
            <a:ln>
              <a:noFill/>
            </a:ln>
          </p:spPr>
          <p:txBody>
            <a:bodyPr/>
            <a:lstStyle/>
            <a:p>
              <a:endParaRPr lang="zh-CN" altLang="en-US"/>
            </a:p>
          </p:txBody>
        </p:sp>
        <p:sp>
          <p:nvSpPr>
            <p:cNvPr id="22" name="TextBox 22"/>
            <p:cNvSpPr txBox="1"/>
            <p:nvPr/>
          </p:nvSpPr>
          <p:spPr>
            <a:xfrm>
              <a:off x="1363980" y="3981450"/>
              <a:ext cx="1116868"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Workbench</a:t>
              </a:r>
            </a:p>
          </p:txBody>
        </p:sp>
        <p:sp>
          <p:nvSpPr>
            <p:cNvPr id="23" name="TextBox 23"/>
            <p:cNvSpPr txBox="1"/>
            <p:nvPr/>
          </p:nvSpPr>
          <p:spPr>
            <a:xfrm>
              <a:off x="832866" y="4400550"/>
              <a:ext cx="3059129" cy="948309"/>
            </a:xfrm>
            <a:prstGeom prst="rect">
              <a:avLst/>
            </a:prstGeom>
            <a:noFill/>
            <a:ln>
              <a:noFill/>
            </a:ln>
          </p:spPr>
          <p:txBody>
            <a:bodyPr wrap="none" lIns="0" tIns="0" rIns="0" bIns="0" anchor="t" anchorCtr="0">
              <a:spAutoFit/>
            </a:bodyPr>
            <a:lstStyle/>
            <a:p>
              <a:pPr marL="90691" indent="-90691" algn="l">
                <a:lnSpc>
                  <a:spcPts val="1950"/>
                </a:lnSpc>
                <a:buClr>
                  <a:schemeClr val="dk1"/>
                </a:buClr>
                <a:buSzTx/>
                <a:buFontTx/>
                <a:buChar char="•"/>
              </a:pPr>
              <a:r>
                <a:rPr lang="en" sz="1050" dirty="0">
                  <a:solidFill>
                    <a:schemeClr val="dk1"/>
                  </a:solidFill>
                  <a:latin typeface="+mn-lt"/>
                  <a:ea typeface="+mn-ea"/>
                  <a:cs typeface="+mn-cs"/>
                </a:rPr>
                <a:t>Source-labelled overview, monitoring and forecast</a:t>
              </a:r>
            </a:p>
            <a:p>
              <a:pPr marL="90691" indent="-90691" algn="l">
                <a:lnSpc>
                  <a:spcPts val="1950"/>
                </a:lnSpc>
                <a:buClr>
                  <a:schemeClr val="dk1"/>
                </a:buClr>
                <a:buSzTx/>
                <a:buFontTx/>
                <a:buChar char="•"/>
              </a:pPr>
              <a:r>
                <a:rPr lang="en" sz="1050" dirty="0">
                  <a:solidFill>
                    <a:schemeClr val="dk1"/>
                  </a:solidFill>
                  <a:latin typeface="+mn-lt"/>
                  <a:ea typeface="+mn-ea"/>
                  <a:cs typeface="+mn-cs"/>
                </a:rPr>
                <a:t>Two pipelines joined at the presentation layer</a:t>
              </a:r>
            </a:p>
            <a:p>
              <a:pPr marL="90691" indent="-90691" algn="l">
                <a:lnSpc>
                  <a:spcPts val="1950"/>
                </a:lnSpc>
                <a:buClr>
                  <a:schemeClr val="dk1"/>
                </a:buClr>
                <a:buSzTx/>
                <a:buFontTx/>
                <a:buChar char="•"/>
              </a:pPr>
              <a:r>
                <a:rPr lang="en" sz="1050" dirty="0">
                  <a:solidFill>
                    <a:schemeClr val="dk1"/>
                  </a:solidFill>
                  <a:latin typeface="+mn-lt"/>
                  <a:ea typeface="+mn-ea"/>
                  <a:cs typeface="+mn-cs"/>
                </a:rPr>
                <a:t>Historical replay of recorded data</a:t>
              </a:r>
            </a:p>
            <a:p>
              <a:pPr marL="90691" indent="-90691" algn="l">
                <a:lnSpc>
                  <a:spcPts val="1950"/>
                </a:lnSpc>
                <a:buClr>
                  <a:schemeClr val="dk1"/>
                </a:buClr>
                <a:buSzTx/>
                <a:buFontTx/>
                <a:buChar char="•"/>
              </a:pPr>
              <a:r>
                <a:rPr lang="en" sz="1050" dirty="0">
                  <a:solidFill>
                    <a:schemeClr val="dk1"/>
                  </a:solidFill>
                  <a:latin typeface="+mn-lt"/>
                  <a:ea typeface="+mn-ea"/>
                  <a:cs typeface="+mn-cs"/>
                </a:rPr>
                <a:t>Risk ranking from forecast outputs</a:t>
              </a:r>
            </a:p>
          </p:txBody>
        </p:sp>
      </p:grpSp>
      <p:grpSp>
        <p:nvGrpSpPr>
          <p:cNvPr id="34" name="p21-dataset"/>
          <p:cNvGrpSpPr/>
          <p:nvPr/>
        </p:nvGrpSpPr>
        <p:grpSpPr>
          <a:xfrm>
            <a:off x="6248400" y="3714750"/>
            <a:ext cx="5334000" cy="2095500"/>
            <a:chOff x="6248400" y="3714750"/>
            <a:chExt cx="5334000" cy="2095500"/>
          </a:xfrm>
        </p:grpSpPr>
        <p:sp>
          <p:nvSpPr>
            <p:cNvPr id="25" name="Rectangle 25"/>
            <p:cNvSpPr/>
            <p:nvPr/>
          </p:nvSpPr>
          <p:spPr>
            <a:xfrm>
              <a:off x="6248400" y="3714750"/>
              <a:ext cx="5334000" cy="2095500"/>
            </a:xfrm>
            <a:prstGeom prst="roundRect">
              <a:avLst>
                <a:gd name="adj" fmla="val 5455"/>
              </a:avLst>
            </a:prstGeom>
            <a:solidFill>
              <a:srgbClr val="FFFFFF"/>
            </a:solidFill>
            <a:ln w="9525">
              <a:solidFill>
                <a:schemeClr val="accent6"/>
              </a:solidFill>
            </a:ln>
          </p:spPr>
          <p:txBody>
            <a:bodyPr/>
            <a:lstStyle/>
            <a:p>
              <a:endParaRPr lang="zh-CN" altLang="en-US"/>
            </a:p>
          </p:txBody>
        </p:sp>
        <p:sp>
          <p:nvSpPr>
            <p:cNvPr id="26" name="Rectangle 26"/>
            <p:cNvSpPr/>
            <p:nvPr/>
          </p:nvSpPr>
          <p:spPr>
            <a:xfrm>
              <a:off x="6477000" y="3924300"/>
              <a:ext cx="381000" cy="381000"/>
            </a:xfrm>
            <a:prstGeom prst="roundRect">
              <a:avLst>
                <a:gd name="adj" fmla="val 22500"/>
              </a:avLst>
            </a:prstGeom>
            <a:solidFill>
              <a:srgbClr val="CCFBF1"/>
            </a:solidFill>
            <a:ln>
              <a:noFill/>
            </a:ln>
          </p:spPr>
          <p:txBody>
            <a:bodyPr/>
            <a:lstStyle/>
            <a:p>
              <a:endParaRPr lang="zh-CN" altLang="en-US"/>
            </a:p>
          </p:txBody>
        </p:sp>
        <p:grpSp>
          <p:nvGrpSpPr>
            <p:cNvPr id="30" name="Group 30"/>
            <p:cNvGrpSpPr/>
            <p:nvPr/>
          </p:nvGrpSpPr>
          <p:grpSpPr>
            <a:xfrm>
              <a:off x="6596062" y="4035425"/>
              <a:ext cx="142876" cy="158750"/>
              <a:chOff x="6596062" y="4035425"/>
              <a:chExt cx="142876" cy="158750"/>
            </a:xfrm>
          </p:grpSpPr>
          <p:sp>
            <p:nvSpPr>
              <p:cNvPr id="27" name="Freeform 27"/>
              <p:cNvSpPr/>
              <p:nvPr/>
            </p:nvSpPr>
            <p:spPr>
              <a:xfrm>
                <a:off x="6596062" y="4144415"/>
                <a:ext cx="142875" cy="49760"/>
              </a:xfrm>
              <a:custGeom>
                <a:avLst/>
                <a:gdLst/>
                <a:ahLst/>
                <a:cxnLst/>
                <a:rect l="l" t="t" r="r" b="b"/>
                <a:pathLst>
                  <a:path w="142875" h="49760">
                    <a:moveTo>
                      <a:pt x="0" y="0"/>
                    </a:moveTo>
                    <a:cubicBezTo>
                      <a:pt x="15621" y="11962"/>
                      <a:pt x="41545" y="18010"/>
                      <a:pt x="71437" y="18010"/>
                    </a:cubicBezTo>
                    <a:cubicBezTo>
                      <a:pt x="101282" y="18010"/>
                      <a:pt x="127198" y="11978"/>
                      <a:pt x="142875" y="135"/>
                    </a:cubicBezTo>
                    <a:lnTo>
                      <a:pt x="142875" y="18010"/>
                    </a:lnTo>
                    <a:cubicBezTo>
                      <a:pt x="142875" y="37259"/>
                      <a:pt x="111958" y="49252"/>
                      <a:pt x="73874" y="49744"/>
                    </a:cubicBezTo>
                    <a:lnTo>
                      <a:pt x="71437" y="49760"/>
                    </a:lnTo>
                    <a:cubicBezTo>
                      <a:pt x="32242" y="49760"/>
                      <a:pt x="0" y="37671"/>
                      <a:pt x="0" y="18010"/>
                    </a:cubicBezTo>
                    <a:close/>
                  </a:path>
                </a:pathLst>
              </a:custGeom>
              <a:solidFill>
                <a:schemeClr val="accent3"/>
              </a:solidFill>
              <a:ln>
                <a:noFill/>
              </a:ln>
            </p:spPr>
            <p:txBody>
              <a:bodyPr/>
              <a:lstStyle/>
              <a:p>
                <a:endParaRPr lang="zh-CN" altLang="en-US"/>
              </a:p>
            </p:txBody>
          </p:sp>
          <p:sp>
            <p:nvSpPr>
              <p:cNvPr id="28" name="Freeform 28"/>
              <p:cNvSpPr/>
              <p:nvPr/>
            </p:nvSpPr>
            <p:spPr>
              <a:xfrm>
                <a:off x="6596062" y="4096790"/>
                <a:ext cx="142875" cy="49760"/>
              </a:xfrm>
              <a:custGeom>
                <a:avLst/>
                <a:gdLst/>
                <a:ahLst/>
                <a:cxnLst/>
                <a:rect l="l" t="t" r="r" b="b"/>
                <a:pathLst>
                  <a:path w="142875" h="49760">
                    <a:moveTo>
                      <a:pt x="0" y="0"/>
                    </a:moveTo>
                    <a:cubicBezTo>
                      <a:pt x="15621" y="11962"/>
                      <a:pt x="41545" y="18010"/>
                      <a:pt x="71437" y="18010"/>
                    </a:cubicBezTo>
                    <a:cubicBezTo>
                      <a:pt x="101282" y="18010"/>
                      <a:pt x="127198" y="11978"/>
                      <a:pt x="142875" y="135"/>
                    </a:cubicBezTo>
                    <a:lnTo>
                      <a:pt x="142875" y="18010"/>
                    </a:lnTo>
                    <a:cubicBezTo>
                      <a:pt x="142875" y="37671"/>
                      <a:pt x="110633" y="49760"/>
                      <a:pt x="71437" y="49760"/>
                    </a:cubicBezTo>
                    <a:cubicBezTo>
                      <a:pt x="33353" y="49760"/>
                      <a:pt x="1826" y="38346"/>
                      <a:pt x="167" y="19637"/>
                    </a:cubicBezTo>
                    <a:lnTo>
                      <a:pt x="40" y="18836"/>
                    </a:lnTo>
                    <a:lnTo>
                      <a:pt x="0" y="18010"/>
                    </a:lnTo>
                    <a:close/>
                  </a:path>
                </a:pathLst>
              </a:custGeom>
              <a:solidFill>
                <a:schemeClr val="accent3"/>
              </a:solidFill>
              <a:ln>
                <a:noFill/>
              </a:ln>
            </p:spPr>
            <p:txBody>
              <a:bodyPr/>
              <a:lstStyle/>
              <a:p>
                <a:endParaRPr lang="zh-CN" altLang="en-US"/>
              </a:p>
            </p:txBody>
          </p:sp>
          <p:sp>
            <p:nvSpPr>
              <p:cNvPr id="29" name="Freeform 29"/>
              <p:cNvSpPr/>
              <p:nvPr/>
            </p:nvSpPr>
            <p:spPr>
              <a:xfrm>
                <a:off x="6596062" y="4035425"/>
                <a:ext cx="142876" cy="63500"/>
              </a:xfrm>
              <a:custGeom>
                <a:avLst/>
                <a:gdLst/>
                <a:ahLst/>
                <a:cxnLst/>
                <a:rect l="l" t="t" r="r" b="b"/>
                <a:pathLst>
                  <a:path w="142876" h="63500">
                    <a:moveTo>
                      <a:pt x="71438" y="0"/>
                    </a:moveTo>
                    <a:cubicBezTo>
                      <a:pt x="79701" y="0"/>
                      <a:pt x="87662" y="540"/>
                      <a:pt x="95068" y="1572"/>
                    </a:cubicBezTo>
                    <a:lnTo>
                      <a:pt x="98791" y="2135"/>
                    </a:lnTo>
                    <a:cubicBezTo>
                      <a:pt x="103236" y="2876"/>
                      <a:pt x="107432" y="3797"/>
                      <a:pt x="111380" y="4897"/>
                    </a:cubicBezTo>
                    <a:lnTo>
                      <a:pt x="114872" y="5937"/>
                    </a:lnTo>
                    <a:lnTo>
                      <a:pt x="115467" y="6128"/>
                    </a:lnTo>
                    <a:cubicBezTo>
                      <a:pt x="117627" y="6838"/>
                      <a:pt x="119759" y="7632"/>
                      <a:pt x="121857" y="8509"/>
                    </a:cubicBezTo>
                    <a:lnTo>
                      <a:pt x="123437" y="9192"/>
                    </a:lnTo>
                    <a:cubicBezTo>
                      <a:pt x="126268" y="10472"/>
                      <a:pt x="128826" y="11874"/>
                      <a:pt x="131112" y="13398"/>
                    </a:cubicBezTo>
                    <a:cubicBezTo>
                      <a:pt x="131985" y="13981"/>
                      <a:pt x="132813" y="14576"/>
                      <a:pt x="133597" y="15184"/>
                    </a:cubicBezTo>
                    <a:cubicBezTo>
                      <a:pt x="135581" y="16724"/>
                      <a:pt x="137364" y="18505"/>
                      <a:pt x="138907" y="20487"/>
                    </a:cubicBezTo>
                    <a:lnTo>
                      <a:pt x="139629" y="21503"/>
                    </a:lnTo>
                    <a:cubicBezTo>
                      <a:pt x="140000" y="22058"/>
                      <a:pt x="140341" y="22617"/>
                      <a:pt x="140653" y="23177"/>
                    </a:cubicBezTo>
                    <a:lnTo>
                      <a:pt x="141209" y="24281"/>
                    </a:lnTo>
                    <a:cubicBezTo>
                      <a:pt x="142071" y="26133"/>
                      <a:pt x="142600" y="28064"/>
                      <a:pt x="142796" y="30075"/>
                    </a:cubicBezTo>
                    <a:lnTo>
                      <a:pt x="142876" y="31750"/>
                    </a:lnTo>
                    <a:cubicBezTo>
                      <a:pt x="142876" y="51411"/>
                      <a:pt x="110633" y="63500"/>
                      <a:pt x="71438" y="63500"/>
                    </a:cubicBezTo>
                    <a:cubicBezTo>
                      <a:pt x="33354" y="63500"/>
                      <a:pt x="1826" y="52086"/>
                      <a:pt x="167" y="33377"/>
                    </a:cubicBezTo>
                    <a:cubicBezTo>
                      <a:pt x="56" y="32842"/>
                      <a:pt x="0" y="32297"/>
                      <a:pt x="1" y="31750"/>
                    </a:cubicBezTo>
                    <a:lnTo>
                      <a:pt x="40" y="30924"/>
                    </a:lnTo>
                    <a:lnTo>
                      <a:pt x="167" y="30131"/>
                    </a:lnTo>
                    <a:cubicBezTo>
                      <a:pt x="1794" y="11827"/>
                      <a:pt x="31997" y="500"/>
                      <a:pt x="68962" y="16"/>
                    </a:cubicBezTo>
                    <a:close/>
                  </a:path>
                </a:pathLst>
              </a:custGeom>
              <a:solidFill>
                <a:schemeClr val="accent3"/>
              </a:solidFill>
              <a:ln>
                <a:noFill/>
              </a:ln>
            </p:spPr>
            <p:txBody>
              <a:bodyPr/>
              <a:lstStyle/>
              <a:p>
                <a:endParaRPr lang="zh-CN" altLang="en-US"/>
              </a:p>
            </p:txBody>
          </p:sp>
        </p:grpSp>
        <p:sp>
          <p:nvSpPr>
            <p:cNvPr id="31" name="TextBox 31"/>
            <p:cNvSpPr txBox="1"/>
            <p:nvPr/>
          </p:nvSpPr>
          <p:spPr>
            <a:xfrm>
              <a:off x="7002780" y="3981450"/>
              <a:ext cx="1986115"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Dataset contribution</a:t>
              </a:r>
            </a:p>
          </p:txBody>
        </p:sp>
        <p:sp>
          <p:nvSpPr>
            <p:cNvPr id="32" name="TextBox 32"/>
            <p:cNvSpPr txBox="1"/>
            <p:nvPr/>
          </p:nvSpPr>
          <p:spPr>
            <a:xfrm>
              <a:off x="6471666" y="4400550"/>
              <a:ext cx="2613367" cy="453009"/>
            </a:xfrm>
            <a:prstGeom prst="rect">
              <a:avLst/>
            </a:prstGeom>
            <a:noFill/>
            <a:ln>
              <a:noFill/>
            </a:ln>
          </p:spPr>
          <p:txBody>
            <a:bodyPr wrap="none" lIns="0" tIns="0" rIns="0" bIns="0" anchor="t" anchorCtr="0">
              <a:spAutoFit/>
            </a:bodyPr>
            <a:lstStyle/>
            <a:p>
              <a:pPr marL="90691" indent="-90691" algn="l">
                <a:lnSpc>
                  <a:spcPts val="1950"/>
                </a:lnSpc>
                <a:buClr>
                  <a:schemeClr val="dk1"/>
                </a:buClr>
                <a:buSzTx/>
                <a:buFontTx/>
                <a:buChar char="•"/>
              </a:pPr>
              <a:r>
                <a:rPr lang="en" sz="1050" dirty="0">
                  <a:solidFill>
                    <a:schemeClr val="dk1"/>
                  </a:solidFill>
                  <a:latin typeface="+mn-lt"/>
                  <a:ea typeface="+mn-ea"/>
                  <a:cs typeface="+mn-cs"/>
                </a:rPr>
                <a:t>15,316 LTA images · 8 cameras · two weeks</a:t>
              </a:r>
            </a:p>
            <a:p>
              <a:pPr marL="90691" indent="-90691" algn="l">
                <a:lnSpc>
                  <a:spcPts val="1950"/>
                </a:lnSpc>
                <a:buClr>
                  <a:schemeClr val="dk1"/>
                </a:buClr>
                <a:buSzTx/>
                <a:buFontTx/>
                <a:buChar char="•"/>
              </a:pPr>
              <a:r>
                <a:rPr lang="en" sz="1050" dirty="0">
                  <a:solidFill>
                    <a:schemeClr val="dk1"/>
                  </a:solidFill>
                  <a:latin typeface="+mn-lt"/>
                  <a:ea typeface="+mn-ea"/>
                  <a:cs typeface="+mn-cs"/>
                </a:rPr>
                <a:t>Public mirror on Hugging Face</a:t>
              </a:r>
            </a:p>
          </p:txBody>
        </p:sp>
        <p:sp>
          <p:nvSpPr>
            <p:cNvPr id="33" name="TextBox 33"/>
            <p:cNvSpPr txBox="1"/>
            <p:nvPr/>
          </p:nvSpPr>
          <p:spPr>
            <a:xfrm>
              <a:off x="6472047" y="4921250"/>
              <a:ext cx="4475353" cy="195823"/>
            </a:xfrm>
            <a:prstGeom prst="rect">
              <a:avLst/>
            </a:prstGeom>
            <a:noFill/>
            <a:ln>
              <a:noFill/>
            </a:ln>
          </p:spPr>
          <p:txBody>
            <a:bodyPr wrap="square" lIns="0" tIns="0" rIns="0" bIns="0" anchor="t" anchorCtr="0">
              <a:spAutoFit/>
            </a:bodyPr>
            <a:lstStyle/>
            <a:p>
              <a:pPr algn="l">
                <a:lnSpc>
                  <a:spcPts val="1650"/>
                </a:lnSpc>
              </a:pPr>
              <a:r>
                <a:rPr lang="en" sz="980" dirty="0">
                  <a:solidFill>
                    <a:srgbClr val="1E40AF"/>
                  </a:solidFill>
                  <a:latin typeface="Consolas"/>
                  <a:ea typeface="Consolas"/>
                  <a:cs typeface="Consolas"/>
                </a:rPr>
                <a:t>huggingface.co/datasets/LOVEIII486/isy5002-lta-traffic-images</a:t>
              </a:r>
            </a:p>
          </p:txBody>
        </p:sp>
      </p:grpSp>
      <p:grpSp>
        <p:nvGrpSpPr>
          <p:cNvPr id="37" name="p21-footer"/>
          <p:cNvGrpSpPr/>
          <p:nvPr/>
        </p:nvGrpSpPr>
        <p:grpSpPr>
          <a:xfrm>
            <a:off x="609600" y="6515100"/>
            <a:ext cx="10977753" cy="265111"/>
            <a:chOff x="609600" y="6515100"/>
            <a:chExt cx="10977753" cy="265111"/>
          </a:xfrm>
        </p:grpSpPr>
        <p:sp>
          <p:nvSpPr>
            <p:cNvPr id="35" name="Line 35"/>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chemeClr val="accent6"/>
              </a:solidFill>
            </a:ln>
          </p:spPr>
          <p:txBody>
            <a:bodyPr/>
            <a:lstStyle/>
            <a:p>
              <a:endParaRPr lang="zh-CN" altLang="en-US"/>
            </a:p>
          </p:txBody>
        </p:sp>
        <p:sp>
          <p:nvSpPr>
            <p:cNvPr id="36" name="TextBox 36"/>
            <p:cNvSpPr txBox="1"/>
            <p:nvPr/>
          </p:nvSpPr>
          <p:spPr>
            <a:xfrm>
              <a:off x="11587289" y="6629400"/>
              <a:ext cx="64" cy="150811"/>
            </a:xfrm>
            <a:prstGeom prst="rect">
              <a:avLst/>
            </a:prstGeom>
            <a:noFill/>
            <a:ln>
              <a:noFill/>
            </a:ln>
          </p:spPr>
          <p:txBody>
            <a:bodyPr wrap="none" lIns="0" tIns="0" rIns="0" bIns="0" anchor="t" anchorCtr="0">
              <a:spAutoFit/>
            </a:bodyPr>
            <a:lstStyle/>
            <a:p>
              <a:pPr algn="r"/>
              <a:endParaRPr lang="en" sz="980" dirty="0">
                <a:solidFill>
                  <a:schemeClr val="accent5"/>
                </a:solidFill>
                <a:latin typeface="Consolas"/>
                <a:ea typeface="Consolas"/>
                <a:cs typeface="Consola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293B"/>
            </a:gs>
          </a:gsLst>
          <a:lin ang="2700000" scaled="1"/>
        </a:gradFill>
        <a:effectLst/>
      </p:bgPr>
    </p:bg>
    <p:spTree>
      <p:nvGrpSpPr>
        <p:cNvPr id="1" name=""/>
        <p:cNvGrpSpPr/>
        <p:nvPr/>
      </p:nvGrpSpPr>
      <p:grpSpPr>
        <a:xfrm>
          <a:off x="0" y="0"/>
          <a:ext cx="0" cy="0"/>
          <a:chOff x="0" y="0"/>
          <a:chExt cx="0" cy="0"/>
        </a:xfrm>
      </p:grpSpPr>
      <p:sp>
        <p:nvSpPr>
          <p:cNvPr id="3" name="TextBox 3"/>
          <p:cNvSpPr txBox="1"/>
          <p:nvPr/>
        </p:nvSpPr>
        <p:spPr>
          <a:xfrm>
            <a:off x="590550" y="1955800"/>
            <a:ext cx="3183115" cy="646331"/>
          </a:xfrm>
          <a:prstGeom prst="rect">
            <a:avLst/>
          </a:prstGeom>
          <a:noFill/>
          <a:ln>
            <a:noFill/>
          </a:ln>
        </p:spPr>
        <p:txBody>
          <a:bodyPr wrap="none" lIns="0" tIns="0" rIns="0" bIns="0" anchor="t" anchorCtr="0">
            <a:spAutoFit/>
          </a:bodyPr>
          <a:lstStyle/>
          <a:p>
            <a:pPr algn="l"/>
            <a:r>
              <a:rPr lang="en" sz="4200" b="1" dirty="0">
                <a:solidFill>
                  <a:srgbClr val="FFFFFF"/>
                </a:solidFill>
                <a:latin typeface="+mn-lt"/>
                <a:ea typeface="+mn-ea"/>
                <a:cs typeface="+mn-cs"/>
              </a:rPr>
              <a:t>Thank you</a:t>
            </a:r>
            <a:r>
              <a:rPr lang="zh-CN" altLang="en-US" sz="4200" b="1" dirty="0">
                <a:solidFill>
                  <a:srgbClr val="FFFFFF"/>
                </a:solidFill>
                <a:latin typeface="+mn-lt"/>
                <a:ea typeface="+mn-ea"/>
                <a:cs typeface="+mn-cs"/>
              </a:rPr>
              <a:t>！</a:t>
            </a:r>
            <a:endParaRPr lang="en" sz="4200" b="1" dirty="0">
              <a:solidFill>
                <a:srgbClr val="FFFFFF"/>
              </a:solidFill>
              <a:latin typeface="+mn-lt"/>
              <a:ea typeface="+mn-ea"/>
              <a:cs typeface="+mn-cs"/>
            </a:endParaRPr>
          </a:p>
        </p:txBody>
      </p:sp>
      <p:grpSp>
        <p:nvGrpSpPr>
          <p:cNvPr id="8" name="p22-meta"/>
          <p:cNvGrpSpPr/>
          <p:nvPr/>
        </p:nvGrpSpPr>
        <p:grpSpPr>
          <a:xfrm>
            <a:off x="603885" y="5632450"/>
            <a:ext cx="3485342" cy="483743"/>
            <a:chOff x="603885" y="5632450"/>
            <a:chExt cx="3485342" cy="483743"/>
          </a:xfrm>
        </p:grpSpPr>
        <p:sp>
          <p:nvSpPr>
            <p:cNvPr id="6" name="TextBox 6"/>
            <p:cNvSpPr txBox="1"/>
            <p:nvPr/>
          </p:nvSpPr>
          <p:spPr>
            <a:xfrm>
              <a:off x="603885" y="5632450"/>
              <a:ext cx="2513680" cy="220028"/>
            </a:xfrm>
            <a:prstGeom prst="rect">
              <a:avLst/>
            </a:prstGeom>
            <a:noFill/>
            <a:ln>
              <a:noFill/>
            </a:ln>
          </p:spPr>
          <p:txBody>
            <a:bodyPr wrap="none" lIns="0" tIns="0" rIns="0" bIns="0" anchor="t" anchorCtr="0">
              <a:spAutoFit/>
            </a:bodyPr>
            <a:lstStyle/>
            <a:p>
              <a:pPr algn="l"/>
              <a:r>
                <a:rPr lang="en" sz="1120" dirty="0">
                  <a:solidFill>
                    <a:srgbClr val="CBD5E1"/>
                  </a:solidFill>
                  <a:latin typeface="+mn-lt"/>
                  <a:ea typeface="+mn-ea"/>
                  <a:cs typeface="+mn-cs"/>
                </a:rPr>
                <a:t>ISY5002 Pattern Recognition Systems</a:t>
              </a:r>
            </a:p>
          </p:txBody>
        </p:sp>
        <p:sp>
          <p:nvSpPr>
            <p:cNvPr id="7" name="TextBox 7"/>
            <p:cNvSpPr txBox="1"/>
            <p:nvPr/>
          </p:nvSpPr>
          <p:spPr>
            <a:xfrm>
              <a:off x="604647" y="5924550"/>
              <a:ext cx="3484580" cy="191643"/>
            </a:xfrm>
            <a:prstGeom prst="rect">
              <a:avLst/>
            </a:prstGeom>
            <a:noFill/>
            <a:ln>
              <a:noFill/>
            </a:ln>
          </p:spPr>
          <p:txBody>
            <a:bodyPr wrap="none" lIns="0" tIns="0" rIns="0" bIns="0" anchor="t" anchorCtr="0">
              <a:spAutoFit/>
            </a:bodyPr>
            <a:lstStyle/>
            <a:p>
              <a:pPr algn="l"/>
              <a:r>
                <a:rPr lang="en" sz="980" dirty="0">
                  <a:solidFill>
                    <a:srgbClr val="5EEAD4"/>
                  </a:solidFill>
                  <a:latin typeface="Consolas"/>
                  <a:ea typeface="Consolas"/>
                  <a:cs typeface="Consolas"/>
                </a:rPr>
                <a:t>github.com/LOVEIII486/ISY5002-TrafficPrediction</a:t>
              </a:r>
            </a:p>
          </p:txBody>
        </p:sp>
      </p:grpSp>
      <p:grpSp>
        <p:nvGrpSpPr>
          <p:cNvPr id="26" name="p22-motif"/>
          <p:cNvGrpSpPr/>
          <p:nvPr/>
        </p:nvGrpSpPr>
        <p:grpSpPr>
          <a:xfrm>
            <a:off x="7753350" y="1562100"/>
            <a:ext cx="3352800" cy="3352800"/>
            <a:chOff x="7753350" y="1562100"/>
            <a:chExt cx="3352800" cy="3352800"/>
          </a:xfrm>
        </p:grpSpPr>
        <p:sp>
          <p:nvSpPr>
            <p:cNvPr id="9" name="Ellipse 9"/>
            <p:cNvSpPr/>
            <p:nvPr/>
          </p:nvSpPr>
          <p:spPr>
            <a:xfrm>
              <a:off x="7753350" y="1562100"/>
              <a:ext cx="3352800" cy="3352800"/>
            </a:xfrm>
            <a:prstGeom prst="ellipse">
              <a:avLst/>
            </a:prstGeom>
            <a:noFill/>
            <a:ln w="9525">
              <a:solidFill>
                <a:srgbClr val="334155"/>
              </a:solidFill>
            </a:ln>
          </p:spPr>
          <p:txBody>
            <a:bodyPr/>
            <a:lstStyle/>
            <a:p>
              <a:endParaRPr lang="zh-CN" altLang="en-US"/>
            </a:p>
          </p:txBody>
        </p:sp>
        <p:sp>
          <p:nvSpPr>
            <p:cNvPr id="10" name="Line 10"/>
            <p:cNvSpPr/>
            <p:nvPr/>
          </p:nvSpPr>
          <p:spPr>
            <a:xfrm>
              <a:off x="8420100" y="2209800"/>
              <a:ext cx="914400" cy="952500"/>
            </a:xfrm>
            <a:custGeom>
              <a:avLst/>
              <a:gdLst/>
              <a:ahLst/>
              <a:cxnLst/>
              <a:rect l="l" t="t" r="r" b="b"/>
              <a:pathLst>
                <a:path w="914400" h="952500">
                  <a:moveTo>
                    <a:pt x="0" y="0"/>
                  </a:moveTo>
                  <a:lnTo>
                    <a:pt x="914400" y="952500"/>
                  </a:lnTo>
                </a:path>
              </a:pathLst>
            </a:custGeom>
            <a:noFill/>
            <a:ln w="19050">
              <a:solidFill>
                <a:srgbClr val="475569"/>
              </a:solidFill>
            </a:ln>
          </p:spPr>
          <p:txBody>
            <a:bodyPr/>
            <a:lstStyle/>
            <a:p>
              <a:endParaRPr lang="zh-CN" altLang="en-US"/>
            </a:p>
          </p:txBody>
        </p:sp>
        <p:sp>
          <p:nvSpPr>
            <p:cNvPr id="11" name="Line 11"/>
            <p:cNvSpPr/>
            <p:nvPr/>
          </p:nvSpPr>
          <p:spPr>
            <a:xfrm>
              <a:off x="8420100" y="3162300"/>
              <a:ext cx="914400" cy="952500"/>
            </a:xfrm>
            <a:custGeom>
              <a:avLst/>
              <a:gdLst/>
              <a:ahLst/>
              <a:cxnLst/>
              <a:rect l="l" t="t" r="r" b="b"/>
              <a:pathLst>
                <a:path w="914400" h="952500">
                  <a:moveTo>
                    <a:pt x="0" y="952500"/>
                  </a:moveTo>
                  <a:lnTo>
                    <a:pt x="914400" y="0"/>
                  </a:lnTo>
                </a:path>
              </a:pathLst>
            </a:custGeom>
            <a:noFill/>
            <a:ln w="19050">
              <a:solidFill>
                <a:srgbClr val="475569"/>
              </a:solidFill>
            </a:ln>
          </p:spPr>
          <p:txBody>
            <a:bodyPr/>
            <a:lstStyle/>
            <a:p>
              <a:endParaRPr lang="zh-CN" altLang="en-US"/>
            </a:p>
          </p:txBody>
        </p:sp>
        <p:sp>
          <p:nvSpPr>
            <p:cNvPr id="12" name="Line 12"/>
            <p:cNvSpPr/>
            <p:nvPr/>
          </p:nvSpPr>
          <p:spPr>
            <a:xfrm>
              <a:off x="9334500" y="2209800"/>
              <a:ext cx="1333500" cy="952500"/>
            </a:xfrm>
            <a:custGeom>
              <a:avLst/>
              <a:gdLst/>
              <a:ahLst/>
              <a:cxnLst/>
              <a:rect l="l" t="t" r="r" b="b"/>
              <a:pathLst>
                <a:path w="1333500" h="952500">
                  <a:moveTo>
                    <a:pt x="0" y="952500"/>
                  </a:moveTo>
                  <a:lnTo>
                    <a:pt x="1333500" y="0"/>
                  </a:lnTo>
                </a:path>
              </a:pathLst>
            </a:custGeom>
            <a:noFill/>
            <a:ln w="19050">
              <a:solidFill>
                <a:srgbClr val="475569"/>
              </a:solidFill>
            </a:ln>
          </p:spPr>
          <p:txBody>
            <a:bodyPr/>
            <a:lstStyle/>
            <a:p>
              <a:endParaRPr lang="zh-CN" altLang="en-US"/>
            </a:p>
          </p:txBody>
        </p:sp>
        <p:sp>
          <p:nvSpPr>
            <p:cNvPr id="13" name="Rectangle 13"/>
            <p:cNvSpPr/>
            <p:nvPr/>
          </p:nvSpPr>
          <p:spPr>
            <a:xfrm>
              <a:off x="7810500" y="1905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sp>
          <p:nvSpPr>
            <p:cNvPr id="14" name="Freeform 14"/>
            <p:cNvSpPr/>
            <p:nvPr/>
          </p:nvSpPr>
          <p:spPr>
            <a:xfrm>
              <a:off x="8020049" y="2124072"/>
              <a:ext cx="190502" cy="171454"/>
            </a:xfrm>
            <a:custGeom>
              <a:avLst/>
              <a:gdLst/>
              <a:ahLst/>
              <a:cxnLst/>
              <a:rect l="l" t="t" r="r" b="b"/>
              <a:pathLst>
                <a:path w="190502" h="171454">
                  <a:moveTo>
                    <a:pt x="123826" y="3"/>
                  </a:moveTo>
                  <a:cubicBezTo>
                    <a:pt x="133795" y="0"/>
                    <a:pt x="142081" y="7683"/>
                    <a:pt x="142828" y="17624"/>
                  </a:cubicBezTo>
                  <a:lnTo>
                    <a:pt x="142876" y="19053"/>
                  </a:lnTo>
                  <a:cubicBezTo>
                    <a:pt x="142876" y="23882"/>
                    <a:pt x="146491" y="27946"/>
                    <a:pt x="151286" y="28511"/>
                  </a:cubicBezTo>
                  <a:lnTo>
                    <a:pt x="152401" y="28578"/>
                  </a:lnTo>
                  <a:lnTo>
                    <a:pt x="161926" y="28578"/>
                  </a:lnTo>
                  <a:cubicBezTo>
                    <a:pt x="177057" y="28577"/>
                    <a:pt x="189566" y="40372"/>
                    <a:pt x="190453" y="55477"/>
                  </a:cubicBezTo>
                  <a:lnTo>
                    <a:pt x="190501" y="57153"/>
                  </a:lnTo>
                  <a:lnTo>
                    <a:pt x="190501" y="142878"/>
                  </a:lnTo>
                  <a:cubicBezTo>
                    <a:pt x="190502" y="158009"/>
                    <a:pt x="178707" y="170518"/>
                    <a:pt x="163602" y="171406"/>
                  </a:cubicBezTo>
                  <a:lnTo>
                    <a:pt x="161926" y="171453"/>
                  </a:lnTo>
                  <a:lnTo>
                    <a:pt x="28576" y="171453"/>
                  </a:lnTo>
                  <a:cubicBezTo>
                    <a:pt x="13445" y="171454"/>
                    <a:pt x="936" y="159660"/>
                    <a:pt x="48" y="144555"/>
                  </a:cubicBezTo>
                  <a:lnTo>
                    <a:pt x="1" y="142878"/>
                  </a:lnTo>
                  <a:lnTo>
                    <a:pt x="1" y="57153"/>
                  </a:lnTo>
                  <a:cubicBezTo>
                    <a:pt x="0" y="42022"/>
                    <a:pt x="11794" y="29513"/>
                    <a:pt x="26899" y="28626"/>
                  </a:cubicBezTo>
                  <a:lnTo>
                    <a:pt x="28576" y="28578"/>
                  </a:lnTo>
                  <a:lnTo>
                    <a:pt x="38101" y="28578"/>
                  </a:lnTo>
                  <a:cubicBezTo>
                    <a:pt x="43361" y="28578"/>
                    <a:pt x="47626" y="24314"/>
                    <a:pt x="47626" y="19053"/>
                  </a:cubicBezTo>
                  <a:cubicBezTo>
                    <a:pt x="47623" y="9084"/>
                    <a:pt x="55306" y="798"/>
                    <a:pt x="65247" y="51"/>
                  </a:cubicBezTo>
                  <a:lnTo>
                    <a:pt x="66676" y="3"/>
                  </a:lnTo>
                  <a:lnTo>
                    <a:pt x="123826" y="3"/>
                  </a:lnTo>
                  <a:close/>
                  <a:moveTo>
                    <a:pt x="95251" y="66678"/>
                  </a:moveTo>
                  <a:cubicBezTo>
                    <a:pt x="80582" y="66677"/>
                    <a:pt x="68295" y="77783"/>
                    <a:pt x="66819" y="92377"/>
                  </a:cubicBezTo>
                  <a:lnTo>
                    <a:pt x="66714" y="93824"/>
                  </a:lnTo>
                  <a:lnTo>
                    <a:pt x="66676" y="95253"/>
                  </a:lnTo>
                  <a:lnTo>
                    <a:pt x="66714" y="96682"/>
                  </a:lnTo>
                  <a:cubicBezTo>
                    <a:pt x="67494" y="112258"/>
                    <a:pt x="80619" y="124333"/>
                    <a:pt x="96207" y="123812"/>
                  </a:cubicBezTo>
                  <a:cubicBezTo>
                    <a:pt x="111794" y="123292"/>
                    <a:pt x="124085" y="110369"/>
                    <a:pt x="123824" y="94775"/>
                  </a:cubicBezTo>
                  <a:cubicBezTo>
                    <a:pt x="123563" y="79181"/>
                    <a:pt x="110847" y="66677"/>
                    <a:pt x="95251" y="66678"/>
                  </a:cubicBezTo>
                  <a:close/>
                </a:path>
              </a:pathLst>
            </a:custGeom>
            <a:solidFill>
              <a:srgbClr val="38BDF8"/>
            </a:solidFill>
            <a:ln>
              <a:noFill/>
            </a:ln>
          </p:spPr>
          <p:txBody>
            <a:bodyPr/>
            <a:lstStyle/>
            <a:p>
              <a:endParaRPr lang="zh-CN" altLang="en-US"/>
            </a:p>
          </p:txBody>
        </p:sp>
        <p:sp>
          <p:nvSpPr>
            <p:cNvPr id="15" name="Rectangle 15"/>
            <p:cNvSpPr/>
            <p:nvPr/>
          </p:nvSpPr>
          <p:spPr>
            <a:xfrm>
              <a:off x="7810500" y="3810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grpSp>
          <p:nvGrpSpPr>
            <p:cNvPr id="19" name="Group 19"/>
            <p:cNvGrpSpPr/>
            <p:nvPr/>
          </p:nvGrpSpPr>
          <p:grpSpPr>
            <a:xfrm>
              <a:off x="8029574" y="4019550"/>
              <a:ext cx="171451" cy="190500"/>
              <a:chOff x="8029574" y="4019550"/>
              <a:chExt cx="171451" cy="190500"/>
            </a:xfrm>
          </p:grpSpPr>
          <p:sp>
            <p:nvSpPr>
              <p:cNvPr id="16" name="Freeform 16"/>
              <p:cNvSpPr/>
              <p:nvPr/>
            </p:nvSpPr>
            <p:spPr>
              <a:xfrm>
                <a:off x="8029575" y="415033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4710"/>
                      <a:pt x="134350" y="59103"/>
                      <a:pt x="88649" y="59693"/>
                    </a:cubicBezTo>
                    <a:lnTo>
                      <a:pt x="85725" y="59712"/>
                    </a:lnTo>
                    <a:cubicBezTo>
                      <a:pt x="38691" y="59712"/>
                      <a:pt x="0" y="45206"/>
                      <a:pt x="0" y="21612"/>
                    </a:cubicBezTo>
                    <a:close/>
                  </a:path>
                </a:pathLst>
              </a:custGeom>
              <a:solidFill>
                <a:srgbClr val="38BDF8"/>
              </a:solidFill>
              <a:ln>
                <a:noFill/>
              </a:ln>
            </p:spPr>
            <p:txBody>
              <a:bodyPr/>
              <a:lstStyle/>
              <a:p>
                <a:endParaRPr lang="zh-CN" altLang="en-US"/>
              </a:p>
            </p:txBody>
          </p:sp>
          <p:sp>
            <p:nvSpPr>
              <p:cNvPr id="17" name="Freeform 17"/>
              <p:cNvSpPr/>
              <p:nvPr/>
            </p:nvSpPr>
            <p:spPr>
              <a:xfrm>
                <a:off x="8029575" y="4093188"/>
                <a:ext cx="171450" cy="59712"/>
              </a:xfrm>
              <a:custGeom>
                <a:avLst/>
                <a:gdLst/>
                <a:ahLst/>
                <a:cxnLst/>
                <a:rect l="l" t="t" r="r" b="b"/>
                <a:pathLst>
                  <a:path w="171450" h="59712">
                    <a:moveTo>
                      <a:pt x="0" y="0"/>
                    </a:moveTo>
                    <a:cubicBezTo>
                      <a:pt x="18745" y="14354"/>
                      <a:pt x="49854" y="21612"/>
                      <a:pt x="85725" y="21612"/>
                    </a:cubicBezTo>
                    <a:cubicBezTo>
                      <a:pt x="121539" y="21612"/>
                      <a:pt x="152638" y="14373"/>
                      <a:pt x="171450" y="162"/>
                    </a:cubicBezTo>
                    <a:lnTo>
                      <a:pt x="171450" y="21612"/>
                    </a:lnTo>
                    <a:cubicBezTo>
                      <a:pt x="171450" y="45206"/>
                      <a:pt x="132759" y="59712"/>
                      <a:pt x="85725" y="59712"/>
                    </a:cubicBezTo>
                    <a:cubicBezTo>
                      <a:pt x="40024" y="59712"/>
                      <a:pt x="2191" y="46015"/>
                      <a:pt x="200" y="23565"/>
                    </a:cubicBezTo>
                    <a:lnTo>
                      <a:pt x="48" y="22603"/>
                    </a:lnTo>
                    <a:lnTo>
                      <a:pt x="0" y="21612"/>
                    </a:lnTo>
                    <a:close/>
                  </a:path>
                </a:pathLst>
              </a:custGeom>
              <a:solidFill>
                <a:srgbClr val="38BDF8"/>
              </a:solidFill>
              <a:ln>
                <a:noFill/>
              </a:ln>
            </p:spPr>
            <p:txBody>
              <a:bodyPr/>
              <a:lstStyle/>
              <a:p>
                <a:endParaRPr lang="zh-CN" altLang="en-US"/>
              </a:p>
            </p:txBody>
          </p:sp>
          <p:sp>
            <p:nvSpPr>
              <p:cNvPr id="18" name="Freeform 18"/>
              <p:cNvSpPr/>
              <p:nvPr/>
            </p:nvSpPr>
            <p:spPr>
              <a:xfrm>
                <a:off x="8029574" y="4019550"/>
                <a:ext cx="171451" cy="76200"/>
              </a:xfrm>
              <a:custGeom>
                <a:avLst/>
                <a:gdLst/>
                <a:ahLst/>
                <a:cxnLst/>
                <a:rect l="l" t="t" r="r" b="b"/>
                <a:pathLst>
                  <a:path w="171451" h="76200">
                    <a:moveTo>
                      <a:pt x="85726" y="0"/>
                    </a:moveTo>
                    <a:cubicBezTo>
                      <a:pt x="95641" y="0"/>
                      <a:pt x="105195" y="648"/>
                      <a:pt x="114082" y="1886"/>
                    </a:cubicBezTo>
                    <a:lnTo>
                      <a:pt x="118549" y="2562"/>
                    </a:lnTo>
                    <a:cubicBezTo>
                      <a:pt x="123883" y="3451"/>
                      <a:pt x="128918" y="4556"/>
                      <a:pt x="133656" y="5877"/>
                    </a:cubicBezTo>
                    <a:lnTo>
                      <a:pt x="137847" y="7125"/>
                    </a:lnTo>
                    <a:lnTo>
                      <a:pt x="138561" y="7353"/>
                    </a:lnTo>
                    <a:cubicBezTo>
                      <a:pt x="141153" y="8206"/>
                      <a:pt x="143711" y="9159"/>
                      <a:pt x="146229" y="10211"/>
                    </a:cubicBezTo>
                    <a:lnTo>
                      <a:pt x="148124" y="11030"/>
                    </a:lnTo>
                    <a:cubicBezTo>
                      <a:pt x="151521" y="12567"/>
                      <a:pt x="154591" y="14249"/>
                      <a:pt x="157335" y="16078"/>
                    </a:cubicBezTo>
                    <a:cubicBezTo>
                      <a:pt x="158382" y="16777"/>
                      <a:pt x="159376" y="17491"/>
                      <a:pt x="160316" y="18221"/>
                    </a:cubicBezTo>
                    <a:cubicBezTo>
                      <a:pt x="162697" y="20069"/>
                      <a:pt x="164837" y="22206"/>
                      <a:pt x="166688" y="24584"/>
                    </a:cubicBezTo>
                    <a:lnTo>
                      <a:pt x="167555" y="25803"/>
                    </a:lnTo>
                    <a:cubicBezTo>
                      <a:pt x="168000" y="26470"/>
                      <a:pt x="168409" y="27140"/>
                      <a:pt x="168784" y="27813"/>
                    </a:cubicBezTo>
                    <a:lnTo>
                      <a:pt x="169450" y="29137"/>
                    </a:lnTo>
                    <a:cubicBezTo>
                      <a:pt x="170486" y="31359"/>
                      <a:pt x="171121" y="33677"/>
                      <a:pt x="171355" y="36090"/>
                    </a:cubicBezTo>
                    <a:lnTo>
                      <a:pt x="171451" y="38100"/>
                    </a:lnTo>
                    <a:cubicBezTo>
                      <a:pt x="171451" y="61693"/>
                      <a:pt x="132760" y="76200"/>
                      <a:pt x="85726" y="76200"/>
                    </a:cubicBezTo>
                    <a:cubicBezTo>
                      <a:pt x="40025" y="76200"/>
                      <a:pt x="2191" y="62503"/>
                      <a:pt x="201" y="40053"/>
                    </a:cubicBezTo>
                    <a:cubicBezTo>
                      <a:pt x="67" y="39410"/>
                      <a:pt x="0" y="38756"/>
                      <a:pt x="1" y="38100"/>
                    </a:cubicBezTo>
                    <a:lnTo>
                      <a:pt x="48" y="37109"/>
                    </a:lnTo>
                    <a:lnTo>
                      <a:pt x="201" y="36157"/>
                    </a:lnTo>
                    <a:cubicBezTo>
                      <a:pt x="2153" y="14192"/>
                      <a:pt x="38396" y="600"/>
                      <a:pt x="82754" y="19"/>
                    </a:cubicBezTo>
                    <a:close/>
                  </a:path>
                </a:pathLst>
              </a:custGeom>
              <a:solidFill>
                <a:srgbClr val="38BDF8"/>
              </a:solidFill>
              <a:ln>
                <a:noFill/>
              </a:ln>
            </p:spPr>
            <p:txBody>
              <a:bodyPr/>
              <a:lstStyle/>
              <a:p>
                <a:endParaRPr lang="zh-CN" altLang="en-US"/>
              </a:p>
            </p:txBody>
          </p:sp>
        </p:grpSp>
        <p:sp>
          <p:nvSpPr>
            <p:cNvPr id="20" name="Rectangle 20"/>
            <p:cNvSpPr/>
            <p:nvPr/>
          </p:nvSpPr>
          <p:spPr>
            <a:xfrm>
              <a:off x="9029700" y="28575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grpSp>
          <p:nvGrpSpPr>
            <p:cNvPr id="23" name="Group 23"/>
            <p:cNvGrpSpPr/>
            <p:nvPr/>
          </p:nvGrpSpPr>
          <p:grpSpPr>
            <a:xfrm>
              <a:off x="9247648" y="3075425"/>
              <a:ext cx="173506" cy="163075"/>
              <a:chOff x="9247648" y="3075425"/>
              <a:chExt cx="173506" cy="163075"/>
            </a:xfrm>
          </p:grpSpPr>
          <p:sp>
            <p:nvSpPr>
              <p:cNvPr id="21" name="Freeform 21"/>
              <p:cNvSpPr/>
              <p:nvPr/>
            </p:nvSpPr>
            <p:spPr>
              <a:xfrm>
                <a:off x="9248775" y="3132539"/>
                <a:ext cx="171450" cy="105961"/>
              </a:xfrm>
              <a:custGeom>
                <a:avLst/>
                <a:gdLst/>
                <a:ahLst/>
                <a:cxnLst/>
                <a:rect l="l" t="t" r="r" b="b"/>
                <a:pathLst>
                  <a:path w="171450" h="105961">
                    <a:moveTo>
                      <a:pt x="116396" y="4758"/>
                    </a:moveTo>
                    <a:cubicBezTo>
                      <a:pt x="119648" y="700"/>
                      <a:pt x="125554" y="0"/>
                      <a:pt x="129664" y="3186"/>
                    </a:cubicBezTo>
                    <a:lnTo>
                      <a:pt x="130559" y="3977"/>
                    </a:lnTo>
                    <a:lnTo>
                      <a:pt x="168659" y="42077"/>
                    </a:lnTo>
                    <a:cubicBezTo>
                      <a:pt x="170140" y="43558"/>
                      <a:pt x="171090" y="45487"/>
                      <a:pt x="171364" y="47563"/>
                    </a:cubicBezTo>
                    <a:lnTo>
                      <a:pt x="171450" y="48811"/>
                    </a:lnTo>
                    <a:lnTo>
                      <a:pt x="171450" y="96436"/>
                    </a:lnTo>
                    <a:cubicBezTo>
                      <a:pt x="171449" y="101265"/>
                      <a:pt x="167835" y="105329"/>
                      <a:pt x="163039" y="105894"/>
                    </a:cubicBezTo>
                    <a:lnTo>
                      <a:pt x="161925" y="105961"/>
                    </a:lnTo>
                    <a:lnTo>
                      <a:pt x="9315" y="105961"/>
                    </a:lnTo>
                    <a:lnTo>
                      <a:pt x="8268" y="105875"/>
                    </a:lnTo>
                    <a:lnTo>
                      <a:pt x="7220" y="105685"/>
                    </a:lnTo>
                    <a:lnTo>
                      <a:pt x="6201" y="105361"/>
                    </a:lnTo>
                    <a:lnTo>
                      <a:pt x="5201" y="104923"/>
                    </a:lnTo>
                    <a:lnTo>
                      <a:pt x="4248" y="104361"/>
                    </a:lnTo>
                    <a:lnTo>
                      <a:pt x="3353" y="103694"/>
                    </a:lnTo>
                    <a:lnTo>
                      <a:pt x="2781" y="103170"/>
                    </a:lnTo>
                    <a:lnTo>
                      <a:pt x="2096" y="102389"/>
                    </a:lnTo>
                    <a:lnTo>
                      <a:pt x="1486" y="101541"/>
                    </a:lnTo>
                    <a:lnTo>
                      <a:pt x="972" y="100627"/>
                    </a:lnTo>
                    <a:lnTo>
                      <a:pt x="819" y="100293"/>
                    </a:lnTo>
                    <a:lnTo>
                      <a:pt x="438" y="99312"/>
                    </a:lnTo>
                    <a:lnTo>
                      <a:pt x="181" y="98303"/>
                    </a:lnTo>
                    <a:lnTo>
                      <a:pt x="38" y="97274"/>
                    </a:lnTo>
                    <a:lnTo>
                      <a:pt x="0" y="96226"/>
                    </a:lnTo>
                    <a:lnTo>
                      <a:pt x="86" y="95179"/>
                    </a:lnTo>
                    <a:lnTo>
                      <a:pt x="267" y="94178"/>
                    </a:lnTo>
                    <a:cubicBezTo>
                      <a:pt x="362" y="93797"/>
                      <a:pt x="476" y="93445"/>
                      <a:pt x="600" y="93112"/>
                    </a:cubicBezTo>
                    <a:lnTo>
                      <a:pt x="1038" y="92112"/>
                    </a:lnTo>
                    <a:lnTo>
                      <a:pt x="1600" y="91159"/>
                    </a:lnTo>
                    <a:lnTo>
                      <a:pt x="39700" y="34009"/>
                    </a:lnTo>
                    <a:cubicBezTo>
                      <a:pt x="42113" y="30377"/>
                      <a:pt x="46684" y="28847"/>
                      <a:pt x="50797" y="30294"/>
                    </a:cubicBezTo>
                    <a:lnTo>
                      <a:pt x="51883" y="30771"/>
                    </a:lnTo>
                    <a:lnTo>
                      <a:pt x="83096" y="46372"/>
                    </a:lnTo>
                    <a:lnTo>
                      <a:pt x="116386" y="4758"/>
                    </a:lnTo>
                    <a:close/>
                  </a:path>
                </a:pathLst>
              </a:custGeom>
              <a:solidFill>
                <a:srgbClr val="2DD4BF"/>
              </a:solidFill>
              <a:ln>
                <a:noFill/>
              </a:ln>
            </p:spPr>
            <p:txBody>
              <a:bodyPr/>
              <a:lstStyle/>
              <a:p>
                <a:endParaRPr lang="zh-CN" altLang="en-US"/>
              </a:p>
            </p:txBody>
          </p:sp>
          <p:sp>
            <p:nvSpPr>
              <p:cNvPr id="22" name="Freeform 22"/>
              <p:cNvSpPr/>
              <p:nvPr/>
            </p:nvSpPr>
            <p:spPr>
              <a:xfrm>
                <a:off x="9247648" y="3075425"/>
                <a:ext cx="173506" cy="97527"/>
              </a:xfrm>
              <a:custGeom>
                <a:avLst/>
                <a:gdLst/>
                <a:ahLst/>
                <a:cxnLst/>
                <a:rect l="l" t="t" r="r" b="b"/>
                <a:pathLst>
                  <a:path w="173506" h="97527">
                    <a:moveTo>
                      <a:pt x="117637" y="4579"/>
                    </a:moveTo>
                    <a:cubicBezTo>
                      <a:pt x="120923" y="632"/>
                      <a:pt x="126745" y="0"/>
                      <a:pt x="130801" y="3150"/>
                    </a:cubicBezTo>
                    <a:lnTo>
                      <a:pt x="131687" y="3941"/>
                    </a:lnTo>
                    <a:lnTo>
                      <a:pt x="169787" y="42041"/>
                    </a:lnTo>
                    <a:cubicBezTo>
                      <a:pt x="173332" y="45598"/>
                      <a:pt x="173506" y="51297"/>
                      <a:pt x="170184" y="55064"/>
                    </a:cubicBezTo>
                    <a:cubicBezTo>
                      <a:pt x="166863" y="58831"/>
                      <a:pt x="161187" y="59372"/>
                      <a:pt x="157214" y="56300"/>
                    </a:cubicBezTo>
                    <a:lnTo>
                      <a:pt x="156318" y="55509"/>
                    </a:lnTo>
                    <a:lnTo>
                      <a:pt x="125591" y="24791"/>
                    </a:lnTo>
                    <a:lnTo>
                      <a:pt x="84643" y="73921"/>
                    </a:lnTo>
                    <a:cubicBezTo>
                      <a:pt x="82095" y="76976"/>
                      <a:pt x="77918" y="78127"/>
                      <a:pt x="74165" y="76807"/>
                    </a:cubicBezTo>
                    <a:lnTo>
                      <a:pt x="73070" y="76340"/>
                    </a:lnTo>
                    <a:lnTo>
                      <a:pt x="42075" y="60853"/>
                    </a:lnTo>
                    <a:lnTo>
                      <a:pt x="18272" y="92590"/>
                    </a:lnTo>
                    <a:cubicBezTo>
                      <a:pt x="15393" y="96429"/>
                      <a:pt x="10108" y="97527"/>
                      <a:pt x="5938" y="95152"/>
                    </a:cubicBezTo>
                    <a:lnTo>
                      <a:pt x="4937" y="94495"/>
                    </a:lnTo>
                    <a:cubicBezTo>
                      <a:pt x="1098" y="91616"/>
                      <a:pt x="0" y="86330"/>
                      <a:pt x="2375" y="82160"/>
                    </a:cubicBezTo>
                    <a:lnTo>
                      <a:pt x="3032" y="81160"/>
                    </a:lnTo>
                    <a:lnTo>
                      <a:pt x="31607" y="43060"/>
                    </a:lnTo>
                    <a:cubicBezTo>
                      <a:pt x="34115" y="39720"/>
                      <a:pt x="38506" y="38403"/>
                      <a:pt x="42437" y="39812"/>
                    </a:cubicBezTo>
                    <a:lnTo>
                      <a:pt x="43485" y="40259"/>
                    </a:lnTo>
                    <a:lnTo>
                      <a:pt x="74832" y="55928"/>
                    </a:lnTo>
                    <a:lnTo>
                      <a:pt x="117637" y="4579"/>
                    </a:lnTo>
                    <a:close/>
                  </a:path>
                </a:pathLst>
              </a:custGeom>
              <a:solidFill>
                <a:srgbClr val="2DD4BF"/>
              </a:solidFill>
              <a:ln>
                <a:noFill/>
              </a:ln>
            </p:spPr>
            <p:txBody>
              <a:bodyPr/>
              <a:lstStyle/>
              <a:p>
                <a:endParaRPr lang="zh-CN" altLang="en-US"/>
              </a:p>
            </p:txBody>
          </p:sp>
        </p:grpSp>
        <p:sp>
          <p:nvSpPr>
            <p:cNvPr id="24" name="Rectangle 24"/>
            <p:cNvSpPr/>
            <p:nvPr/>
          </p:nvSpPr>
          <p:spPr>
            <a:xfrm>
              <a:off x="10363200" y="1905000"/>
              <a:ext cx="609600" cy="609600"/>
            </a:xfrm>
            <a:prstGeom prst="roundRect">
              <a:avLst>
                <a:gd name="adj" fmla="val 21875"/>
              </a:avLst>
            </a:prstGeom>
            <a:solidFill>
              <a:schemeClr val="dk1"/>
            </a:solidFill>
            <a:ln w="9525">
              <a:solidFill>
                <a:srgbClr val="334155"/>
              </a:solidFill>
            </a:ln>
          </p:spPr>
          <p:txBody>
            <a:bodyPr/>
            <a:lstStyle/>
            <a:p>
              <a:endParaRPr lang="zh-CN" altLang="en-US"/>
            </a:p>
          </p:txBody>
        </p:sp>
        <p:sp>
          <p:nvSpPr>
            <p:cNvPr id="25" name="Freeform 25"/>
            <p:cNvSpPr/>
            <p:nvPr/>
          </p:nvSpPr>
          <p:spPr>
            <a:xfrm>
              <a:off x="10582275" y="2124075"/>
              <a:ext cx="171450" cy="171450"/>
            </a:xfrm>
            <a:custGeom>
              <a:avLst/>
              <a:gdLst/>
              <a:ahLst/>
              <a:cxnLst/>
              <a:rect l="l" t="t" r="r" b="b"/>
              <a:pathLst>
                <a:path w="171450" h="171450">
                  <a:moveTo>
                    <a:pt x="57150" y="0"/>
                  </a:moveTo>
                  <a:cubicBezTo>
                    <a:pt x="67671" y="0"/>
                    <a:pt x="76200" y="8529"/>
                    <a:pt x="76200" y="19050"/>
                  </a:cubicBezTo>
                  <a:lnTo>
                    <a:pt x="76200" y="76200"/>
                  </a:lnTo>
                  <a:cubicBezTo>
                    <a:pt x="76200" y="86721"/>
                    <a:pt x="67671" y="95250"/>
                    <a:pt x="57150" y="95250"/>
                  </a:cubicBezTo>
                  <a:lnTo>
                    <a:pt x="19050" y="95250"/>
                  </a:lnTo>
                  <a:cubicBezTo>
                    <a:pt x="8529" y="95250"/>
                    <a:pt x="0" y="86721"/>
                    <a:pt x="0" y="76200"/>
                  </a:cubicBezTo>
                  <a:lnTo>
                    <a:pt x="0" y="19050"/>
                  </a:lnTo>
                  <a:cubicBezTo>
                    <a:pt x="0" y="8529"/>
                    <a:pt x="8529" y="0"/>
                    <a:pt x="19050" y="0"/>
                  </a:cubicBezTo>
                  <a:close/>
                  <a:moveTo>
                    <a:pt x="57150" y="114300"/>
                  </a:moveTo>
                  <a:cubicBezTo>
                    <a:pt x="67671" y="114300"/>
                    <a:pt x="76200" y="122829"/>
                    <a:pt x="76200" y="133350"/>
                  </a:cubicBezTo>
                  <a:lnTo>
                    <a:pt x="76200" y="152400"/>
                  </a:lnTo>
                  <a:cubicBezTo>
                    <a:pt x="76200" y="162921"/>
                    <a:pt x="67671" y="171450"/>
                    <a:pt x="57150" y="171450"/>
                  </a:cubicBezTo>
                  <a:lnTo>
                    <a:pt x="19050" y="171450"/>
                  </a:lnTo>
                  <a:cubicBezTo>
                    <a:pt x="8529" y="171450"/>
                    <a:pt x="0" y="162921"/>
                    <a:pt x="0" y="152400"/>
                  </a:cubicBezTo>
                  <a:lnTo>
                    <a:pt x="0" y="133350"/>
                  </a:lnTo>
                  <a:cubicBezTo>
                    <a:pt x="0" y="122829"/>
                    <a:pt x="8529" y="114300"/>
                    <a:pt x="19050" y="114300"/>
                  </a:cubicBezTo>
                  <a:close/>
                  <a:moveTo>
                    <a:pt x="152400" y="76200"/>
                  </a:moveTo>
                  <a:cubicBezTo>
                    <a:pt x="162921" y="76200"/>
                    <a:pt x="171450" y="84729"/>
                    <a:pt x="171450" y="95250"/>
                  </a:cubicBezTo>
                  <a:lnTo>
                    <a:pt x="171450" y="152400"/>
                  </a:lnTo>
                  <a:cubicBezTo>
                    <a:pt x="171450" y="162921"/>
                    <a:pt x="162921" y="171450"/>
                    <a:pt x="152400" y="171450"/>
                  </a:cubicBezTo>
                  <a:lnTo>
                    <a:pt x="114300" y="171450"/>
                  </a:lnTo>
                  <a:cubicBezTo>
                    <a:pt x="103779" y="171450"/>
                    <a:pt x="95250" y="162921"/>
                    <a:pt x="95250" y="152400"/>
                  </a:cubicBezTo>
                  <a:lnTo>
                    <a:pt x="95250" y="95250"/>
                  </a:lnTo>
                  <a:cubicBezTo>
                    <a:pt x="95250" y="84729"/>
                    <a:pt x="103779" y="76200"/>
                    <a:pt x="114300" y="76200"/>
                  </a:cubicBezTo>
                  <a:close/>
                  <a:moveTo>
                    <a:pt x="152400" y="0"/>
                  </a:moveTo>
                  <a:cubicBezTo>
                    <a:pt x="162921" y="0"/>
                    <a:pt x="171450" y="8529"/>
                    <a:pt x="171450" y="19050"/>
                  </a:cubicBezTo>
                  <a:lnTo>
                    <a:pt x="171450" y="38100"/>
                  </a:lnTo>
                  <a:cubicBezTo>
                    <a:pt x="171450" y="48621"/>
                    <a:pt x="162921" y="57150"/>
                    <a:pt x="152400" y="57150"/>
                  </a:cubicBezTo>
                  <a:lnTo>
                    <a:pt x="114300" y="57150"/>
                  </a:lnTo>
                  <a:cubicBezTo>
                    <a:pt x="103779" y="57150"/>
                    <a:pt x="95250" y="48621"/>
                    <a:pt x="95250" y="38100"/>
                  </a:cubicBezTo>
                  <a:lnTo>
                    <a:pt x="95250" y="19050"/>
                  </a:lnTo>
                  <a:cubicBezTo>
                    <a:pt x="95250" y="8529"/>
                    <a:pt x="103779" y="0"/>
                    <a:pt x="114300" y="0"/>
                  </a:cubicBezTo>
                  <a:close/>
                </a:path>
              </a:pathLst>
            </a:custGeom>
            <a:solidFill>
              <a:srgbClr val="2DD4BF"/>
            </a:solidFill>
            <a:ln>
              <a:noFill/>
            </a:ln>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traffic-workbench-final">
  <a:themeElements>
    <a:clrScheme name="traffic-workbench-final">
      <a:dk1>
        <a:srgbClr val="1E293B"/>
      </a:dk1>
      <a:lt1>
        <a:srgbClr val="F8FAFC"/>
      </a:lt1>
      <a:dk2>
        <a:srgbClr val="1F497D"/>
      </a:dk2>
      <a:lt2>
        <a:srgbClr val="F8FAFC"/>
      </a:lt2>
      <a:accent1>
        <a:srgbClr val="0F172A"/>
      </a:accent1>
      <a:accent2>
        <a:srgbClr val="2563EB"/>
      </a:accent2>
      <a:accent3>
        <a:srgbClr val="0D9488"/>
      </a:accent3>
      <a:accent4>
        <a:srgbClr val="0F172A"/>
      </a:accent4>
      <a:accent5>
        <a:srgbClr val="334155"/>
      </a:accent5>
      <a:accent6>
        <a:srgbClr val="E2E8F0"/>
      </a:accent6>
      <a:hlink>
        <a:srgbClr val="2563EB"/>
      </a:hlink>
      <a:folHlink>
        <a:srgbClr val="0D9488"/>
      </a:folHlink>
    </a:clrScheme>
    <a:fontScheme name="traffic-workbench-final">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ffic-workbench-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raffic-workbench-final">
  <a:themeElements>
    <a:clrScheme name="traffic-workbench-final">
      <a:dk1>
        <a:srgbClr val="1E293B"/>
      </a:dk1>
      <a:lt1>
        <a:srgbClr val="F8FAFC"/>
      </a:lt1>
      <a:dk2>
        <a:srgbClr val="1F497D"/>
      </a:dk2>
      <a:lt2>
        <a:srgbClr val="F8FAFC"/>
      </a:lt2>
      <a:accent1>
        <a:srgbClr val="0F172A"/>
      </a:accent1>
      <a:accent2>
        <a:srgbClr val="2563EB"/>
      </a:accent2>
      <a:accent3>
        <a:srgbClr val="0D9488"/>
      </a:accent3>
      <a:accent4>
        <a:srgbClr val="0F172A"/>
      </a:accent4>
      <a:accent5>
        <a:srgbClr val="334155"/>
      </a:accent5>
      <a:accent6>
        <a:srgbClr val="E2E8F0"/>
      </a:accent6>
      <a:hlink>
        <a:srgbClr val="2563EB"/>
      </a:hlink>
      <a:folHlink>
        <a:srgbClr val="0D9488"/>
      </a:folHlink>
    </a:clrScheme>
    <a:fontScheme name="traffic-workbench-final">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ffic-workbench-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TotalTime>
  <Words>3931</Words>
  <Application>Microsoft Office PowerPoint</Application>
  <PresentationFormat>宽屏</PresentationFormat>
  <Paragraphs>408</Paragraphs>
  <Slides>22</Slides>
  <Notes>22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22</vt:i4>
      </vt:variant>
    </vt:vector>
  </HeadingPairs>
  <TitlesOfParts>
    <vt:vector size="26" baseType="lpstr">
      <vt:lpstr>Arial</vt:lpstr>
      <vt:lpstr>Consolas</vt:lpstr>
      <vt:lpstr>Segoe UI</vt:lpstr>
      <vt:lpstr>traffic-workbench-final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Wang Mingyang</cp:lastModifiedBy>
  <cp:revision>6</cp:revision>
  <dcterms:created xsi:type="dcterms:W3CDTF">2026-10-28T10:31:53Z</dcterms:created>
  <dcterms:modified xsi:type="dcterms:W3CDTF">2026-10-28T12:31:29Z</dcterms:modified>
  <cp:category/>
  <cp:contentStatus/>
  <dc:language>en</dc:language>
</cp:coreProperties>
</file>